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2432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8C1D2B"/>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About Our College — Dasnagar Govt. Polytechnic</a:t>
            </a:r>
            <a:endParaRPr lang="en-US" sz="2200" dirty="0"/>
          </a:p>
        </p:txBody>
      </p:sp>
      <p:sp>
        <p:nvSpPr>
          <p:cNvPr id="4" name="Shape 2"/>
          <p:cNvSpPr/>
          <p:nvPr/>
        </p:nvSpPr>
        <p:spPr>
          <a:xfrm>
            <a:off x="308218" y="694944"/>
            <a:ext cx="8527564" cy="4256532"/>
          </a:xfrm>
          <a:prstGeom prst="rect">
            <a:avLst/>
          </a:prstGeom>
          <a:solidFill>
            <a:srgbClr val="FFFFFF"/>
          </a:solidFill>
          <a:ln w="12700">
            <a:solidFill>
              <a:srgbClr val="DDDDDD"/>
            </a:solidFill>
            <a:prstDash val="solid"/>
          </a:ln>
          <a:effectLst>
            <a:outerShdw blurRad="101600" dist="38100" dir="5400000" algn="bl" rotWithShape="0">
              <a:srgbClr val="000000">
                <a:alpha val="18000"/>
              </a:srgbClr>
            </a:outerShdw>
          </a:effectLst>
        </p:spPr>
      </p:sp>
      <p:pic>
        <p:nvPicPr>
          <p:cNvPr id="5" name="Image 0" descr="frames/cropped/hero_new.png"/>
          <p:cNvPicPr>
            <a:picLocks noChangeAspect="1"/>
          </p:cNvPicPr>
          <p:nvPr/>
        </p:nvPicPr>
        <p:blipFill>
          <a:blip r:embed="rId3"/>
          <a:stretch>
            <a:fillRect/>
          </a:stretch>
        </p:blipFill>
        <p:spPr>
          <a:xfrm>
            <a:off x="344794" y="731520"/>
            <a:ext cx="8454412" cy="41833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C1D2B"/>
          </a:solidFill>
          <a:ln/>
        </p:spPr>
      </p:sp>
      <p:sp>
        <p:nvSpPr>
          <p:cNvPr id="3" name="Text 1"/>
          <p:cNvSpPr/>
          <p:nvPr/>
        </p:nvSpPr>
        <p:spPr>
          <a:xfrm>
            <a:off x="0" y="0"/>
            <a:ext cx="914400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ACKNOWLEDGEMENT</a:t>
            </a:r>
            <a:endParaRPr lang="en-US" sz="2800" dirty="0"/>
          </a:p>
        </p:txBody>
      </p:sp>
      <p:sp>
        <p:nvSpPr>
          <p:cNvPr id="4" name="Text 2"/>
          <p:cNvSpPr/>
          <p:nvPr/>
        </p:nvSpPr>
        <p:spPr>
          <a:xfrm>
            <a:off x="548640" y="960120"/>
            <a:ext cx="8046720" cy="1371600"/>
          </a:xfrm>
          <a:prstGeom prst="rect">
            <a:avLst/>
          </a:prstGeom>
          <a:noFill/>
          <a:ln/>
        </p:spPr>
        <p:txBody>
          <a:bodyPr wrap="square" rtlCol="0" anchor="t"/>
          <a:lstStyle/>
          <a:p>
            <a:pPr marL="0" indent="0" algn="l">
              <a:lnSpc>
                <a:spcPct val="125000"/>
              </a:lnSpc>
              <a:buNone/>
            </a:pPr>
            <a:r>
              <a:rPr lang="en-US" sz="1400" dirty="0">
                <a:solidFill>
                  <a:srgbClr val="2B2420"/>
                </a:solidFill>
                <a:latin typeface="Calibri" pitchFamily="34" charset="0"/>
                <a:ea typeface="Calibri" pitchFamily="34" charset="-122"/>
                <a:cs typeface="Calibri" pitchFamily="34" charset="-120"/>
              </a:rPr>
              <a:t>I express my sincere gratitude to </a:t>
            </a:r>
            <a:r>
              <a:rPr lang="en-US" sz="1400" b="1" dirty="0">
                <a:solidFill>
                  <a:srgbClr val="2B2420"/>
                </a:solidFill>
                <a:latin typeface="Calibri" pitchFamily="34" charset="0"/>
                <a:ea typeface="Calibri" pitchFamily="34" charset="-122"/>
                <a:cs typeface="Calibri" pitchFamily="34" charset="-120"/>
              </a:rPr>
              <a:t>MS PUSPITA MANNA</a:t>
            </a:r>
            <a:r>
              <a:rPr lang="en-US" sz="1400" dirty="0">
                <a:solidFill>
                  <a:srgbClr val="2B2420"/>
                </a:solidFill>
                <a:latin typeface="Calibri" pitchFamily="34" charset="0"/>
                <a:ea typeface="Calibri" pitchFamily="34" charset="-122"/>
                <a:cs typeface="Calibri" pitchFamily="34" charset="-120"/>
              </a:rPr>
              <a:t> and </a:t>
            </a:r>
            <a:r>
              <a:rPr lang="en-US" sz="1400" b="1" dirty="0">
                <a:solidFill>
                  <a:srgbClr val="2B2420"/>
                </a:solidFill>
                <a:latin typeface="Calibri" pitchFamily="34" charset="0"/>
                <a:ea typeface="Calibri" pitchFamily="34" charset="-122"/>
                <a:cs typeface="Calibri" pitchFamily="34" charset="-120"/>
              </a:rPr>
              <a:t>SHRI ACHINTYA GOPAL MONDAL</a:t>
            </a:r>
            <a:r>
              <a:rPr lang="en-US" sz="1400" dirty="0">
                <a:solidFill>
                  <a:srgbClr val="2B2420"/>
                </a:solidFill>
                <a:latin typeface="Calibri" pitchFamily="34" charset="0"/>
                <a:ea typeface="Calibri" pitchFamily="34" charset="-122"/>
                <a:cs typeface="Calibri" pitchFamily="34" charset="-120"/>
              </a:rPr>
              <a:t> of the Department of Information Technology and Engineering, </a:t>
            </a:r>
            <a:r>
              <a:rPr lang="en-US" sz="1400" b="1" dirty="0">
                <a:solidFill>
                  <a:srgbClr val="2B2420"/>
                </a:solidFill>
                <a:latin typeface="Calibri" pitchFamily="34" charset="0"/>
                <a:ea typeface="Calibri" pitchFamily="34" charset="-122"/>
                <a:cs typeface="Calibri" pitchFamily="34" charset="-120"/>
              </a:rPr>
              <a:t>DASNAGAR GOVT. POLYTECHNIC</a:t>
            </a:r>
            <a:r>
              <a:rPr lang="en-US" sz="1400" dirty="0">
                <a:solidFill>
                  <a:srgbClr val="2B2420"/>
                </a:solidFill>
                <a:latin typeface="Calibri" pitchFamily="34" charset="0"/>
                <a:ea typeface="Calibri" pitchFamily="34" charset="-122"/>
                <a:cs typeface="Calibri" pitchFamily="34" charset="-120"/>
              </a:rPr>
              <a:t>, for extending their valuable time to help me take up this problem as a project.</a:t>
            </a:r>
            <a:endParaRPr lang="en-US" sz="1400" dirty="0"/>
          </a:p>
        </p:txBody>
      </p:sp>
      <p:sp>
        <p:nvSpPr>
          <p:cNvPr id="5" name="Text 3"/>
          <p:cNvSpPr/>
          <p:nvPr/>
        </p:nvSpPr>
        <p:spPr>
          <a:xfrm>
            <a:off x="548640" y="2651760"/>
            <a:ext cx="8046720" cy="1737360"/>
          </a:xfrm>
          <a:prstGeom prst="rect">
            <a:avLst/>
          </a:prstGeom>
          <a:noFill/>
          <a:ln/>
        </p:spPr>
        <p:txBody>
          <a:bodyPr wrap="square" rtlCol="0" anchor="t"/>
          <a:lstStyle/>
          <a:p>
            <a:pPr marL="0" indent="0" algn="l">
              <a:lnSpc>
                <a:spcPct val="130000"/>
              </a:lnSpc>
              <a:buNone/>
            </a:pPr>
            <a:r>
              <a:rPr lang="en-US" sz="1350" dirty="0">
                <a:solidFill>
                  <a:srgbClr val="2B2420"/>
                </a:solidFill>
                <a:latin typeface="Calibri" pitchFamily="34" charset="0"/>
                <a:ea typeface="Calibri" pitchFamily="34" charset="-122"/>
                <a:cs typeface="Calibri" pitchFamily="34" charset="-120"/>
              </a:rPr>
              <a:t>This presentation is based on the project “Evaluation of Academic Performance of Students,” carried out by Soumacharyya Paul, Debargho Pramanik, Kaustab Jana, Tuhin Sadhukhan, Sukanya Maji, Mahi Gupta, Piyali Majhi and Salma Khatun, students of the Diploma 4th Semester 2025-2026 batch, Department of Information Technology and Engineering, Dasnagar Govt. Polytechnic.</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AD2CC7E-6EE2-29B3-CBB3-F11046BFA0E2}"/>
              </a:ext>
            </a:extLst>
          </p:cNvPr>
          <p:cNvGraphicFramePr>
            <a:graphicFrameLocks noGrp="1"/>
          </p:cNvGraphicFramePr>
          <p:nvPr>
            <p:extLst>
              <p:ext uri="{D42A27DB-BD31-4B8C-83A1-F6EECF244321}">
                <p14:modId xmlns:p14="http://schemas.microsoft.com/office/powerpoint/2010/main" val="2422574322"/>
              </p:ext>
            </p:extLst>
          </p:nvPr>
        </p:nvGraphicFramePr>
        <p:xfrm>
          <a:off x="1048044" y="133644"/>
          <a:ext cx="6900204" cy="4819062"/>
        </p:xfrm>
        <a:graphic>
          <a:graphicData uri="http://schemas.openxmlformats.org/drawingml/2006/table">
            <a:tbl>
              <a:tblPr firstRow="1" bandCol="1">
                <a:tableStyleId>{8799B23B-EC83-4686-B30A-512413B5E67A}</a:tableStyleId>
              </a:tblPr>
              <a:tblGrid>
                <a:gridCol w="751646">
                  <a:extLst>
                    <a:ext uri="{9D8B030D-6E8A-4147-A177-3AD203B41FA5}">
                      <a16:colId xmlns:a16="http://schemas.microsoft.com/office/drawing/2014/main" val="693765971"/>
                    </a:ext>
                  </a:extLst>
                </a:gridCol>
                <a:gridCol w="4971655">
                  <a:extLst>
                    <a:ext uri="{9D8B030D-6E8A-4147-A177-3AD203B41FA5}">
                      <a16:colId xmlns:a16="http://schemas.microsoft.com/office/drawing/2014/main" val="3385233686"/>
                    </a:ext>
                  </a:extLst>
                </a:gridCol>
                <a:gridCol w="1176903">
                  <a:extLst>
                    <a:ext uri="{9D8B030D-6E8A-4147-A177-3AD203B41FA5}">
                      <a16:colId xmlns:a16="http://schemas.microsoft.com/office/drawing/2014/main" val="1129379939"/>
                    </a:ext>
                  </a:extLst>
                </a:gridCol>
              </a:tblGrid>
              <a:tr h="832837">
                <a:tc>
                  <a:txBody>
                    <a:bodyPr/>
                    <a:lstStyle/>
                    <a:p>
                      <a:pPr algn="ctr"/>
                      <a:r>
                        <a:rPr lang="en-IN" sz="2400" u="sng" dirty="0">
                          <a:solidFill>
                            <a:schemeClr val="tx1"/>
                          </a:solidFill>
                        </a:rPr>
                        <a:t>SL</a:t>
                      </a:r>
                    </a:p>
                    <a:p>
                      <a:pPr algn="ctr"/>
                      <a:r>
                        <a:rPr lang="en-IN" sz="2400" u="sng" dirty="0">
                          <a:solidFill>
                            <a:schemeClr val="tx1"/>
                          </a:solidFill>
                        </a:rPr>
                        <a:t>NO.</a:t>
                      </a:r>
                    </a:p>
                  </a:txBody>
                  <a:tcPr/>
                </a:tc>
                <a:tc>
                  <a:txBody>
                    <a:bodyPr/>
                    <a:lstStyle/>
                    <a:p>
                      <a:pPr algn="ctr"/>
                      <a:r>
                        <a:rPr lang="en-IN" sz="3200" dirty="0">
                          <a:solidFill>
                            <a:schemeClr val="tx1"/>
                          </a:solidFill>
                        </a:rPr>
                        <a:t>INDEX PAGE</a:t>
                      </a:r>
                    </a:p>
                  </a:txBody>
                  <a:tcPr/>
                </a:tc>
                <a:tc>
                  <a:txBody>
                    <a:bodyPr/>
                    <a:lstStyle/>
                    <a:p>
                      <a:pPr algn="ctr"/>
                      <a:r>
                        <a:rPr lang="en-IN" sz="2400" u="sng" dirty="0">
                          <a:solidFill>
                            <a:schemeClr val="tx1"/>
                          </a:solidFill>
                        </a:rPr>
                        <a:t>PAGE</a:t>
                      </a:r>
                    </a:p>
                    <a:p>
                      <a:pPr algn="ctr"/>
                      <a:r>
                        <a:rPr lang="en-IN" sz="2400" u="sng" dirty="0">
                          <a:solidFill>
                            <a:schemeClr val="tx1"/>
                          </a:solidFill>
                        </a:rPr>
                        <a:t>NO.</a:t>
                      </a:r>
                    </a:p>
                  </a:txBody>
                  <a:tcPr/>
                </a:tc>
                <a:extLst>
                  <a:ext uri="{0D108BD9-81ED-4DB2-BD59-A6C34878D82A}">
                    <a16:rowId xmlns:a16="http://schemas.microsoft.com/office/drawing/2014/main" val="3496214255"/>
                  </a:ext>
                </a:extLst>
              </a:tr>
              <a:tr h="797245">
                <a:tc>
                  <a:txBody>
                    <a:bodyPr/>
                    <a:lstStyle/>
                    <a:p>
                      <a:pPr algn="ctr"/>
                      <a:r>
                        <a:rPr lang="en-IN" sz="4000" dirty="0"/>
                        <a:t>1.</a:t>
                      </a:r>
                    </a:p>
                  </a:txBody>
                  <a:tcPr/>
                </a:tc>
                <a:tc>
                  <a:txBody>
                    <a:bodyPr/>
                    <a:lstStyle/>
                    <a:p>
                      <a:pPr algn="ctr"/>
                      <a:r>
                        <a:rPr lang="en-IN" sz="2800" dirty="0"/>
                        <a:t>Problem Statement</a:t>
                      </a:r>
                    </a:p>
                  </a:txBody>
                  <a:tcPr/>
                </a:tc>
                <a:tc>
                  <a:txBody>
                    <a:bodyPr/>
                    <a:lstStyle/>
                    <a:p>
                      <a:endParaRPr lang="en-IN" dirty="0"/>
                    </a:p>
                  </a:txBody>
                  <a:tcPr/>
                </a:tc>
                <a:extLst>
                  <a:ext uri="{0D108BD9-81ED-4DB2-BD59-A6C34878D82A}">
                    <a16:rowId xmlns:a16="http://schemas.microsoft.com/office/drawing/2014/main" val="1365529778"/>
                  </a:ext>
                </a:extLst>
              </a:tr>
              <a:tr h="797245">
                <a:tc>
                  <a:txBody>
                    <a:bodyPr/>
                    <a:lstStyle/>
                    <a:p>
                      <a:pPr algn="ctr"/>
                      <a:r>
                        <a:rPr lang="en-IN" sz="4000" dirty="0"/>
                        <a:t>2.</a:t>
                      </a:r>
                    </a:p>
                  </a:txBody>
                  <a:tcPr/>
                </a:tc>
                <a:tc>
                  <a:txBody>
                    <a:bodyPr/>
                    <a:lstStyle/>
                    <a:p>
                      <a:pPr algn="ctr"/>
                      <a:r>
                        <a:rPr lang="en-IN" sz="2800" dirty="0"/>
                        <a:t>Objective</a:t>
                      </a:r>
                    </a:p>
                  </a:txBody>
                  <a:tcPr/>
                </a:tc>
                <a:tc>
                  <a:txBody>
                    <a:bodyPr/>
                    <a:lstStyle/>
                    <a:p>
                      <a:endParaRPr lang="en-IN" dirty="0"/>
                    </a:p>
                  </a:txBody>
                  <a:tcPr/>
                </a:tc>
                <a:extLst>
                  <a:ext uri="{0D108BD9-81ED-4DB2-BD59-A6C34878D82A}">
                    <a16:rowId xmlns:a16="http://schemas.microsoft.com/office/drawing/2014/main" val="478157789"/>
                  </a:ext>
                </a:extLst>
              </a:tr>
              <a:tr h="797245">
                <a:tc>
                  <a:txBody>
                    <a:bodyPr/>
                    <a:lstStyle/>
                    <a:p>
                      <a:pPr algn="ctr"/>
                      <a:r>
                        <a:rPr lang="en-IN" sz="4000" dirty="0"/>
                        <a:t>3.</a:t>
                      </a:r>
                    </a:p>
                  </a:txBody>
                  <a:tcPr/>
                </a:tc>
                <a:tc>
                  <a:txBody>
                    <a:bodyPr/>
                    <a:lstStyle/>
                    <a:p>
                      <a:pPr algn="ctr"/>
                      <a:r>
                        <a:rPr lang="en-IN" sz="2800" dirty="0"/>
                        <a:t>Technology Use</a:t>
                      </a:r>
                    </a:p>
                  </a:txBody>
                  <a:tcPr/>
                </a:tc>
                <a:tc>
                  <a:txBody>
                    <a:bodyPr/>
                    <a:lstStyle/>
                    <a:p>
                      <a:endParaRPr lang="en-IN"/>
                    </a:p>
                  </a:txBody>
                  <a:tcPr/>
                </a:tc>
                <a:extLst>
                  <a:ext uri="{0D108BD9-81ED-4DB2-BD59-A6C34878D82A}">
                    <a16:rowId xmlns:a16="http://schemas.microsoft.com/office/drawing/2014/main" val="2842258195"/>
                  </a:ext>
                </a:extLst>
              </a:tr>
              <a:tr h="797245">
                <a:tc>
                  <a:txBody>
                    <a:bodyPr/>
                    <a:lstStyle/>
                    <a:p>
                      <a:pPr algn="ctr"/>
                      <a:r>
                        <a:rPr lang="en-IN" sz="4000" dirty="0"/>
                        <a:t>4.</a:t>
                      </a:r>
                    </a:p>
                  </a:txBody>
                  <a:tcPr/>
                </a:tc>
                <a:tc>
                  <a:txBody>
                    <a:bodyPr/>
                    <a:lstStyle/>
                    <a:p>
                      <a:pPr algn="ctr"/>
                      <a:r>
                        <a:rPr lang="en-IN" sz="2800" dirty="0"/>
                        <a:t>Project Work Flow</a:t>
                      </a:r>
                    </a:p>
                  </a:txBody>
                  <a:tcPr/>
                </a:tc>
                <a:tc>
                  <a:txBody>
                    <a:bodyPr/>
                    <a:lstStyle/>
                    <a:p>
                      <a:endParaRPr lang="en-IN"/>
                    </a:p>
                  </a:txBody>
                  <a:tcPr/>
                </a:tc>
                <a:extLst>
                  <a:ext uri="{0D108BD9-81ED-4DB2-BD59-A6C34878D82A}">
                    <a16:rowId xmlns:a16="http://schemas.microsoft.com/office/drawing/2014/main" val="1099503974"/>
                  </a:ext>
                </a:extLst>
              </a:tr>
              <a:tr h="797245">
                <a:tc>
                  <a:txBody>
                    <a:bodyPr/>
                    <a:lstStyle/>
                    <a:p>
                      <a:pPr algn="ctr"/>
                      <a:r>
                        <a:rPr lang="en-IN" sz="4000" dirty="0"/>
                        <a:t>5.</a:t>
                      </a:r>
                    </a:p>
                  </a:txBody>
                  <a:tcPr/>
                </a:tc>
                <a:tc>
                  <a:txBody>
                    <a:bodyPr/>
                    <a:lstStyle/>
                    <a:p>
                      <a:pPr algn="ctr"/>
                      <a:r>
                        <a:rPr lang="en-IN" sz="2800" dirty="0"/>
                        <a:t>Output Screenshot</a:t>
                      </a:r>
                    </a:p>
                  </a:txBody>
                  <a:tcPr/>
                </a:tc>
                <a:tc>
                  <a:txBody>
                    <a:bodyPr/>
                    <a:lstStyle/>
                    <a:p>
                      <a:endParaRPr lang="en-IN" dirty="0"/>
                    </a:p>
                  </a:txBody>
                  <a:tcPr/>
                </a:tc>
                <a:extLst>
                  <a:ext uri="{0D108BD9-81ED-4DB2-BD59-A6C34878D82A}">
                    <a16:rowId xmlns:a16="http://schemas.microsoft.com/office/drawing/2014/main" val="2954173092"/>
                  </a:ext>
                </a:extLst>
              </a:tr>
            </a:tbl>
          </a:graphicData>
        </a:graphic>
      </p:graphicFrame>
    </p:spTree>
    <p:extLst>
      <p:ext uri="{BB962C8B-B14F-4D97-AF65-F5344CB8AC3E}">
        <p14:creationId xmlns:p14="http://schemas.microsoft.com/office/powerpoint/2010/main" val="2481684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146</Words>
  <Application>Microsoft Office PowerPoint</Application>
  <PresentationFormat>On-screen Show (16:9)</PresentationFormat>
  <Paragraphs>21</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Cambria</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dc:title>
  <dc:subject>PptxGenJS Presentation</dc:subject>
  <dc:creator>Dasnagar Govt. Polytechnic</dc:creator>
  <cp:lastModifiedBy>Sukanya Maji</cp:lastModifiedBy>
  <cp:revision>2</cp:revision>
  <dcterms:created xsi:type="dcterms:W3CDTF">2026-06-22T15:06:16Z</dcterms:created>
  <dcterms:modified xsi:type="dcterms:W3CDTF">2026-06-22T15:48:06Z</dcterms:modified>
</cp:coreProperties>
</file>