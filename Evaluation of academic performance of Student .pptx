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0013"/>
    <a:srgbClr val="740016"/>
    <a:srgbClr val="FFFFFF"/>
    <a:srgbClr val="FEFC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15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640013"/>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About Our College — Dasnagar Govt. Polytechnic</a:t>
            </a:r>
            <a:endParaRPr lang="en-US" sz="2200" dirty="0"/>
          </a:p>
        </p:txBody>
      </p:sp>
      <p:sp>
        <p:nvSpPr>
          <p:cNvPr id="4" name="Shape 2"/>
          <p:cNvSpPr/>
          <p:nvPr/>
        </p:nvSpPr>
        <p:spPr>
          <a:xfrm>
            <a:off x="308218" y="694944"/>
            <a:ext cx="8527564" cy="4256532"/>
          </a:xfrm>
          <a:prstGeom prst="rect">
            <a:avLst/>
          </a:prstGeom>
          <a:solidFill>
            <a:srgbClr val="FFFFFF"/>
          </a:solidFill>
          <a:ln w="12700">
            <a:solidFill>
              <a:srgbClr val="DDDDDD"/>
            </a:solidFill>
            <a:prstDash val="solid"/>
          </a:ln>
          <a:effectLst>
            <a:outerShdw blurRad="101600" dist="38100" dir="5400000" algn="bl" rotWithShape="0">
              <a:srgbClr val="000000">
                <a:alpha val="18000"/>
              </a:srgbClr>
            </a:outerShdw>
          </a:effectLst>
        </p:spPr>
      </p:sp>
      <p:pic>
        <p:nvPicPr>
          <p:cNvPr id="5" name="Image 0" descr="frames/cropped/hero_new.png"/>
          <p:cNvPicPr>
            <a:picLocks noChangeAspect="1"/>
          </p:cNvPicPr>
          <p:nvPr/>
        </p:nvPicPr>
        <p:blipFill>
          <a:blip r:embed="rId2"/>
          <a:stretch>
            <a:fillRect/>
          </a:stretch>
        </p:blipFill>
        <p:spPr>
          <a:xfrm>
            <a:off x="344794" y="731520"/>
            <a:ext cx="8454412" cy="4183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2039"/>
            <a:ext cx="9144000" cy="806419"/>
          </a:xfrm>
          <a:prstGeom prst="rect">
            <a:avLst/>
          </a:prstGeom>
          <a:solidFill>
            <a:srgbClr val="640013"/>
          </a:solidFill>
          <a:ln/>
        </p:spPr>
        <p:txBody>
          <a:bodyPr anchor="b"/>
          <a:lstStyle/>
          <a:p>
            <a:endParaRPr lang="en-IN" dirty="0"/>
          </a:p>
        </p:txBody>
      </p:sp>
      <p:sp>
        <p:nvSpPr>
          <p:cNvPr id="3" name="Text 1"/>
          <p:cNvSpPr/>
          <p:nvPr/>
        </p:nvSpPr>
        <p:spPr>
          <a:xfrm>
            <a:off x="0" y="-141249"/>
            <a:ext cx="9144000" cy="895629"/>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Acknowledgement</a:t>
            </a:r>
            <a:endParaRPr lang="en-US" sz="2800" dirty="0"/>
          </a:p>
        </p:txBody>
      </p:sp>
      <p:sp>
        <p:nvSpPr>
          <p:cNvPr id="4" name="Text 2"/>
          <p:cNvSpPr/>
          <p:nvPr/>
        </p:nvSpPr>
        <p:spPr>
          <a:xfrm>
            <a:off x="548640" y="960120"/>
            <a:ext cx="8046720" cy="1371600"/>
          </a:xfrm>
          <a:prstGeom prst="rect">
            <a:avLst/>
          </a:prstGeom>
          <a:noFill/>
          <a:ln/>
        </p:spPr>
        <p:txBody>
          <a:bodyPr wrap="square" rtlCol="0" anchor="t"/>
          <a:lstStyle/>
          <a:p>
            <a:pPr marL="0" indent="0" algn="l">
              <a:lnSpc>
                <a:spcPct val="125000"/>
              </a:lnSpc>
              <a:buNone/>
            </a:pPr>
            <a:r>
              <a:rPr lang="en-US" sz="1400" dirty="0">
                <a:solidFill>
                  <a:srgbClr val="2B2420"/>
                </a:solidFill>
                <a:latin typeface="Calibri" pitchFamily="34" charset="0"/>
                <a:ea typeface="Calibri" pitchFamily="34" charset="-122"/>
                <a:cs typeface="Calibri" pitchFamily="34" charset="-120"/>
              </a:rPr>
              <a:t>I express my sincere gratitude to </a:t>
            </a:r>
            <a:r>
              <a:rPr lang="en-US" sz="1400" b="1" dirty="0">
                <a:solidFill>
                  <a:srgbClr val="2B2420"/>
                </a:solidFill>
                <a:latin typeface="Calibri" pitchFamily="34" charset="0"/>
                <a:ea typeface="Calibri" pitchFamily="34" charset="-122"/>
                <a:cs typeface="Calibri" pitchFamily="34" charset="-120"/>
              </a:rPr>
              <a:t>MS PUSPITA MANNA</a:t>
            </a:r>
            <a:r>
              <a:rPr lang="en-US" sz="1400" dirty="0">
                <a:solidFill>
                  <a:srgbClr val="2B2420"/>
                </a:solidFill>
                <a:latin typeface="Calibri" pitchFamily="34" charset="0"/>
                <a:ea typeface="Calibri" pitchFamily="34" charset="-122"/>
                <a:cs typeface="Calibri" pitchFamily="34" charset="-120"/>
              </a:rPr>
              <a:t> and </a:t>
            </a:r>
            <a:r>
              <a:rPr lang="en-US" sz="1400" b="1" dirty="0">
                <a:solidFill>
                  <a:srgbClr val="2B2420"/>
                </a:solidFill>
                <a:latin typeface="Calibri" pitchFamily="34" charset="0"/>
                <a:ea typeface="Calibri" pitchFamily="34" charset="-122"/>
                <a:cs typeface="Calibri" pitchFamily="34" charset="-120"/>
              </a:rPr>
              <a:t>SHRI ACHINTYA GOPAL MONDAL</a:t>
            </a:r>
            <a:r>
              <a:rPr lang="en-US" sz="1400" dirty="0">
                <a:solidFill>
                  <a:srgbClr val="2B2420"/>
                </a:solidFill>
                <a:latin typeface="Calibri" pitchFamily="34" charset="0"/>
                <a:ea typeface="Calibri" pitchFamily="34" charset="-122"/>
                <a:cs typeface="Calibri" pitchFamily="34" charset="-120"/>
              </a:rPr>
              <a:t> of the Department of Information Technology and Engineering, </a:t>
            </a:r>
            <a:r>
              <a:rPr lang="en-US" sz="1400" b="1" dirty="0">
                <a:solidFill>
                  <a:srgbClr val="2B2420"/>
                </a:solidFill>
                <a:latin typeface="Calibri" pitchFamily="34" charset="0"/>
                <a:ea typeface="Calibri" pitchFamily="34" charset="-122"/>
                <a:cs typeface="Calibri" pitchFamily="34" charset="-120"/>
              </a:rPr>
              <a:t>DASNAGAR GOVT. POLYTECHNIC</a:t>
            </a:r>
            <a:r>
              <a:rPr lang="en-US" sz="1400" dirty="0">
                <a:solidFill>
                  <a:srgbClr val="2B2420"/>
                </a:solidFill>
                <a:latin typeface="Calibri" pitchFamily="34" charset="0"/>
                <a:ea typeface="Calibri" pitchFamily="34" charset="-122"/>
                <a:cs typeface="Calibri" pitchFamily="34" charset="-120"/>
              </a:rPr>
              <a:t>, for extending their valuable time to help me take up this problem as a project.</a:t>
            </a:r>
            <a:endParaRPr lang="en-US" sz="1400" dirty="0"/>
          </a:p>
        </p:txBody>
      </p:sp>
      <p:sp>
        <p:nvSpPr>
          <p:cNvPr id="5" name="Text 3"/>
          <p:cNvSpPr/>
          <p:nvPr/>
        </p:nvSpPr>
        <p:spPr>
          <a:xfrm>
            <a:off x="548640" y="2651760"/>
            <a:ext cx="8046720" cy="1737360"/>
          </a:xfrm>
          <a:prstGeom prst="rect">
            <a:avLst/>
          </a:prstGeom>
          <a:noFill/>
          <a:ln/>
        </p:spPr>
        <p:txBody>
          <a:bodyPr wrap="square" rtlCol="0" anchor="t"/>
          <a:lstStyle/>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This presentation is based on the project “Evaluation of Academic Performance of Students,” carried out by Soumacharyya Paul, Debargho Pramanik, Kaustab Jana, Tuhin Sadhukhan, Sukanya Maji, Mahi Gupta, Piyali Majhi and Salma Khatun, students of the Diploma 4th Semester 2025-2026 batch, Department of Information Technology and Engineering, Dasnagar Govt. Polytechnic.</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Index Page</a:t>
            </a:r>
            <a:endParaRPr lang="en-US" sz="2400" dirty="0"/>
          </a:p>
        </p:txBody>
      </p:sp>
      <p:sp>
        <p:nvSpPr>
          <p:cNvPr id="4" name="Shape 2"/>
          <p:cNvSpPr/>
          <p:nvPr/>
        </p:nvSpPr>
        <p:spPr>
          <a:xfrm>
            <a:off x="365760" y="932688"/>
            <a:ext cx="8412480" cy="658368"/>
          </a:xfrm>
          <a:prstGeom prst="rect">
            <a:avLst/>
          </a:prstGeom>
          <a:solidFill>
            <a:srgbClr val="F2F2F2"/>
          </a:solidFill>
          <a:ln w="12700">
            <a:solidFill>
              <a:srgbClr val="F2F2F2"/>
            </a:solidFill>
            <a:prstDash val="solid"/>
          </a:ln>
        </p:spPr>
      </p:sp>
      <p:sp>
        <p:nvSpPr>
          <p:cNvPr id="5" name="Text 3"/>
          <p:cNvSpPr/>
          <p:nvPr/>
        </p:nvSpPr>
        <p:spPr>
          <a:xfrm>
            <a:off x="502920" y="1005840"/>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1097280" y="1042416"/>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Problem Statement</a:t>
            </a:r>
            <a:endParaRPr lang="en-US" sz="1600" dirty="0"/>
          </a:p>
        </p:txBody>
      </p:sp>
      <p:sp>
        <p:nvSpPr>
          <p:cNvPr id="7" name="Shape 5"/>
          <p:cNvSpPr/>
          <p:nvPr/>
        </p:nvSpPr>
        <p:spPr>
          <a:xfrm>
            <a:off x="365760" y="1591056"/>
            <a:ext cx="8412480" cy="18288"/>
          </a:xfrm>
          <a:prstGeom prst="rect">
            <a:avLst/>
          </a:prstGeom>
          <a:solidFill>
            <a:srgbClr val="CCCCCC"/>
          </a:solidFill>
          <a:ln w="12700">
            <a:solidFill>
              <a:srgbClr val="CCCCCC"/>
            </a:solidFill>
            <a:prstDash val="solid"/>
          </a:ln>
        </p:spPr>
      </p:sp>
      <p:sp>
        <p:nvSpPr>
          <p:cNvPr id="8" name="Text 6"/>
          <p:cNvSpPr/>
          <p:nvPr/>
        </p:nvSpPr>
        <p:spPr>
          <a:xfrm>
            <a:off x="502920" y="1755648"/>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02</a:t>
            </a:r>
            <a:endParaRPr lang="en-US" sz="1600" dirty="0"/>
          </a:p>
        </p:txBody>
      </p:sp>
      <p:sp>
        <p:nvSpPr>
          <p:cNvPr id="9" name="Text 7"/>
          <p:cNvSpPr/>
          <p:nvPr/>
        </p:nvSpPr>
        <p:spPr>
          <a:xfrm>
            <a:off x="1097280" y="1792224"/>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Objective</a:t>
            </a:r>
            <a:endParaRPr lang="en-US" sz="1600" dirty="0"/>
          </a:p>
        </p:txBody>
      </p:sp>
      <p:sp>
        <p:nvSpPr>
          <p:cNvPr id="10" name="Shape 8"/>
          <p:cNvSpPr/>
          <p:nvPr/>
        </p:nvSpPr>
        <p:spPr>
          <a:xfrm>
            <a:off x="365760" y="2340864"/>
            <a:ext cx="8412480" cy="18288"/>
          </a:xfrm>
          <a:prstGeom prst="rect">
            <a:avLst/>
          </a:prstGeom>
          <a:solidFill>
            <a:srgbClr val="CCCCCC"/>
          </a:solidFill>
          <a:ln w="12700">
            <a:solidFill>
              <a:srgbClr val="CCCCCC"/>
            </a:solidFill>
            <a:prstDash val="solid"/>
          </a:ln>
        </p:spPr>
      </p:sp>
      <p:sp>
        <p:nvSpPr>
          <p:cNvPr id="11" name="Shape 9"/>
          <p:cNvSpPr/>
          <p:nvPr/>
        </p:nvSpPr>
        <p:spPr>
          <a:xfrm>
            <a:off x="365760" y="2432304"/>
            <a:ext cx="8412480" cy="658368"/>
          </a:xfrm>
          <a:prstGeom prst="rect">
            <a:avLst/>
          </a:prstGeom>
          <a:solidFill>
            <a:srgbClr val="F2F2F2"/>
          </a:solidFill>
          <a:ln w="12700">
            <a:solidFill>
              <a:srgbClr val="F2F2F2"/>
            </a:solidFill>
            <a:prstDash val="solid"/>
          </a:ln>
        </p:spPr>
      </p:sp>
      <p:sp>
        <p:nvSpPr>
          <p:cNvPr id="12" name="Text 10"/>
          <p:cNvSpPr/>
          <p:nvPr/>
        </p:nvSpPr>
        <p:spPr>
          <a:xfrm>
            <a:off x="502920" y="2505456"/>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03</a:t>
            </a:r>
            <a:endParaRPr lang="en-US" sz="1600" dirty="0"/>
          </a:p>
        </p:txBody>
      </p:sp>
      <p:sp>
        <p:nvSpPr>
          <p:cNvPr id="13" name="Text 11"/>
          <p:cNvSpPr/>
          <p:nvPr/>
        </p:nvSpPr>
        <p:spPr>
          <a:xfrm>
            <a:off x="1097280" y="2542032"/>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Technology Used</a:t>
            </a:r>
            <a:endParaRPr lang="en-US" sz="1600" dirty="0"/>
          </a:p>
        </p:txBody>
      </p:sp>
      <p:sp>
        <p:nvSpPr>
          <p:cNvPr id="14" name="Shape 12"/>
          <p:cNvSpPr/>
          <p:nvPr/>
        </p:nvSpPr>
        <p:spPr>
          <a:xfrm>
            <a:off x="365760" y="3090672"/>
            <a:ext cx="8412480" cy="18288"/>
          </a:xfrm>
          <a:prstGeom prst="rect">
            <a:avLst/>
          </a:prstGeom>
          <a:solidFill>
            <a:srgbClr val="CCCCCC"/>
          </a:solidFill>
          <a:ln w="12700">
            <a:solidFill>
              <a:srgbClr val="CCCCCC"/>
            </a:solidFill>
            <a:prstDash val="solid"/>
          </a:ln>
        </p:spPr>
      </p:sp>
      <p:sp>
        <p:nvSpPr>
          <p:cNvPr id="15" name="Text 13"/>
          <p:cNvSpPr/>
          <p:nvPr/>
        </p:nvSpPr>
        <p:spPr>
          <a:xfrm>
            <a:off x="502920" y="3255264"/>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04</a:t>
            </a:r>
            <a:endParaRPr lang="en-US" sz="1600" dirty="0"/>
          </a:p>
        </p:txBody>
      </p:sp>
      <p:sp>
        <p:nvSpPr>
          <p:cNvPr id="16" name="Text 14"/>
          <p:cNvSpPr/>
          <p:nvPr/>
        </p:nvSpPr>
        <p:spPr>
          <a:xfrm>
            <a:off x="1097280" y="3291840"/>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Project Work Flow</a:t>
            </a:r>
            <a:endParaRPr lang="en-US" sz="1600" dirty="0"/>
          </a:p>
        </p:txBody>
      </p:sp>
      <p:sp>
        <p:nvSpPr>
          <p:cNvPr id="17" name="Shape 15"/>
          <p:cNvSpPr/>
          <p:nvPr/>
        </p:nvSpPr>
        <p:spPr>
          <a:xfrm>
            <a:off x="365760" y="3840480"/>
            <a:ext cx="8412480" cy="18288"/>
          </a:xfrm>
          <a:prstGeom prst="rect">
            <a:avLst/>
          </a:prstGeom>
          <a:solidFill>
            <a:srgbClr val="CCCCCC"/>
          </a:solidFill>
          <a:ln w="12700">
            <a:solidFill>
              <a:srgbClr val="CCCCCC"/>
            </a:solidFill>
            <a:prstDash val="solid"/>
          </a:ln>
        </p:spPr>
      </p:sp>
      <p:sp>
        <p:nvSpPr>
          <p:cNvPr id="18" name="Shape 16"/>
          <p:cNvSpPr/>
          <p:nvPr/>
        </p:nvSpPr>
        <p:spPr>
          <a:xfrm>
            <a:off x="365760" y="3931920"/>
            <a:ext cx="8412480" cy="658368"/>
          </a:xfrm>
          <a:prstGeom prst="rect">
            <a:avLst/>
          </a:prstGeom>
          <a:solidFill>
            <a:srgbClr val="F2F2F2"/>
          </a:solidFill>
          <a:ln w="12700">
            <a:solidFill>
              <a:srgbClr val="F2F2F2"/>
            </a:solidFill>
            <a:prstDash val="solid"/>
          </a:ln>
        </p:spPr>
      </p:sp>
      <p:sp>
        <p:nvSpPr>
          <p:cNvPr id="19" name="Text 17"/>
          <p:cNvSpPr/>
          <p:nvPr/>
        </p:nvSpPr>
        <p:spPr>
          <a:xfrm>
            <a:off x="502920" y="4005072"/>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05</a:t>
            </a:r>
            <a:endParaRPr lang="en-US" sz="1600" dirty="0"/>
          </a:p>
        </p:txBody>
      </p:sp>
      <p:sp>
        <p:nvSpPr>
          <p:cNvPr id="20" name="Text 18"/>
          <p:cNvSpPr/>
          <p:nvPr/>
        </p:nvSpPr>
        <p:spPr>
          <a:xfrm>
            <a:off x="1097280" y="4041648"/>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Output Screenshots</a:t>
            </a:r>
            <a:endParaRPr lang="en-US" sz="1600" dirty="0"/>
          </a:p>
        </p:txBody>
      </p:sp>
      <p:sp>
        <p:nvSpPr>
          <p:cNvPr id="21" name="Shape 19"/>
          <p:cNvSpPr/>
          <p:nvPr/>
        </p:nvSpPr>
        <p:spPr>
          <a:xfrm>
            <a:off x="365760" y="4590288"/>
            <a:ext cx="8412480" cy="18288"/>
          </a:xfrm>
          <a:prstGeom prst="rect">
            <a:avLst/>
          </a:prstGeom>
          <a:solidFill>
            <a:srgbClr val="CCCCCC"/>
          </a:solidFill>
          <a:ln w="12700">
            <a:solidFill>
              <a:srgbClr val="CCCCC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586A8A0-112F-5A35-6E0A-3BFD169F69DA}"/>
              </a:ext>
            </a:extLst>
          </p:cNvPr>
          <p:cNvGraphicFramePr>
            <a:graphicFrameLocks noGrp="1"/>
          </p:cNvGraphicFramePr>
          <p:nvPr>
            <p:extLst>
              <p:ext uri="{D42A27DB-BD31-4B8C-83A1-F6EECF244321}">
                <p14:modId xmlns:p14="http://schemas.microsoft.com/office/powerpoint/2010/main" val="1725310848"/>
              </p:ext>
            </p:extLst>
          </p:nvPr>
        </p:nvGraphicFramePr>
        <p:xfrm>
          <a:off x="1" y="0"/>
          <a:ext cx="9143999" cy="827314"/>
        </p:xfrm>
        <a:graphic>
          <a:graphicData uri="http://schemas.openxmlformats.org/drawingml/2006/table">
            <a:tbl>
              <a:tblPr/>
              <a:tblGrid>
                <a:gridCol w="9143999">
                  <a:extLst>
                    <a:ext uri="{9D8B030D-6E8A-4147-A177-3AD203B41FA5}">
                      <a16:colId xmlns:a16="http://schemas.microsoft.com/office/drawing/2014/main" val="2433855685"/>
                    </a:ext>
                  </a:extLst>
                </a:gridCol>
              </a:tblGrid>
              <a:tr h="827314">
                <a:tc>
                  <a:txBody>
                    <a:bodyPr/>
                    <a:lstStyle/>
                    <a:p>
                      <a:pPr algn="l"/>
                      <a:r>
                        <a:rPr lang="en-IN" sz="2800" b="1" dirty="0">
                          <a:solidFill>
                            <a:schemeClr val="bg1"/>
                          </a:solidFill>
                          <a:latin typeface="Baskerville Old Face" panose="02020602080505020303" pitchFamily="18" charset="0"/>
                        </a:rPr>
                        <a:t>   Problem Statement</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640013"/>
                    </a:solidFill>
                  </a:tcPr>
                </a:tc>
                <a:extLst>
                  <a:ext uri="{0D108BD9-81ED-4DB2-BD59-A6C34878D82A}">
                    <a16:rowId xmlns:a16="http://schemas.microsoft.com/office/drawing/2014/main" val="1138994178"/>
                  </a:ext>
                </a:extLst>
              </a:tr>
            </a:tbl>
          </a:graphicData>
        </a:graphic>
      </p:graphicFrame>
      <p:sp>
        <p:nvSpPr>
          <p:cNvPr id="3" name="Text 2">
            <a:extLst>
              <a:ext uri="{FF2B5EF4-FFF2-40B4-BE49-F238E27FC236}">
                <a16:creationId xmlns:a16="http://schemas.microsoft.com/office/drawing/2014/main" id="{A94C96E7-A565-2493-104B-810AD49D34FB}"/>
              </a:ext>
            </a:extLst>
          </p:cNvPr>
          <p:cNvSpPr/>
          <p:nvPr/>
        </p:nvSpPr>
        <p:spPr>
          <a:xfrm>
            <a:off x="548640" y="1103086"/>
            <a:ext cx="8046720" cy="3614056"/>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Educational institutions deal with a large amount of student and teacher information every year, which is mostly maintained manually in registers or scattered across separate files. This makes it difficult to keep track of newly admitted students, organize their records properly, and retrieve the required information quickly whenever needed.</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There is, therefore, a genuine need for a system where the details of both students and teachers can be stored together in an organized manner, allowing the institution to manage this information in its own way and access it easily, without depending on scattered paper records.</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The “Evaluation of Academic Performance of Students” project has been undertaken with this very purpose in mind — to build a simple and organized platform that keeps student and teacher information in one place, so that the records of admitted students can be maintained, updated, and accessed conveniently whenever required.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Objective</a:t>
            </a:r>
            <a:endParaRPr lang="en-US" sz="2400" dirty="0"/>
          </a:p>
        </p:txBody>
      </p:sp>
      <p:sp>
        <p:nvSpPr>
          <p:cNvPr id="4" name="Text 2"/>
          <p:cNvSpPr/>
          <p:nvPr/>
        </p:nvSpPr>
        <p:spPr>
          <a:xfrm>
            <a:off x="457200" y="896112"/>
            <a:ext cx="8229600" cy="475488"/>
          </a:xfrm>
          <a:prstGeom prst="rect">
            <a:avLst/>
          </a:prstGeom>
          <a:noFill/>
          <a:ln/>
        </p:spPr>
        <p:txBody>
          <a:bodyPr wrap="square" rtlCol="0" anchor="ctr"/>
          <a:lstStyle/>
          <a:p>
            <a:pPr marL="0" indent="0">
              <a:buNone/>
            </a:pPr>
            <a:r>
              <a:rPr lang="en-US" sz="1300" i="1" dirty="0">
                <a:solidFill>
                  <a:srgbClr val="555555"/>
                </a:solidFill>
                <a:latin typeface="Calibri" pitchFamily="34" charset="0"/>
                <a:ea typeface="Calibri" pitchFamily="34" charset="-122"/>
                <a:cs typeface="Calibri" pitchFamily="34" charset="-120"/>
              </a:rPr>
              <a:t>The main goal of EduEval Portal is to digitize and simplify the academic result management process for polytechnic institutions.</a:t>
            </a:r>
            <a:endParaRPr lang="en-US" sz="1300" dirty="0"/>
          </a:p>
        </p:txBody>
      </p:sp>
      <p:sp>
        <p:nvSpPr>
          <p:cNvPr id="5" name="Shape 3"/>
          <p:cNvSpPr/>
          <p:nvPr/>
        </p:nvSpPr>
        <p:spPr>
          <a:xfrm>
            <a:off x="457200" y="1517904"/>
            <a:ext cx="109728" cy="256032"/>
          </a:xfrm>
          <a:prstGeom prst="rect">
            <a:avLst/>
          </a:prstGeom>
          <a:solidFill>
            <a:srgbClr val="6B1A1A"/>
          </a:solidFill>
          <a:ln w="12700">
            <a:solidFill>
              <a:srgbClr val="6B1A1A"/>
            </a:solidFill>
            <a:prstDash val="solid"/>
          </a:ln>
        </p:spPr>
      </p:sp>
      <p:sp>
        <p:nvSpPr>
          <p:cNvPr id="6" name="Text 4"/>
          <p:cNvSpPr/>
          <p:nvPr/>
        </p:nvSpPr>
        <p:spPr>
          <a:xfrm>
            <a:off x="713232" y="1444752"/>
            <a:ext cx="8046720" cy="475488"/>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Build a secure, role-based login system for Teachers and Students.</a:t>
            </a:r>
            <a:endParaRPr lang="en-US" sz="1250" dirty="0"/>
          </a:p>
        </p:txBody>
      </p:sp>
      <p:sp>
        <p:nvSpPr>
          <p:cNvPr id="7" name="Shape 5"/>
          <p:cNvSpPr/>
          <p:nvPr/>
        </p:nvSpPr>
        <p:spPr>
          <a:xfrm>
            <a:off x="457200" y="2093976"/>
            <a:ext cx="109728" cy="256032"/>
          </a:xfrm>
          <a:prstGeom prst="rect">
            <a:avLst/>
          </a:prstGeom>
          <a:solidFill>
            <a:srgbClr val="6B1A1A"/>
          </a:solidFill>
          <a:ln w="12700">
            <a:solidFill>
              <a:srgbClr val="6B1A1A"/>
            </a:solidFill>
            <a:prstDash val="solid"/>
          </a:ln>
        </p:spPr>
      </p:sp>
      <p:sp>
        <p:nvSpPr>
          <p:cNvPr id="8" name="Text 6"/>
          <p:cNvSpPr/>
          <p:nvPr/>
        </p:nvSpPr>
        <p:spPr>
          <a:xfrm>
            <a:off x="713232" y="2020824"/>
            <a:ext cx="8046720" cy="475488"/>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Allow teachers to register students, publish results, and edit academic data from a single dashboard.</a:t>
            </a:r>
            <a:endParaRPr lang="en-US" sz="1250" dirty="0"/>
          </a:p>
        </p:txBody>
      </p:sp>
      <p:sp>
        <p:nvSpPr>
          <p:cNvPr id="9" name="Shape 7"/>
          <p:cNvSpPr/>
          <p:nvPr/>
        </p:nvSpPr>
        <p:spPr>
          <a:xfrm>
            <a:off x="457200" y="2670048"/>
            <a:ext cx="109728" cy="256032"/>
          </a:xfrm>
          <a:prstGeom prst="rect">
            <a:avLst/>
          </a:prstGeom>
          <a:solidFill>
            <a:srgbClr val="6B1A1A"/>
          </a:solidFill>
          <a:ln w="12700">
            <a:solidFill>
              <a:srgbClr val="6B1A1A"/>
            </a:solidFill>
            <a:prstDash val="solid"/>
          </a:ln>
        </p:spPr>
      </p:sp>
      <p:sp>
        <p:nvSpPr>
          <p:cNvPr id="10" name="Text 8"/>
          <p:cNvSpPr/>
          <p:nvPr/>
        </p:nvSpPr>
        <p:spPr>
          <a:xfrm>
            <a:off x="713232" y="2596896"/>
            <a:ext cx="8046720" cy="475488"/>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Allow students to log in using their Registration ID, view subject-wise marks, CGPA, and result status.</a:t>
            </a:r>
            <a:endParaRPr lang="en-US" sz="1250" dirty="0"/>
          </a:p>
        </p:txBody>
      </p:sp>
      <p:sp>
        <p:nvSpPr>
          <p:cNvPr id="11" name="Shape 9"/>
          <p:cNvSpPr/>
          <p:nvPr/>
        </p:nvSpPr>
        <p:spPr>
          <a:xfrm>
            <a:off x="457200" y="3246120"/>
            <a:ext cx="109728" cy="256032"/>
          </a:xfrm>
          <a:prstGeom prst="rect">
            <a:avLst/>
          </a:prstGeom>
          <a:solidFill>
            <a:srgbClr val="6B1A1A"/>
          </a:solidFill>
          <a:ln w="12700">
            <a:solidFill>
              <a:srgbClr val="6B1A1A"/>
            </a:solidFill>
            <a:prstDash val="solid"/>
          </a:ln>
        </p:spPr>
      </p:sp>
      <p:sp>
        <p:nvSpPr>
          <p:cNvPr id="12" name="Text 10"/>
          <p:cNvSpPr/>
          <p:nvPr/>
        </p:nvSpPr>
        <p:spPr>
          <a:xfrm>
            <a:off x="713232" y="3172968"/>
            <a:ext cx="8046720" cy="475488"/>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Implement a PDF report download feature so students can save or print their official academic result.</a:t>
            </a:r>
            <a:endParaRPr lang="en-US" sz="1250" dirty="0"/>
          </a:p>
        </p:txBody>
      </p:sp>
      <p:sp>
        <p:nvSpPr>
          <p:cNvPr id="13" name="Shape 11"/>
          <p:cNvSpPr/>
          <p:nvPr/>
        </p:nvSpPr>
        <p:spPr>
          <a:xfrm>
            <a:off x="457200" y="3822192"/>
            <a:ext cx="109728" cy="256032"/>
          </a:xfrm>
          <a:prstGeom prst="rect">
            <a:avLst/>
          </a:prstGeom>
          <a:solidFill>
            <a:srgbClr val="6B1A1A"/>
          </a:solidFill>
          <a:ln w="12700">
            <a:solidFill>
              <a:srgbClr val="6B1A1A"/>
            </a:solidFill>
            <a:prstDash val="solid"/>
          </a:ln>
        </p:spPr>
      </p:sp>
      <p:sp>
        <p:nvSpPr>
          <p:cNvPr id="14" name="Text 12"/>
          <p:cNvSpPr/>
          <p:nvPr/>
        </p:nvSpPr>
        <p:spPr>
          <a:xfrm>
            <a:off x="713232" y="3749040"/>
            <a:ext cx="8046720" cy="475488"/>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Provide a live in-portal chat feature for real-time communication between teachers and students.</a:t>
            </a:r>
            <a:endParaRPr lang="en-US" sz="1250" dirty="0"/>
          </a:p>
        </p:txBody>
      </p:sp>
      <p:sp>
        <p:nvSpPr>
          <p:cNvPr id="15" name="Shape 13"/>
          <p:cNvSpPr/>
          <p:nvPr/>
        </p:nvSpPr>
        <p:spPr>
          <a:xfrm>
            <a:off x="457200" y="4398264"/>
            <a:ext cx="109728" cy="256032"/>
          </a:xfrm>
          <a:prstGeom prst="rect">
            <a:avLst/>
          </a:prstGeom>
          <a:solidFill>
            <a:srgbClr val="6B1A1A"/>
          </a:solidFill>
          <a:ln w="12700">
            <a:solidFill>
              <a:srgbClr val="6B1A1A"/>
            </a:solidFill>
            <a:prstDash val="solid"/>
          </a:ln>
        </p:spPr>
      </p:sp>
      <p:sp>
        <p:nvSpPr>
          <p:cNvPr id="16" name="Text 14"/>
          <p:cNvSpPr/>
          <p:nvPr/>
        </p:nvSpPr>
        <p:spPr>
          <a:xfrm>
            <a:off x="713232" y="4325112"/>
            <a:ext cx="8046720" cy="475488"/>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Ensure data integrity with server-side validation, session management, and parameterized SQL queries.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Technology Used</a:t>
            </a:r>
            <a:endParaRPr lang="en-US" sz="2400" dirty="0"/>
          </a:p>
        </p:txBody>
      </p:sp>
      <p:sp>
        <p:nvSpPr>
          <p:cNvPr id="4" name="Shape 2"/>
          <p:cNvSpPr/>
          <p:nvPr/>
        </p:nvSpPr>
        <p:spPr>
          <a:xfrm>
            <a:off x="365760" y="877824"/>
            <a:ext cx="8412480" cy="621792"/>
          </a:xfrm>
          <a:prstGeom prst="rect">
            <a:avLst/>
          </a:prstGeom>
          <a:solidFill>
            <a:srgbClr val="F2F2F2"/>
          </a:solidFill>
          <a:ln w="12700">
            <a:solidFill>
              <a:srgbClr val="F2F2F2"/>
            </a:solidFill>
            <a:prstDash val="solid"/>
          </a:ln>
        </p:spPr>
        <p:txBody>
          <a:bodyPr/>
          <a:lstStyle/>
          <a:p>
            <a:endParaRPr lang="en-IN" dirty="0"/>
          </a:p>
        </p:txBody>
      </p:sp>
      <p:sp>
        <p:nvSpPr>
          <p:cNvPr id="5" name="Text 3"/>
          <p:cNvSpPr/>
          <p:nvPr/>
        </p:nvSpPr>
        <p:spPr>
          <a:xfrm>
            <a:off x="502920" y="969264"/>
            <a:ext cx="1920240" cy="36576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PHP </a:t>
            </a:r>
            <a:endParaRPr lang="en-US" sz="1300" dirty="0"/>
          </a:p>
        </p:txBody>
      </p:sp>
      <p:sp>
        <p:nvSpPr>
          <p:cNvPr id="6" name="Text 4"/>
          <p:cNvSpPr/>
          <p:nvPr/>
        </p:nvSpPr>
        <p:spPr>
          <a:xfrm>
            <a:off x="2606040" y="969264"/>
            <a:ext cx="6217920" cy="45720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Server-side language used for handling login, session management, routing, and all database operations via PDO.</a:t>
            </a:r>
            <a:endParaRPr lang="en-US" sz="1200" dirty="0"/>
          </a:p>
        </p:txBody>
      </p:sp>
      <p:sp>
        <p:nvSpPr>
          <p:cNvPr id="7" name="Text 5"/>
          <p:cNvSpPr/>
          <p:nvPr/>
        </p:nvSpPr>
        <p:spPr>
          <a:xfrm>
            <a:off x="502920" y="1645920"/>
            <a:ext cx="1920240" cy="36576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MySQL</a:t>
            </a:r>
            <a:endParaRPr lang="en-US" sz="1300" dirty="0"/>
          </a:p>
        </p:txBody>
      </p:sp>
      <p:sp>
        <p:nvSpPr>
          <p:cNvPr id="8" name="Text 6"/>
          <p:cNvSpPr/>
          <p:nvPr/>
        </p:nvSpPr>
        <p:spPr>
          <a:xfrm>
            <a:off x="2606040" y="1645920"/>
            <a:ext cx="6217920" cy="45720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Relational database that stores users, student profiles, subject marks, result data, and chat messages.</a:t>
            </a:r>
            <a:endParaRPr lang="en-US" sz="1200" dirty="0"/>
          </a:p>
        </p:txBody>
      </p:sp>
      <p:sp>
        <p:nvSpPr>
          <p:cNvPr id="9" name="Shape 7"/>
          <p:cNvSpPr/>
          <p:nvPr/>
        </p:nvSpPr>
        <p:spPr>
          <a:xfrm>
            <a:off x="411480" y="2266653"/>
            <a:ext cx="8412480" cy="621792"/>
          </a:xfrm>
          <a:prstGeom prst="rect">
            <a:avLst/>
          </a:prstGeom>
          <a:solidFill>
            <a:srgbClr val="F2F2F2"/>
          </a:solidFill>
          <a:ln w="12700">
            <a:solidFill>
              <a:srgbClr val="F2F2F2"/>
            </a:solidFill>
            <a:prstDash val="solid"/>
          </a:ln>
        </p:spPr>
      </p:sp>
      <p:sp>
        <p:nvSpPr>
          <p:cNvPr id="10" name="Text 8"/>
          <p:cNvSpPr/>
          <p:nvPr/>
        </p:nvSpPr>
        <p:spPr>
          <a:xfrm>
            <a:off x="502920" y="2322576"/>
            <a:ext cx="1920240" cy="36576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HTML / CSS</a:t>
            </a:r>
            <a:endParaRPr lang="en-US" sz="1300" dirty="0"/>
          </a:p>
        </p:txBody>
      </p:sp>
      <p:sp>
        <p:nvSpPr>
          <p:cNvPr id="11" name="Text 9"/>
          <p:cNvSpPr/>
          <p:nvPr/>
        </p:nvSpPr>
        <p:spPr>
          <a:xfrm>
            <a:off x="2606040" y="2322576"/>
            <a:ext cx="6217920" cy="45720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Markup and styling for all pages — responsive layout, tab-based login UI, result card design using Flexbox.</a:t>
            </a:r>
            <a:endParaRPr lang="en-US" sz="1200" dirty="0"/>
          </a:p>
        </p:txBody>
      </p:sp>
      <p:sp>
        <p:nvSpPr>
          <p:cNvPr id="13" name="Text 11"/>
          <p:cNvSpPr/>
          <p:nvPr/>
        </p:nvSpPr>
        <p:spPr>
          <a:xfrm>
            <a:off x="2606040" y="2999232"/>
            <a:ext cx="6217920" cy="457200"/>
          </a:xfrm>
          <a:prstGeom prst="rect">
            <a:avLst/>
          </a:prstGeom>
          <a:noFill/>
          <a:ln/>
        </p:spPr>
        <p:txBody>
          <a:bodyPr wrap="square" lIns="0" tIns="0" rIns="0" bIns="0" rtlCol="0" anchor="ctr"/>
          <a:lstStyle/>
          <a:p>
            <a:pPr marL="0" indent="0">
              <a:buNone/>
            </a:pPr>
            <a:endParaRPr lang="en-US" sz="1200" dirty="0"/>
          </a:p>
        </p:txBody>
      </p:sp>
      <p:sp>
        <p:nvSpPr>
          <p:cNvPr id="17" name="Text 15"/>
          <p:cNvSpPr/>
          <p:nvPr/>
        </p:nvSpPr>
        <p:spPr>
          <a:xfrm>
            <a:off x="411480" y="2997115"/>
            <a:ext cx="8412480" cy="513122"/>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Apache / XAMPP</a:t>
            </a:r>
            <a:endParaRPr lang="en-US" sz="1300" dirty="0"/>
          </a:p>
        </p:txBody>
      </p:sp>
      <p:sp>
        <p:nvSpPr>
          <p:cNvPr id="18" name="Text 16"/>
          <p:cNvSpPr/>
          <p:nvPr/>
        </p:nvSpPr>
        <p:spPr>
          <a:xfrm>
            <a:off x="2564409" y="2888445"/>
            <a:ext cx="6217920" cy="62179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Local web server stack used for development. Handles HTTP requests, PHP processing, and serves the application.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Project Work Flow</a:t>
            </a:r>
            <a:endParaRPr lang="en-US" sz="2400" dirty="0"/>
          </a:p>
        </p:txBody>
      </p:sp>
      <p:sp>
        <p:nvSpPr>
          <p:cNvPr id="4" name="Text 2"/>
          <p:cNvSpPr/>
          <p:nvPr/>
        </p:nvSpPr>
        <p:spPr>
          <a:xfrm>
            <a:off x="365760" y="896112"/>
            <a:ext cx="4023360" cy="32004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System Flow</a:t>
            </a:r>
            <a:endParaRPr lang="en-US" sz="1300" dirty="0"/>
          </a:p>
        </p:txBody>
      </p:sp>
      <p:sp>
        <p:nvSpPr>
          <p:cNvPr id="5" name="Shape 3"/>
          <p:cNvSpPr/>
          <p:nvPr/>
        </p:nvSpPr>
        <p:spPr>
          <a:xfrm>
            <a:off x="365760" y="1197864"/>
            <a:ext cx="4023360" cy="22860"/>
          </a:xfrm>
          <a:prstGeom prst="rect">
            <a:avLst/>
          </a:prstGeom>
          <a:solidFill>
            <a:srgbClr val="6B1A1A"/>
          </a:solidFill>
          <a:ln w="12700">
            <a:solidFill>
              <a:srgbClr val="6B1A1A"/>
            </a:solidFill>
            <a:prstDash val="solid"/>
          </a:ln>
        </p:spPr>
      </p:sp>
      <p:sp>
        <p:nvSpPr>
          <p:cNvPr id="6" name="Text 4"/>
          <p:cNvSpPr/>
          <p:nvPr/>
        </p:nvSpPr>
        <p:spPr>
          <a:xfrm>
            <a:off x="384048" y="12984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713232" y="13350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User opens index.php (Login Page)</a:t>
            </a:r>
            <a:endParaRPr lang="en-US" sz="1100" dirty="0"/>
          </a:p>
        </p:txBody>
      </p:sp>
      <p:sp>
        <p:nvSpPr>
          <p:cNvPr id="8" name="Text 6"/>
          <p:cNvSpPr/>
          <p:nvPr/>
        </p:nvSpPr>
        <p:spPr>
          <a:xfrm>
            <a:off x="384048" y="17556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713232" y="17922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Selects role: Teacher or Student</a:t>
            </a:r>
            <a:endParaRPr lang="en-US" sz="1100" dirty="0"/>
          </a:p>
        </p:txBody>
      </p:sp>
      <p:sp>
        <p:nvSpPr>
          <p:cNvPr id="10" name="Text 8"/>
          <p:cNvSpPr/>
          <p:nvPr/>
        </p:nvSpPr>
        <p:spPr>
          <a:xfrm>
            <a:off x="384048" y="22128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713232" y="22494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Enters credentials → Server validates via PDO</a:t>
            </a:r>
            <a:endParaRPr lang="en-US" sz="1100" dirty="0"/>
          </a:p>
        </p:txBody>
      </p:sp>
      <p:sp>
        <p:nvSpPr>
          <p:cNvPr id="12" name="Text 10"/>
          <p:cNvSpPr/>
          <p:nvPr/>
        </p:nvSpPr>
        <p:spPr>
          <a:xfrm>
            <a:off x="384048" y="26700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713232" y="27066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Session is created with role &amp; user_id</a:t>
            </a:r>
            <a:endParaRPr lang="en-US" sz="1100" dirty="0"/>
          </a:p>
        </p:txBody>
      </p:sp>
      <p:sp>
        <p:nvSpPr>
          <p:cNvPr id="14" name="Text 12"/>
          <p:cNvSpPr/>
          <p:nvPr/>
        </p:nvSpPr>
        <p:spPr>
          <a:xfrm>
            <a:off x="384048" y="31272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713232" y="31638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Redirected to dashboard.php</a:t>
            </a:r>
            <a:endParaRPr lang="en-US" sz="1100" dirty="0"/>
          </a:p>
        </p:txBody>
      </p:sp>
      <p:sp>
        <p:nvSpPr>
          <p:cNvPr id="16" name="Text 14"/>
          <p:cNvSpPr/>
          <p:nvPr/>
        </p:nvSpPr>
        <p:spPr>
          <a:xfrm>
            <a:off x="384048" y="35844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713232" y="36210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Role-based UI rendered (Teacher / Student)</a:t>
            </a:r>
            <a:endParaRPr lang="en-US" sz="1100" dirty="0"/>
          </a:p>
        </p:txBody>
      </p:sp>
      <p:sp>
        <p:nvSpPr>
          <p:cNvPr id="18" name="Text 16"/>
          <p:cNvSpPr/>
          <p:nvPr/>
        </p:nvSpPr>
        <p:spPr>
          <a:xfrm>
            <a:off x="384048" y="40416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713232" y="40782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All API calls pass through api.php with session check</a:t>
            </a:r>
            <a:endParaRPr lang="en-US" sz="1100" dirty="0"/>
          </a:p>
        </p:txBody>
      </p:sp>
      <p:sp>
        <p:nvSpPr>
          <p:cNvPr id="20" name="Text 18"/>
          <p:cNvSpPr/>
          <p:nvPr/>
        </p:nvSpPr>
        <p:spPr>
          <a:xfrm>
            <a:off x="384048" y="44988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713232" y="45354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User clicks Logout → session_destroy() → redirect to login</a:t>
            </a:r>
            <a:endParaRPr lang="en-US" sz="1100" dirty="0"/>
          </a:p>
        </p:txBody>
      </p:sp>
      <p:sp>
        <p:nvSpPr>
          <p:cNvPr id="22" name="Text 20"/>
          <p:cNvSpPr/>
          <p:nvPr/>
        </p:nvSpPr>
        <p:spPr>
          <a:xfrm>
            <a:off x="4846320" y="896112"/>
            <a:ext cx="4023360" cy="32004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Role-Based Actions</a:t>
            </a:r>
            <a:endParaRPr lang="en-US" sz="1300" dirty="0"/>
          </a:p>
        </p:txBody>
      </p:sp>
      <p:sp>
        <p:nvSpPr>
          <p:cNvPr id="23" name="Shape 21"/>
          <p:cNvSpPr/>
          <p:nvPr/>
        </p:nvSpPr>
        <p:spPr>
          <a:xfrm>
            <a:off x="4846320" y="1197864"/>
            <a:ext cx="4023360" cy="22860"/>
          </a:xfrm>
          <a:prstGeom prst="rect">
            <a:avLst/>
          </a:prstGeom>
          <a:solidFill>
            <a:srgbClr val="6B1A1A"/>
          </a:solidFill>
          <a:ln w="12700">
            <a:solidFill>
              <a:srgbClr val="6B1A1A"/>
            </a:solidFill>
            <a:prstDash val="solid"/>
          </a:ln>
        </p:spPr>
      </p:sp>
      <p:sp>
        <p:nvSpPr>
          <p:cNvPr id="24" name="Text 22"/>
          <p:cNvSpPr/>
          <p:nvPr/>
        </p:nvSpPr>
        <p:spPr>
          <a:xfrm>
            <a:off x="4846320" y="1298448"/>
            <a:ext cx="393192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Teacher Can:</a:t>
            </a:r>
            <a:endParaRPr lang="en-US" sz="1200" dirty="0"/>
          </a:p>
        </p:txBody>
      </p:sp>
      <p:sp>
        <p:nvSpPr>
          <p:cNvPr id="25" name="Text 23"/>
          <p:cNvSpPr/>
          <p:nvPr/>
        </p:nvSpPr>
        <p:spPr>
          <a:xfrm>
            <a:off x="4983480" y="1600200"/>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Register / Edit / Delete student accounts</a:t>
            </a:r>
            <a:endParaRPr lang="en-US" sz="1100" dirty="0"/>
          </a:p>
        </p:txBody>
      </p:sp>
      <p:sp>
        <p:nvSpPr>
          <p:cNvPr id="26" name="Text 24"/>
          <p:cNvSpPr/>
          <p:nvPr/>
        </p:nvSpPr>
        <p:spPr>
          <a:xfrm>
            <a:off x="4983480" y="1947672"/>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Publish result by entering subject marks</a:t>
            </a:r>
            <a:endParaRPr lang="en-US" sz="1100" dirty="0"/>
          </a:p>
        </p:txBody>
      </p:sp>
      <p:sp>
        <p:nvSpPr>
          <p:cNvPr id="27" name="Text 25"/>
          <p:cNvSpPr/>
          <p:nvPr/>
        </p:nvSpPr>
        <p:spPr>
          <a:xfrm>
            <a:off x="4983480" y="2295144"/>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Edit existing results and recalculate CGPA</a:t>
            </a:r>
            <a:endParaRPr lang="en-US" sz="1100" dirty="0"/>
          </a:p>
        </p:txBody>
      </p:sp>
      <p:sp>
        <p:nvSpPr>
          <p:cNvPr id="28" name="Text 26"/>
          <p:cNvSpPr/>
          <p:nvPr/>
        </p:nvSpPr>
        <p:spPr>
          <a:xfrm>
            <a:off x="4983480" y="2642616"/>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View all students on Manage Results dashboard</a:t>
            </a:r>
            <a:endParaRPr lang="en-US" sz="1100" dirty="0"/>
          </a:p>
        </p:txBody>
      </p:sp>
      <p:sp>
        <p:nvSpPr>
          <p:cNvPr id="29" name="Text 27"/>
          <p:cNvSpPr/>
          <p:nvPr/>
        </p:nvSpPr>
        <p:spPr>
          <a:xfrm>
            <a:off x="4983480" y="2990088"/>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Send messages in Live Chat</a:t>
            </a:r>
            <a:endParaRPr lang="en-US" sz="1100" dirty="0"/>
          </a:p>
        </p:txBody>
      </p:sp>
      <p:sp>
        <p:nvSpPr>
          <p:cNvPr id="30" name="Text 28"/>
          <p:cNvSpPr/>
          <p:nvPr/>
        </p:nvSpPr>
        <p:spPr>
          <a:xfrm>
            <a:off x="4846320" y="3383280"/>
            <a:ext cx="393192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Student Can:</a:t>
            </a:r>
            <a:endParaRPr lang="en-US" sz="1200" dirty="0"/>
          </a:p>
        </p:txBody>
      </p:sp>
      <p:sp>
        <p:nvSpPr>
          <p:cNvPr id="31" name="Text 29"/>
          <p:cNvSpPr/>
          <p:nvPr/>
        </p:nvSpPr>
        <p:spPr>
          <a:xfrm>
            <a:off x="4983480" y="3703320"/>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Log in using Registration ID and password</a:t>
            </a:r>
            <a:endParaRPr lang="en-US" sz="1100" dirty="0"/>
          </a:p>
        </p:txBody>
      </p:sp>
      <p:sp>
        <p:nvSpPr>
          <p:cNvPr id="32" name="Text 30"/>
          <p:cNvSpPr/>
          <p:nvPr/>
        </p:nvSpPr>
        <p:spPr>
          <a:xfrm>
            <a:off x="4983480" y="4050792"/>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View subject-wise marks and CGPA</a:t>
            </a:r>
            <a:endParaRPr lang="en-US" sz="1100" dirty="0"/>
          </a:p>
        </p:txBody>
      </p:sp>
      <p:sp>
        <p:nvSpPr>
          <p:cNvPr id="33" name="Text 31"/>
          <p:cNvSpPr/>
          <p:nvPr/>
        </p:nvSpPr>
        <p:spPr>
          <a:xfrm>
            <a:off x="4983480" y="4398264"/>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Download official academic result as PDF</a:t>
            </a:r>
            <a:endParaRPr lang="en-US" sz="1100" dirty="0"/>
          </a:p>
        </p:txBody>
      </p:sp>
      <p:sp>
        <p:nvSpPr>
          <p:cNvPr id="34" name="Text 32"/>
          <p:cNvSpPr/>
          <p:nvPr/>
        </p:nvSpPr>
        <p:spPr>
          <a:xfrm>
            <a:off x="4983480" y="4745736"/>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Send messages in Live Chat</a:t>
            </a:r>
            <a:endParaRPr lang="en-US" sz="1100" dirty="0"/>
          </a:p>
        </p:txBody>
      </p:sp>
      <p:sp>
        <p:nvSpPr>
          <p:cNvPr id="35" name="Shape 33"/>
          <p:cNvSpPr/>
          <p:nvPr/>
        </p:nvSpPr>
        <p:spPr>
          <a:xfrm>
            <a:off x="4572000" y="868680"/>
            <a:ext cx="22860" cy="4069080"/>
          </a:xfrm>
          <a:prstGeom prst="rect">
            <a:avLst/>
          </a:prstGeom>
          <a:solidFill>
            <a:srgbClr val="CCCCCC"/>
          </a:solidFill>
          <a:ln w="12700">
            <a:solidFill>
              <a:srgbClr val="CCCCC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Output Screenshots  —  Login Page</a:t>
            </a:r>
            <a:endParaRPr lang="en-US" sz="2200" dirty="0"/>
          </a:p>
        </p:txBody>
      </p:sp>
      <p:sp>
        <p:nvSpPr>
          <p:cNvPr id="4" name="Shape 2"/>
          <p:cNvSpPr/>
          <p:nvPr/>
        </p:nvSpPr>
        <p:spPr>
          <a:xfrm>
            <a:off x="320040" y="914400"/>
            <a:ext cx="3840480" cy="3931920"/>
          </a:xfrm>
          <a:prstGeom prst="rect">
            <a:avLst/>
          </a:prstGeom>
          <a:solidFill>
            <a:srgbClr val="F5EFE6"/>
          </a:solidFill>
          <a:ln w="12700">
            <a:solidFill>
              <a:srgbClr val="CCCCCC"/>
            </a:solidFill>
            <a:prstDash val="solid"/>
          </a:ln>
        </p:spPr>
      </p:sp>
      <p:sp>
        <p:nvSpPr>
          <p:cNvPr id="5" name="Shape 3"/>
          <p:cNvSpPr/>
          <p:nvPr/>
        </p:nvSpPr>
        <p:spPr>
          <a:xfrm>
            <a:off x="320040" y="914400"/>
            <a:ext cx="3840480" cy="402336"/>
          </a:xfrm>
          <a:prstGeom prst="rect">
            <a:avLst/>
          </a:prstGeom>
          <a:solidFill>
            <a:srgbClr val="EDEBE6"/>
          </a:solidFill>
          <a:ln w="12700">
            <a:solidFill>
              <a:srgbClr val="CCCCCC"/>
            </a:solidFill>
            <a:prstDash val="solid"/>
          </a:ln>
        </p:spPr>
      </p:sp>
      <p:sp>
        <p:nvSpPr>
          <p:cNvPr id="6" name="Shape 4"/>
          <p:cNvSpPr/>
          <p:nvPr/>
        </p:nvSpPr>
        <p:spPr>
          <a:xfrm>
            <a:off x="320040" y="1289304"/>
            <a:ext cx="1920240" cy="36576"/>
          </a:xfrm>
          <a:prstGeom prst="rect">
            <a:avLst/>
          </a:prstGeom>
          <a:solidFill>
            <a:srgbClr val="6B1A1A"/>
          </a:solidFill>
          <a:ln w="12700">
            <a:solidFill>
              <a:srgbClr val="6B1A1A"/>
            </a:solidFill>
            <a:prstDash val="solid"/>
          </a:ln>
        </p:spPr>
      </p:sp>
      <p:sp>
        <p:nvSpPr>
          <p:cNvPr id="7" name="Text 5"/>
          <p:cNvSpPr/>
          <p:nvPr/>
        </p:nvSpPr>
        <p:spPr>
          <a:xfrm>
            <a:off x="320040" y="914400"/>
            <a:ext cx="1920240" cy="402336"/>
          </a:xfrm>
          <a:prstGeom prst="rect">
            <a:avLst/>
          </a:prstGeom>
          <a:noFill/>
          <a:ln/>
        </p:spPr>
        <p:txBody>
          <a:bodyPr wrap="square" rtlCol="0" anchor="ctr"/>
          <a:lstStyle/>
          <a:p>
            <a:pPr marL="0" indent="0" algn="ctr">
              <a:buNone/>
            </a:pPr>
            <a:r>
              <a:rPr lang="en-US" sz="1100" b="1" dirty="0">
                <a:solidFill>
                  <a:srgbClr val="6B1A1A"/>
                </a:solidFill>
                <a:latin typeface="Calibri" pitchFamily="34" charset="0"/>
                <a:ea typeface="Calibri" pitchFamily="34" charset="-122"/>
                <a:cs typeface="Calibri" pitchFamily="34" charset="-120"/>
              </a:rPr>
              <a:t>🎓 Student</a:t>
            </a:r>
            <a:endParaRPr lang="en-US" sz="1100" dirty="0"/>
          </a:p>
        </p:txBody>
      </p:sp>
      <p:sp>
        <p:nvSpPr>
          <p:cNvPr id="8" name="Text 6"/>
          <p:cNvSpPr/>
          <p:nvPr/>
        </p:nvSpPr>
        <p:spPr>
          <a:xfrm>
            <a:off x="2240280" y="914400"/>
            <a:ext cx="1920240" cy="402336"/>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 Teacher</a:t>
            </a:r>
            <a:endParaRPr lang="en-US" sz="1100" dirty="0"/>
          </a:p>
        </p:txBody>
      </p:sp>
      <p:sp>
        <p:nvSpPr>
          <p:cNvPr id="9" name="Text 7"/>
          <p:cNvSpPr/>
          <p:nvPr/>
        </p:nvSpPr>
        <p:spPr>
          <a:xfrm>
            <a:off x="502920" y="1417320"/>
            <a:ext cx="3474720" cy="384048"/>
          </a:xfrm>
          <a:prstGeom prst="rect">
            <a:avLst/>
          </a:prstGeom>
          <a:noFill/>
          <a:ln/>
        </p:spPr>
        <p:txBody>
          <a:bodyPr wrap="square" rtlCol="0" anchor="ctr"/>
          <a:lstStyle/>
          <a:p>
            <a:pPr marL="0" indent="0" algn="ctr">
              <a:buNone/>
            </a:pPr>
            <a:r>
              <a:rPr lang="en-US" sz="1800" b="1" dirty="0">
                <a:solidFill>
                  <a:srgbClr val="6B1A1A"/>
                </a:solidFill>
                <a:latin typeface="Cambria" pitchFamily="34" charset="0"/>
                <a:ea typeface="Cambria" pitchFamily="34" charset="-122"/>
                <a:cs typeface="Cambria" pitchFamily="34" charset="-120"/>
              </a:rPr>
              <a:t>Student Login</a:t>
            </a:r>
            <a:endParaRPr lang="en-US" sz="1800" dirty="0"/>
          </a:p>
        </p:txBody>
      </p:sp>
      <p:sp>
        <p:nvSpPr>
          <p:cNvPr id="10" name="Text 8"/>
          <p:cNvSpPr/>
          <p:nvPr/>
        </p:nvSpPr>
        <p:spPr>
          <a:xfrm>
            <a:off x="502920" y="1773936"/>
            <a:ext cx="3474720" cy="256032"/>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Welcome back! Please enter your details.</a:t>
            </a:r>
            <a:endParaRPr lang="en-US" sz="1000" dirty="0"/>
          </a:p>
        </p:txBody>
      </p:sp>
      <p:sp>
        <p:nvSpPr>
          <p:cNvPr id="11" name="Text 9"/>
          <p:cNvSpPr/>
          <p:nvPr/>
        </p:nvSpPr>
        <p:spPr>
          <a:xfrm>
            <a:off x="548640" y="210312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Registration No</a:t>
            </a:r>
            <a:endParaRPr lang="en-US" sz="1000" dirty="0"/>
          </a:p>
        </p:txBody>
      </p:sp>
      <p:sp>
        <p:nvSpPr>
          <p:cNvPr id="12" name="Shape 10"/>
          <p:cNvSpPr/>
          <p:nvPr/>
        </p:nvSpPr>
        <p:spPr>
          <a:xfrm>
            <a:off x="548640" y="2304288"/>
            <a:ext cx="3383280" cy="347472"/>
          </a:xfrm>
          <a:prstGeom prst="rect">
            <a:avLst/>
          </a:prstGeom>
          <a:solidFill>
            <a:srgbClr val="FFFFFF"/>
          </a:solidFill>
          <a:ln w="12700">
            <a:solidFill>
              <a:srgbClr val="CCCCCC"/>
            </a:solidFill>
            <a:prstDash val="solid"/>
          </a:ln>
        </p:spPr>
      </p:sp>
      <p:sp>
        <p:nvSpPr>
          <p:cNvPr id="13" name="Text 11"/>
          <p:cNvSpPr/>
          <p:nvPr/>
        </p:nvSpPr>
        <p:spPr>
          <a:xfrm>
            <a:off x="685800" y="2350008"/>
            <a:ext cx="310896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D232410652</a:t>
            </a:r>
            <a:endParaRPr lang="en-US" sz="1100" dirty="0"/>
          </a:p>
        </p:txBody>
      </p:sp>
      <p:sp>
        <p:nvSpPr>
          <p:cNvPr id="14" name="Text 12"/>
          <p:cNvSpPr/>
          <p:nvPr/>
        </p:nvSpPr>
        <p:spPr>
          <a:xfrm>
            <a:off x="548640" y="274320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Password</a:t>
            </a:r>
            <a:endParaRPr lang="en-US" sz="1000" dirty="0"/>
          </a:p>
        </p:txBody>
      </p:sp>
      <p:sp>
        <p:nvSpPr>
          <p:cNvPr id="15" name="Shape 13"/>
          <p:cNvSpPr/>
          <p:nvPr/>
        </p:nvSpPr>
        <p:spPr>
          <a:xfrm>
            <a:off x="548640" y="2944368"/>
            <a:ext cx="3383280" cy="347472"/>
          </a:xfrm>
          <a:prstGeom prst="rect">
            <a:avLst/>
          </a:prstGeom>
          <a:solidFill>
            <a:srgbClr val="FFFFFF"/>
          </a:solidFill>
          <a:ln w="12700">
            <a:solidFill>
              <a:srgbClr val="CCCCCC"/>
            </a:solidFill>
            <a:prstDash val="solid"/>
          </a:ln>
        </p:spPr>
      </p:sp>
      <p:sp>
        <p:nvSpPr>
          <p:cNvPr id="16" name="Text 14"/>
          <p:cNvSpPr/>
          <p:nvPr/>
        </p:nvSpPr>
        <p:spPr>
          <a:xfrm>
            <a:off x="685800" y="2980944"/>
            <a:ext cx="3108960" cy="256032"/>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548640" y="3456432"/>
            <a:ext cx="3383280" cy="384048"/>
          </a:xfrm>
          <a:prstGeom prst="rect">
            <a:avLst/>
          </a:prstGeom>
          <a:solidFill>
            <a:srgbClr val="6B1A1A"/>
          </a:solidFill>
          <a:ln w="12700">
            <a:solidFill>
              <a:srgbClr val="6B1A1A"/>
            </a:solidFill>
            <a:prstDash val="solid"/>
          </a:ln>
        </p:spPr>
      </p:sp>
      <p:sp>
        <p:nvSpPr>
          <p:cNvPr id="18" name="Text 16"/>
          <p:cNvSpPr/>
          <p:nvPr/>
        </p:nvSpPr>
        <p:spPr>
          <a:xfrm>
            <a:off x="548640" y="3456432"/>
            <a:ext cx="338328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 In</a:t>
            </a:r>
            <a:endParaRPr lang="en-US" sz="1300" dirty="0"/>
          </a:p>
        </p:txBody>
      </p:sp>
      <p:sp>
        <p:nvSpPr>
          <p:cNvPr id="19" name="Text 17"/>
          <p:cNvSpPr/>
          <p:nvPr/>
        </p:nvSpPr>
        <p:spPr>
          <a:xfrm>
            <a:off x="320040" y="4846320"/>
            <a:ext cx="384048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1: Student Login</a:t>
            </a:r>
            <a:endParaRPr lang="en-US" sz="1000" dirty="0"/>
          </a:p>
        </p:txBody>
      </p:sp>
      <p:sp>
        <p:nvSpPr>
          <p:cNvPr id="20" name="Shape 18"/>
          <p:cNvSpPr/>
          <p:nvPr/>
        </p:nvSpPr>
        <p:spPr>
          <a:xfrm>
            <a:off x="4983480" y="914400"/>
            <a:ext cx="3840480" cy="3931920"/>
          </a:xfrm>
          <a:prstGeom prst="rect">
            <a:avLst/>
          </a:prstGeom>
          <a:solidFill>
            <a:srgbClr val="F5EFE6"/>
          </a:solidFill>
          <a:ln w="12700">
            <a:solidFill>
              <a:srgbClr val="CCCCCC"/>
            </a:solidFill>
            <a:prstDash val="solid"/>
          </a:ln>
        </p:spPr>
      </p:sp>
      <p:sp>
        <p:nvSpPr>
          <p:cNvPr id="21" name="Shape 19"/>
          <p:cNvSpPr/>
          <p:nvPr/>
        </p:nvSpPr>
        <p:spPr>
          <a:xfrm>
            <a:off x="4983480" y="914400"/>
            <a:ext cx="3840480" cy="402336"/>
          </a:xfrm>
          <a:prstGeom prst="rect">
            <a:avLst/>
          </a:prstGeom>
          <a:solidFill>
            <a:srgbClr val="EDEBE6"/>
          </a:solidFill>
          <a:ln w="12700">
            <a:solidFill>
              <a:srgbClr val="CCCCCC"/>
            </a:solidFill>
            <a:prstDash val="solid"/>
          </a:ln>
        </p:spPr>
      </p:sp>
      <p:sp>
        <p:nvSpPr>
          <p:cNvPr id="22" name="Shape 20"/>
          <p:cNvSpPr/>
          <p:nvPr/>
        </p:nvSpPr>
        <p:spPr>
          <a:xfrm>
            <a:off x="6903720" y="1289304"/>
            <a:ext cx="1920240" cy="36576"/>
          </a:xfrm>
          <a:prstGeom prst="rect">
            <a:avLst/>
          </a:prstGeom>
          <a:solidFill>
            <a:srgbClr val="6B1A1A"/>
          </a:solidFill>
          <a:ln w="12700">
            <a:solidFill>
              <a:srgbClr val="6B1A1A"/>
            </a:solidFill>
            <a:prstDash val="solid"/>
          </a:ln>
        </p:spPr>
      </p:sp>
      <p:sp>
        <p:nvSpPr>
          <p:cNvPr id="23" name="Text 21"/>
          <p:cNvSpPr/>
          <p:nvPr/>
        </p:nvSpPr>
        <p:spPr>
          <a:xfrm>
            <a:off x="4983480" y="914400"/>
            <a:ext cx="1920240" cy="402336"/>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 Student</a:t>
            </a:r>
            <a:endParaRPr lang="en-US" sz="1100" dirty="0"/>
          </a:p>
        </p:txBody>
      </p:sp>
      <p:sp>
        <p:nvSpPr>
          <p:cNvPr id="24" name="Text 22"/>
          <p:cNvSpPr/>
          <p:nvPr/>
        </p:nvSpPr>
        <p:spPr>
          <a:xfrm>
            <a:off x="6903720" y="914400"/>
            <a:ext cx="1920240" cy="402336"/>
          </a:xfrm>
          <a:prstGeom prst="rect">
            <a:avLst/>
          </a:prstGeom>
          <a:noFill/>
          <a:ln/>
        </p:spPr>
        <p:txBody>
          <a:bodyPr wrap="square" rtlCol="0" anchor="ctr"/>
          <a:lstStyle/>
          <a:p>
            <a:pPr marL="0" indent="0" algn="ctr">
              <a:buNone/>
            </a:pPr>
            <a:r>
              <a:rPr lang="en-US" sz="1100" b="1" dirty="0">
                <a:solidFill>
                  <a:srgbClr val="6B1A1A"/>
                </a:solidFill>
                <a:latin typeface="Calibri" pitchFamily="34" charset="0"/>
                <a:ea typeface="Calibri" pitchFamily="34" charset="-122"/>
                <a:cs typeface="Calibri" pitchFamily="34" charset="-120"/>
              </a:rPr>
              <a:t>📚 Teacher</a:t>
            </a:r>
            <a:endParaRPr lang="en-US" sz="1100" dirty="0"/>
          </a:p>
        </p:txBody>
      </p:sp>
      <p:sp>
        <p:nvSpPr>
          <p:cNvPr id="25" name="Text 23"/>
          <p:cNvSpPr/>
          <p:nvPr/>
        </p:nvSpPr>
        <p:spPr>
          <a:xfrm>
            <a:off x="5166360" y="1417320"/>
            <a:ext cx="3474720" cy="384048"/>
          </a:xfrm>
          <a:prstGeom prst="rect">
            <a:avLst/>
          </a:prstGeom>
          <a:noFill/>
          <a:ln/>
        </p:spPr>
        <p:txBody>
          <a:bodyPr wrap="square" rtlCol="0" anchor="ctr"/>
          <a:lstStyle/>
          <a:p>
            <a:pPr marL="0" indent="0" algn="ctr">
              <a:buNone/>
            </a:pPr>
            <a:r>
              <a:rPr lang="en-US" sz="1800" b="1" dirty="0">
                <a:solidFill>
                  <a:srgbClr val="6B1A1A"/>
                </a:solidFill>
                <a:latin typeface="Cambria" pitchFamily="34" charset="0"/>
                <a:ea typeface="Cambria" pitchFamily="34" charset="-122"/>
                <a:cs typeface="Cambria" pitchFamily="34" charset="-120"/>
              </a:rPr>
              <a:t>Teacher Login</a:t>
            </a:r>
            <a:endParaRPr lang="en-US" sz="1800" dirty="0"/>
          </a:p>
        </p:txBody>
      </p:sp>
      <p:sp>
        <p:nvSpPr>
          <p:cNvPr id="26" name="Text 24"/>
          <p:cNvSpPr/>
          <p:nvPr/>
        </p:nvSpPr>
        <p:spPr>
          <a:xfrm>
            <a:off x="5166360" y="1773936"/>
            <a:ext cx="3474720" cy="256032"/>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Welcome back! Please enter your details.</a:t>
            </a:r>
            <a:endParaRPr lang="en-US" sz="1000" dirty="0"/>
          </a:p>
        </p:txBody>
      </p:sp>
      <p:sp>
        <p:nvSpPr>
          <p:cNvPr id="27" name="Text 25"/>
          <p:cNvSpPr/>
          <p:nvPr/>
        </p:nvSpPr>
        <p:spPr>
          <a:xfrm>
            <a:off x="5212080" y="210312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Teacher ID</a:t>
            </a:r>
            <a:endParaRPr lang="en-US" sz="1000" dirty="0"/>
          </a:p>
        </p:txBody>
      </p:sp>
      <p:sp>
        <p:nvSpPr>
          <p:cNvPr id="28" name="Shape 26"/>
          <p:cNvSpPr/>
          <p:nvPr/>
        </p:nvSpPr>
        <p:spPr>
          <a:xfrm>
            <a:off x="5212080" y="2304288"/>
            <a:ext cx="3383280" cy="347472"/>
          </a:xfrm>
          <a:prstGeom prst="rect">
            <a:avLst/>
          </a:prstGeom>
          <a:solidFill>
            <a:srgbClr val="FFFFFF"/>
          </a:solidFill>
          <a:ln w="12700">
            <a:solidFill>
              <a:srgbClr val="CCCCCC"/>
            </a:solidFill>
            <a:prstDash val="solid"/>
          </a:ln>
        </p:spPr>
      </p:sp>
      <p:sp>
        <p:nvSpPr>
          <p:cNvPr id="29" name="Text 27"/>
          <p:cNvSpPr/>
          <p:nvPr/>
        </p:nvSpPr>
        <p:spPr>
          <a:xfrm>
            <a:off x="5349240" y="2350008"/>
            <a:ext cx="310896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admin</a:t>
            </a:r>
            <a:endParaRPr lang="en-US" sz="1100" dirty="0"/>
          </a:p>
        </p:txBody>
      </p:sp>
      <p:sp>
        <p:nvSpPr>
          <p:cNvPr id="30" name="Text 28"/>
          <p:cNvSpPr/>
          <p:nvPr/>
        </p:nvSpPr>
        <p:spPr>
          <a:xfrm>
            <a:off x="5212080" y="274320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Password</a:t>
            </a:r>
            <a:endParaRPr lang="en-US" sz="1000" dirty="0"/>
          </a:p>
        </p:txBody>
      </p:sp>
      <p:sp>
        <p:nvSpPr>
          <p:cNvPr id="31" name="Shape 29"/>
          <p:cNvSpPr/>
          <p:nvPr/>
        </p:nvSpPr>
        <p:spPr>
          <a:xfrm>
            <a:off x="5212080" y="2944368"/>
            <a:ext cx="3383280" cy="347472"/>
          </a:xfrm>
          <a:prstGeom prst="rect">
            <a:avLst/>
          </a:prstGeom>
          <a:solidFill>
            <a:srgbClr val="FFFFFF"/>
          </a:solidFill>
          <a:ln w="12700">
            <a:solidFill>
              <a:srgbClr val="CCCCCC"/>
            </a:solidFill>
            <a:prstDash val="solid"/>
          </a:ln>
        </p:spPr>
      </p:sp>
      <p:sp>
        <p:nvSpPr>
          <p:cNvPr id="32" name="Text 30"/>
          <p:cNvSpPr/>
          <p:nvPr/>
        </p:nvSpPr>
        <p:spPr>
          <a:xfrm>
            <a:off x="5349240" y="2980944"/>
            <a:ext cx="3108960" cy="256032"/>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5212080" y="3456432"/>
            <a:ext cx="3383280" cy="384048"/>
          </a:xfrm>
          <a:prstGeom prst="rect">
            <a:avLst/>
          </a:prstGeom>
          <a:solidFill>
            <a:srgbClr val="6B1A1A"/>
          </a:solidFill>
          <a:ln w="12700">
            <a:solidFill>
              <a:srgbClr val="6B1A1A"/>
            </a:solidFill>
            <a:prstDash val="solid"/>
          </a:ln>
        </p:spPr>
      </p:sp>
      <p:sp>
        <p:nvSpPr>
          <p:cNvPr id="34" name="Text 32"/>
          <p:cNvSpPr/>
          <p:nvPr/>
        </p:nvSpPr>
        <p:spPr>
          <a:xfrm>
            <a:off x="5212080" y="3456432"/>
            <a:ext cx="338328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 In</a:t>
            </a:r>
            <a:endParaRPr lang="en-US" sz="1300" dirty="0"/>
          </a:p>
        </p:txBody>
      </p:sp>
      <p:sp>
        <p:nvSpPr>
          <p:cNvPr id="35" name="Text 33"/>
          <p:cNvSpPr/>
          <p:nvPr/>
        </p:nvSpPr>
        <p:spPr>
          <a:xfrm>
            <a:off x="5166360" y="3931920"/>
            <a:ext cx="3474720" cy="274320"/>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Don't have an account?  Register Now</a:t>
            </a:r>
            <a:endParaRPr lang="en-US" sz="1000" dirty="0"/>
          </a:p>
        </p:txBody>
      </p:sp>
      <p:sp>
        <p:nvSpPr>
          <p:cNvPr id="36" name="Text 34"/>
          <p:cNvSpPr/>
          <p:nvPr/>
        </p:nvSpPr>
        <p:spPr>
          <a:xfrm>
            <a:off x="4983480" y="4846320"/>
            <a:ext cx="384048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2: Teacher Login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Output Screenshots  —  Teacher Dashboard</a:t>
            </a:r>
            <a:endParaRPr lang="en-US" sz="2200" dirty="0"/>
          </a:p>
        </p:txBody>
      </p:sp>
      <p:sp>
        <p:nvSpPr>
          <p:cNvPr id="4" name="Shape 2"/>
          <p:cNvSpPr/>
          <p:nvPr/>
        </p:nvSpPr>
        <p:spPr>
          <a:xfrm>
            <a:off x="274320" y="896112"/>
            <a:ext cx="8595360" cy="3977640"/>
          </a:xfrm>
          <a:prstGeom prst="rect">
            <a:avLst/>
          </a:prstGeom>
          <a:solidFill>
            <a:srgbClr val="F5EFE6"/>
          </a:solidFill>
          <a:ln w="12700">
            <a:solidFill>
              <a:srgbClr val="CCCCCC"/>
            </a:solidFill>
            <a:prstDash val="solid"/>
          </a:ln>
        </p:spPr>
      </p:sp>
      <p:sp>
        <p:nvSpPr>
          <p:cNvPr id="5" name="Shape 3"/>
          <p:cNvSpPr/>
          <p:nvPr/>
        </p:nvSpPr>
        <p:spPr>
          <a:xfrm>
            <a:off x="274320" y="896112"/>
            <a:ext cx="1554480" cy="3977640"/>
          </a:xfrm>
          <a:prstGeom prst="rect">
            <a:avLst/>
          </a:prstGeom>
          <a:solidFill>
            <a:srgbClr val="4A0F0F"/>
          </a:solidFill>
          <a:ln w="12700">
            <a:solidFill>
              <a:srgbClr val="4A0F0F"/>
            </a:solidFill>
            <a:prstDash val="solid"/>
          </a:ln>
        </p:spPr>
      </p:sp>
      <p:sp>
        <p:nvSpPr>
          <p:cNvPr id="6" name="Text 4"/>
          <p:cNvSpPr/>
          <p:nvPr/>
        </p:nvSpPr>
        <p:spPr>
          <a:xfrm>
            <a:off x="320040" y="969264"/>
            <a:ext cx="1463040" cy="502920"/>
          </a:xfrm>
          <a:prstGeom prst="rect">
            <a:avLst/>
          </a:prstGeom>
          <a:noFill/>
          <a:ln/>
        </p:spPr>
        <p:txBody>
          <a:bodyPr wrap="square" rtlCol="0" anchor="ctr"/>
          <a:lstStyle/>
          <a:p>
            <a:pPr marL="0" indent="0" algn="ctr">
              <a:buNone/>
            </a:pPr>
            <a:r>
              <a:rPr lang="en-US" sz="1000" b="1" dirty="0">
                <a:solidFill>
                  <a:srgbClr val="F5EFE6"/>
                </a:solidFill>
                <a:latin typeface="Cambria" pitchFamily="34" charset="0"/>
                <a:ea typeface="Cambria" pitchFamily="34" charset="-122"/>
                <a:cs typeface="Cambria" pitchFamily="34" charset="-120"/>
              </a:rPr>
              <a:t>EduEval</a:t>
            </a:r>
            <a:endParaRPr lang="en-US" sz="1000" dirty="0"/>
          </a:p>
          <a:p>
            <a:pPr marL="0" indent="0" algn="ctr">
              <a:buNone/>
            </a:pPr>
            <a:r>
              <a:rPr lang="en-US" sz="1000" b="1" dirty="0">
                <a:solidFill>
                  <a:srgbClr val="F5EFE6"/>
                </a:solidFill>
                <a:latin typeface="Cambria" pitchFamily="34" charset="0"/>
                <a:ea typeface="Cambria" pitchFamily="34" charset="-122"/>
                <a:cs typeface="Cambria" pitchFamily="34" charset="-120"/>
              </a:rPr>
              <a:t>Portal</a:t>
            </a:r>
            <a:endParaRPr lang="en-US" sz="1000" dirty="0"/>
          </a:p>
        </p:txBody>
      </p:sp>
      <p:sp>
        <p:nvSpPr>
          <p:cNvPr id="7" name="Shape 5"/>
          <p:cNvSpPr/>
          <p:nvPr/>
        </p:nvSpPr>
        <p:spPr>
          <a:xfrm>
            <a:off x="347472" y="1600200"/>
            <a:ext cx="1408176" cy="292608"/>
          </a:xfrm>
          <a:prstGeom prst="rect">
            <a:avLst/>
          </a:prstGeom>
          <a:solidFill>
            <a:srgbClr val="6B1A1A"/>
          </a:solidFill>
          <a:ln w="12700">
            <a:solidFill>
              <a:srgbClr val="6B1A1A"/>
            </a:solidFill>
            <a:prstDash val="solid"/>
          </a:ln>
        </p:spPr>
      </p:sp>
      <p:sp>
        <p:nvSpPr>
          <p:cNvPr id="8" name="Text 6"/>
          <p:cNvSpPr/>
          <p:nvPr/>
        </p:nvSpPr>
        <p:spPr>
          <a:xfrm>
            <a:off x="347472" y="1600200"/>
            <a:ext cx="1408176" cy="292608"/>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Manage Results</a:t>
            </a:r>
            <a:endParaRPr lang="en-US" sz="900" dirty="0"/>
          </a:p>
        </p:txBody>
      </p:sp>
      <p:sp>
        <p:nvSpPr>
          <p:cNvPr id="9" name="Text 7"/>
          <p:cNvSpPr/>
          <p:nvPr/>
        </p:nvSpPr>
        <p:spPr>
          <a:xfrm>
            <a:off x="347472" y="1956816"/>
            <a:ext cx="1408176" cy="256032"/>
          </a:xfrm>
          <a:prstGeom prst="rect">
            <a:avLst/>
          </a:prstGeom>
          <a:noFill/>
          <a:ln/>
        </p:spPr>
        <p:txBody>
          <a:bodyPr wrap="square" rtlCol="0" anchor="ctr"/>
          <a:lstStyle/>
          <a:p>
            <a:pPr marL="0" indent="0" algn="ctr">
              <a:buNone/>
            </a:pPr>
            <a:r>
              <a:rPr lang="en-US" sz="900" dirty="0">
                <a:solidFill>
                  <a:srgbClr val="CCBBBB"/>
                </a:solidFill>
                <a:latin typeface="Calibri" pitchFamily="34" charset="0"/>
                <a:ea typeface="Calibri" pitchFamily="34" charset="-122"/>
                <a:cs typeface="Calibri" pitchFamily="34" charset="-120"/>
              </a:rPr>
              <a:t>Student Details</a:t>
            </a:r>
            <a:endParaRPr lang="en-US" sz="900" dirty="0"/>
          </a:p>
        </p:txBody>
      </p:sp>
      <p:sp>
        <p:nvSpPr>
          <p:cNvPr id="10" name="Text 8"/>
          <p:cNvSpPr/>
          <p:nvPr/>
        </p:nvSpPr>
        <p:spPr>
          <a:xfrm>
            <a:off x="347472" y="2267712"/>
            <a:ext cx="1408176" cy="256032"/>
          </a:xfrm>
          <a:prstGeom prst="rect">
            <a:avLst/>
          </a:prstGeom>
          <a:noFill/>
          <a:ln/>
        </p:spPr>
        <p:txBody>
          <a:bodyPr wrap="square" rtlCol="0" anchor="ctr"/>
          <a:lstStyle/>
          <a:p>
            <a:pPr marL="0" indent="0" algn="ctr">
              <a:buNone/>
            </a:pPr>
            <a:r>
              <a:rPr lang="en-US" sz="900" dirty="0">
                <a:solidFill>
                  <a:srgbClr val="CCBBBB"/>
                </a:solidFill>
                <a:latin typeface="Calibri" pitchFamily="34" charset="0"/>
                <a:ea typeface="Calibri" pitchFamily="34" charset="-122"/>
                <a:cs typeface="Calibri" pitchFamily="34" charset="-120"/>
              </a:rPr>
              <a:t>Log Out</a:t>
            </a:r>
            <a:endParaRPr lang="en-US" sz="900" dirty="0"/>
          </a:p>
        </p:txBody>
      </p:sp>
      <p:sp>
        <p:nvSpPr>
          <p:cNvPr id="11" name="Text 9"/>
          <p:cNvSpPr/>
          <p:nvPr/>
        </p:nvSpPr>
        <p:spPr>
          <a:xfrm>
            <a:off x="1965960" y="969264"/>
            <a:ext cx="6675120" cy="347472"/>
          </a:xfrm>
          <a:prstGeom prst="rect">
            <a:avLst/>
          </a:prstGeom>
          <a:noFill/>
          <a:ln/>
        </p:spPr>
        <p:txBody>
          <a:bodyPr wrap="square"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Welcome, Main Admin    TEACHER</a:t>
            </a:r>
            <a:endParaRPr lang="en-US" sz="1300" dirty="0"/>
          </a:p>
        </p:txBody>
      </p:sp>
      <p:sp>
        <p:nvSpPr>
          <p:cNvPr id="12" name="Shape 10"/>
          <p:cNvSpPr/>
          <p:nvPr/>
        </p:nvSpPr>
        <p:spPr>
          <a:xfrm>
            <a:off x="2011680" y="1371600"/>
            <a:ext cx="2560320" cy="2468880"/>
          </a:xfrm>
          <a:prstGeom prst="rect">
            <a:avLst/>
          </a:prstGeom>
          <a:solidFill>
            <a:srgbClr val="FFFFFF"/>
          </a:solidFill>
          <a:ln w="12700">
            <a:solidFill>
              <a:srgbClr val="CCCCCC"/>
            </a:solidFill>
            <a:prstDash val="solid"/>
          </a:ln>
        </p:spPr>
      </p:sp>
      <p:sp>
        <p:nvSpPr>
          <p:cNvPr id="13" name="Text 11"/>
          <p:cNvSpPr/>
          <p:nvPr/>
        </p:nvSpPr>
        <p:spPr>
          <a:xfrm>
            <a:off x="2148840" y="1463040"/>
            <a:ext cx="2286000" cy="274320"/>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Add New Result</a:t>
            </a:r>
            <a:endParaRPr lang="en-US" sz="1200" dirty="0"/>
          </a:p>
        </p:txBody>
      </p:sp>
      <p:sp>
        <p:nvSpPr>
          <p:cNvPr id="14" name="Text 12"/>
          <p:cNvSpPr/>
          <p:nvPr/>
        </p:nvSpPr>
        <p:spPr>
          <a:xfrm>
            <a:off x="2148840" y="1810512"/>
            <a:ext cx="2286000" cy="23774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Search Registration ID</a:t>
            </a:r>
            <a:endParaRPr lang="en-US" sz="1000" dirty="0"/>
          </a:p>
        </p:txBody>
      </p:sp>
      <p:sp>
        <p:nvSpPr>
          <p:cNvPr id="15" name="Shape 13"/>
          <p:cNvSpPr/>
          <p:nvPr/>
        </p:nvSpPr>
        <p:spPr>
          <a:xfrm>
            <a:off x="2148840" y="2029968"/>
            <a:ext cx="1508760" cy="320040"/>
          </a:xfrm>
          <a:prstGeom prst="rect">
            <a:avLst/>
          </a:prstGeom>
          <a:solidFill>
            <a:srgbClr val="F5EFE6"/>
          </a:solidFill>
          <a:ln w="12700">
            <a:solidFill>
              <a:srgbClr val="CCCCCC"/>
            </a:solidFill>
            <a:prstDash val="solid"/>
          </a:ln>
        </p:spPr>
      </p:sp>
      <p:sp>
        <p:nvSpPr>
          <p:cNvPr id="16" name="Text 14"/>
          <p:cNvSpPr/>
          <p:nvPr/>
        </p:nvSpPr>
        <p:spPr>
          <a:xfrm>
            <a:off x="2212848" y="2075688"/>
            <a:ext cx="1371600" cy="22860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E.G. REG101</a:t>
            </a:r>
            <a:endParaRPr lang="en-US" sz="900" dirty="0"/>
          </a:p>
        </p:txBody>
      </p:sp>
      <p:sp>
        <p:nvSpPr>
          <p:cNvPr id="17" name="Shape 15"/>
          <p:cNvSpPr/>
          <p:nvPr/>
        </p:nvSpPr>
        <p:spPr>
          <a:xfrm>
            <a:off x="3730752" y="2029968"/>
            <a:ext cx="685800" cy="320040"/>
          </a:xfrm>
          <a:prstGeom prst="rect">
            <a:avLst/>
          </a:prstGeom>
          <a:solidFill>
            <a:srgbClr val="6B1A1A"/>
          </a:solidFill>
          <a:ln w="12700">
            <a:solidFill>
              <a:srgbClr val="6B1A1A"/>
            </a:solidFill>
            <a:prstDash val="solid"/>
          </a:ln>
        </p:spPr>
      </p:sp>
      <p:sp>
        <p:nvSpPr>
          <p:cNvPr id="18" name="Text 16"/>
          <p:cNvSpPr/>
          <p:nvPr/>
        </p:nvSpPr>
        <p:spPr>
          <a:xfrm>
            <a:off x="3730752" y="2029968"/>
            <a:ext cx="68580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Search</a:t>
            </a:r>
            <a:endParaRPr lang="en-US" sz="900" dirty="0"/>
          </a:p>
        </p:txBody>
      </p:sp>
      <p:sp>
        <p:nvSpPr>
          <p:cNvPr id="19" name="Shape 17"/>
          <p:cNvSpPr/>
          <p:nvPr/>
        </p:nvSpPr>
        <p:spPr>
          <a:xfrm>
            <a:off x="4754880" y="1371600"/>
            <a:ext cx="3931920" cy="2468880"/>
          </a:xfrm>
          <a:prstGeom prst="rect">
            <a:avLst/>
          </a:prstGeom>
          <a:solidFill>
            <a:srgbClr val="FFFFFF"/>
          </a:solidFill>
          <a:ln w="12700">
            <a:solidFill>
              <a:srgbClr val="CCCCCC"/>
            </a:solidFill>
            <a:prstDash val="solid"/>
          </a:ln>
        </p:spPr>
      </p:sp>
      <p:sp>
        <p:nvSpPr>
          <p:cNvPr id="20" name="Text 18"/>
          <p:cNvSpPr/>
          <p:nvPr/>
        </p:nvSpPr>
        <p:spPr>
          <a:xfrm>
            <a:off x="4892040" y="1463040"/>
            <a:ext cx="3657600" cy="274320"/>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Class Records</a:t>
            </a:r>
            <a:endParaRPr lang="en-US" sz="1200" dirty="0"/>
          </a:p>
        </p:txBody>
      </p:sp>
      <p:sp>
        <p:nvSpPr>
          <p:cNvPr id="21" name="Shape 19"/>
          <p:cNvSpPr/>
          <p:nvPr/>
        </p:nvSpPr>
        <p:spPr>
          <a:xfrm>
            <a:off x="4800600" y="1783080"/>
            <a:ext cx="3794760" cy="256032"/>
          </a:xfrm>
          <a:prstGeom prst="rect">
            <a:avLst/>
          </a:prstGeom>
          <a:solidFill>
            <a:srgbClr val="F2F2F2"/>
          </a:solidFill>
          <a:ln w="12700">
            <a:solidFill>
              <a:srgbClr val="F2F2F2"/>
            </a:solidFill>
            <a:prstDash val="solid"/>
          </a:ln>
        </p:spPr>
      </p:sp>
      <p:sp>
        <p:nvSpPr>
          <p:cNvPr id="22" name="Text 20"/>
          <p:cNvSpPr/>
          <p:nvPr/>
        </p:nvSpPr>
        <p:spPr>
          <a:xfrm>
            <a:off x="4864608" y="1810512"/>
            <a:ext cx="91440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Reg ID</a:t>
            </a:r>
            <a:endParaRPr lang="en-US" sz="900" dirty="0"/>
          </a:p>
        </p:txBody>
      </p:sp>
      <p:sp>
        <p:nvSpPr>
          <p:cNvPr id="23" name="Text 21"/>
          <p:cNvSpPr/>
          <p:nvPr/>
        </p:nvSpPr>
        <p:spPr>
          <a:xfrm>
            <a:off x="5779008" y="1810512"/>
            <a:ext cx="11887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Student</a:t>
            </a:r>
            <a:endParaRPr lang="en-US" sz="900" dirty="0"/>
          </a:p>
        </p:txBody>
      </p:sp>
      <p:sp>
        <p:nvSpPr>
          <p:cNvPr id="24" name="Text 22"/>
          <p:cNvSpPr/>
          <p:nvPr/>
        </p:nvSpPr>
        <p:spPr>
          <a:xfrm>
            <a:off x="6967728" y="1810512"/>
            <a:ext cx="5029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Dept</a:t>
            </a:r>
            <a:endParaRPr lang="en-US" sz="900" dirty="0"/>
          </a:p>
        </p:txBody>
      </p:sp>
      <p:sp>
        <p:nvSpPr>
          <p:cNvPr id="25" name="Text 23"/>
          <p:cNvSpPr/>
          <p:nvPr/>
        </p:nvSpPr>
        <p:spPr>
          <a:xfrm>
            <a:off x="7470648" y="1810512"/>
            <a:ext cx="5029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CGPA</a:t>
            </a:r>
            <a:endParaRPr lang="en-US" sz="900" dirty="0"/>
          </a:p>
        </p:txBody>
      </p:sp>
      <p:sp>
        <p:nvSpPr>
          <p:cNvPr id="26" name="Text 24"/>
          <p:cNvSpPr/>
          <p:nvPr/>
        </p:nvSpPr>
        <p:spPr>
          <a:xfrm>
            <a:off x="7973568" y="1810512"/>
            <a:ext cx="5029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Status</a:t>
            </a:r>
            <a:endParaRPr lang="en-US" sz="900" dirty="0"/>
          </a:p>
        </p:txBody>
      </p:sp>
      <p:sp>
        <p:nvSpPr>
          <p:cNvPr id="27" name="Text 25"/>
          <p:cNvSpPr/>
          <p:nvPr/>
        </p:nvSpPr>
        <p:spPr>
          <a:xfrm>
            <a:off x="8476488" y="1810512"/>
            <a:ext cx="64008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Action</a:t>
            </a:r>
            <a:endParaRPr lang="en-US" sz="900" dirty="0"/>
          </a:p>
        </p:txBody>
      </p:sp>
      <p:sp>
        <p:nvSpPr>
          <p:cNvPr id="28" name="Text 26"/>
          <p:cNvSpPr/>
          <p:nvPr/>
        </p:nvSpPr>
        <p:spPr>
          <a:xfrm>
            <a:off x="4864608" y="2103120"/>
            <a:ext cx="914400" cy="365760"/>
          </a:xfrm>
          <a:prstGeom prst="rect">
            <a:avLst/>
          </a:prstGeom>
          <a:noFill/>
          <a:ln/>
        </p:spPr>
        <p:txBody>
          <a:bodyPr wrap="square" lIns="0" tIns="0" rIns="0" bIns="0" rtlCol="0" anchor="ctr"/>
          <a:lstStyle/>
          <a:p>
            <a:pPr marL="0" indent="0">
              <a:buNone/>
            </a:pPr>
            <a:r>
              <a:rPr lang="en-US" sz="800" dirty="0">
                <a:solidFill>
                  <a:srgbClr val="6B1A1A"/>
                </a:solidFill>
                <a:latin typeface="Calibri" pitchFamily="34" charset="0"/>
                <a:ea typeface="Calibri" pitchFamily="34" charset="-122"/>
                <a:cs typeface="Calibri" pitchFamily="34" charset="-120"/>
              </a:rPr>
              <a:t>D232410696</a:t>
            </a:r>
            <a:endParaRPr lang="en-US" sz="800" dirty="0"/>
          </a:p>
        </p:txBody>
      </p:sp>
      <p:sp>
        <p:nvSpPr>
          <p:cNvPr id="29" name="Text 27"/>
          <p:cNvSpPr/>
          <p:nvPr/>
        </p:nvSpPr>
        <p:spPr>
          <a:xfrm>
            <a:off x="5779008" y="2103120"/>
            <a:ext cx="11887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Soumacharyya P.</a:t>
            </a:r>
            <a:endParaRPr lang="en-US" sz="900" dirty="0"/>
          </a:p>
        </p:txBody>
      </p:sp>
      <p:sp>
        <p:nvSpPr>
          <p:cNvPr id="30" name="Text 28"/>
          <p:cNvSpPr/>
          <p:nvPr/>
        </p:nvSpPr>
        <p:spPr>
          <a:xfrm>
            <a:off x="6967728" y="2103120"/>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ITE</a:t>
            </a:r>
            <a:endParaRPr lang="en-US" sz="900" dirty="0"/>
          </a:p>
        </p:txBody>
      </p:sp>
      <p:sp>
        <p:nvSpPr>
          <p:cNvPr id="31" name="Text 29"/>
          <p:cNvSpPr/>
          <p:nvPr/>
        </p:nvSpPr>
        <p:spPr>
          <a:xfrm>
            <a:off x="7470648" y="2103120"/>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7.26</a:t>
            </a:r>
            <a:endParaRPr lang="en-US" sz="900" dirty="0"/>
          </a:p>
        </p:txBody>
      </p:sp>
      <p:sp>
        <p:nvSpPr>
          <p:cNvPr id="32" name="Text 30"/>
          <p:cNvSpPr/>
          <p:nvPr/>
        </p:nvSpPr>
        <p:spPr>
          <a:xfrm>
            <a:off x="7973568" y="2103120"/>
            <a:ext cx="502920" cy="365760"/>
          </a:xfrm>
          <a:prstGeom prst="rect">
            <a:avLst/>
          </a:prstGeom>
          <a:noFill/>
          <a:ln/>
        </p:spPr>
        <p:txBody>
          <a:bodyPr wrap="square" lIns="0" tIns="0" rIns="0" bIns="0" rtlCol="0" anchor="ctr"/>
          <a:lstStyle/>
          <a:p>
            <a:pPr marL="0" indent="0">
              <a:buNone/>
            </a:pPr>
            <a:r>
              <a:rPr lang="en-US" sz="900" dirty="0">
                <a:solidFill>
                  <a:srgbClr val="2E7D32"/>
                </a:solidFill>
                <a:latin typeface="Calibri" pitchFamily="34" charset="0"/>
                <a:ea typeface="Calibri" pitchFamily="34" charset="-122"/>
                <a:cs typeface="Calibri" pitchFamily="34" charset="-120"/>
              </a:rPr>
              <a:t>PASS</a:t>
            </a:r>
            <a:endParaRPr lang="en-US" sz="900" dirty="0"/>
          </a:p>
        </p:txBody>
      </p:sp>
      <p:sp>
        <p:nvSpPr>
          <p:cNvPr id="33" name="Text 31"/>
          <p:cNvSpPr/>
          <p:nvPr/>
        </p:nvSpPr>
        <p:spPr>
          <a:xfrm>
            <a:off x="8476488" y="2103120"/>
            <a:ext cx="640080" cy="365760"/>
          </a:xfrm>
          <a:prstGeom prst="rect">
            <a:avLst/>
          </a:prstGeom>
          <a:noFill/>
          <a:ln/>
        </p:spPr>
        <p:txBody>
          <a:bodyPr wrap="square" rtlCol="0" anchor="ctr"/>
          <a:lstStyle/>
          <a:p>
            <a:pPr marL="0" indent="0">
              <a:buNone/>
            </a:pPr>
            <a:r>
              <a:rPr lang="en-US" sz="900" dirty="0">
                <a:solidFill>
                  <a:srgbClr val="6B1A1A"/>
                </a:solidFill>
                <a:latin typeface="Calibri" pitchFamily="34" charset="0"/>
                <a:ea typeface="Calibri" pitchFamily="34" charset="-122"/>
                <a:cs typeface="Calibri" pitchFamily="34" charset="-120"/>
              </a:rPr>
              <a:t>Edit  Del</a:t>
            </a:r>
            <a:endParaRPr lang="en-US" sz="900" dirty="0"/>
          </a:p>
        </p:txBody>
      </p:sp>
      <p:sp>
        <p:nvSpPr>
          <p:cNvPr id="34" name="Text 32"/>
          <p:cNvSpPr/>
          <p:nvPr/>
        </p:nvSpPr>
        <p:spPr>
          <a:xfrm>
            <a:off x="4864608" y="2578608"/>
            <a:ext cx="914400" cy="365760"/>
          </a:xfrm>
          <a:prstGeom prst="rect">
            <a:avLst/>
          </a:prstGeom>
          <a:noFill/>
          <a:ln/>
        </p:spPr>
        <p:txBody>
          <a:bodyPr wrap="square" lIns="0" tIns="0" rIns="0" bIns="0" rtlCol="0" anchor="ctr"/>
          <a:lstStyle/>
          <a:p>
            <a:pPr marL="0" indent="0">
              <a:buNone/>
            </a:pPr>
            <a:r>
              <a:rPr lang="en-US" sz="800" dirty="0">
                <a:solidFill>
                  <a:srgbClr val="6B1A1A"/>
                </a:solidFill>
                <a:latin typeface="Calibri" pitchFamily="34" charset="0"/>
                <a:ea typeface="Calibri" pitchFamily="34" charset="-122"/>
                <a:cs typeface="Calibri" pitchFamily="34" charset="-120"/>
              </a:rPr>
              <a:t>D232410955</a:t>
            </a:r>
            <a:endParaRPr lang="en-US" sz="800" dirty="0"/>
          </a:p>
        </p:txBody>
      </p:sp>
      <p:sp>
        <p:nvSpPr>
          <p:cNvPr id="35" name="Text 33"/>
          <p:cNvSpPr/>
          <p:nvPr/>
        </p:nvSpPr>
        <p:spPr>
          <a:xfrm>
            <a:off x="5779008" y="2578608"/>
            <a:ext cx="11887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Mahi Gupta</a:t>
            </a:r>
            <a:endParaRPr lang="en-US" sz="900" dirty="0"/>
          </a:p>
        </p:txBody>
      </p:sp>
      <p:sp>
        <p:nvSpPr>
          <p:cNvPr id="36" name="Text 34"/>
          <p:cNvSpPr/>
          <p:nvPr/>
        </p:nvSpPr>
        <p:spPr>
          <a:xfrm>
            <a:off x="6967728" y="2578608"/>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ITE</a:t>
            </a:r>
            <a:endParaRPr lang="en-US" sz="900" dirty="0"/>
          </a:p>
        </p:txBody>
      </p:sp>
      <p:sp>
        <p:nvSpPr>
          <p:cNvPr id="37" name="Text 35"/>
          <p:cNvSpPr/>
          <p:nvPr/>
        </p:nvSpPr>
        <p:spPr>
          <a:xfrm>
            <a:off x="7470648" y="2578608"/>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5.96</a:t>
            </a:r>
            <a:endParaRPr lang="en-US" sz="900" dirty="0"/>
          </a:p>
        </p:txBody>
      </p:sp>
      <p:sp>
        <p:nvSpPr>
          <p:cNvPr id="38" name="Text 36"/>
          <p:cNvSpPr/>
          <p:nvPr/>
        </p:nvSpPr>
        <p:spPr>
          <a:xfrm>
            <a:off x="7973568" y="2578608"/>
            <a:ext cx="502920" cy="365760"/>
          </a:xfrm>
          <a:prstGeom prst="rect">
            <a:avLst/>
          </a:prstGeom>
          <a:noFill/>
          <a:ln/>
        </p:spPr>
        <p:txBody>
          <a:bodyPr wrap="square" lIns="0" tIns="0" rIns="0" bIns="0" rtlCol="0" anchor="ctr"/>
          <a:lstStyle/>
          <a:p>
            <a:pPr marL="0" indent="0">
              <a:buNone/>
            </a:pPr>
            <a:r>
              <a:rPr lang="en-US" sz="900" dirty="0">
                <a:solidFill>
                  <a:srgbClr val="2E7D32"/>
                </a:solidFill>
                <a:latin typeface="Calibri" pitchFamily="34" charset="0"/>
                <a:ea typeface="Calibri" pitchFamily="34" charset="-122"/>
                <a:cs typeface="Calibri" pitchFamily="34" charset="-120"/>
              </a:rPr>
              <a:t>PASS</a:t>
            </a:r>
            <a:endParaRPr lang="en-US" sz="900" dirty="0"/>
          </a:p>
        </p:txBody>
      </p:sp>
      <p:sp>
        <p:nvSpPr>
          <p:cNvPr id="39" name="Text 37"/>
          <p:cNvSpPr/>
          <p:nvPr/>
        </p:nvSpPr>
        <p:spPr>
          <a:xfrm>
            <a:off x="8476488" y="2578608"/>
            <a:ext cx="640080" cy="365760"/>
          </a:xfrm>
          <a:prstGeom prst="rect">
            <a:avLst/>
          </a:prstGeom>
          <a:noFill/>
          <a:ln/>
        </p:spPr>
        <p:txBody>
          <a:bodyPr wrap="square" rtlCol="0" anchor="ctr"/>
          <a:lstStyle/>
          <a:p>
            <a:pPr marL="0" indent="0">
              <a:buNone/>
            </a:pPr>
            <a:r>
              <a:rPr lang="en-US" sz="900" dirty="0">
                <a:solidFill>
                  <a:srgbClr val="6B1A1A"/>
                </a:solidFill>
                <a:latin typeface="Calibri" pitchFamily="34" charset="0"/>
                <a:ea typeface="Calibri" pitchFamily="34" charset="-122"/>
                <a:cs typeface="Calibri" pitchFamily="34" charset="-120"/>
              </a:rPr>
              <a:t>Edit  Del</a:t>
            </a:r>
            <a:endParaRPr lang="en-US" sz="900" dirty="0"/>
          </a:p>
        </p:txBody>
      </p:sp>
      <p:sp>
        <p:nvSpPr>
          <p:cNvPr id="40" name="Text 38"/>
          <p:cNvSpPr/>
          <p:nvPr/>
        </p:nvSpPr>
        <p:spPr>
          <a:xfrm>
            <a:off x="4864608" y="3054096"/>
            <a:ext cx="914400" cy="365760"/>
          </a:xfrm>
          <a:prstGeom prst="rect">
            <a:avLst/>
          </a:prstGeom>
          <a:noFill/>
          <a:ln/>
        </p:spPr>
        <p:txBody>
          <a:bodyPr wrap="square" lIns="0" tIns="0" rIns="0" bIns="0" rtlCol="0" anchor="ctr"/>
          <a:lstStyle/>
          <a:p>
            <a:pPr marL="0" indent="0">
              <a:buNone/>
            </a:pPr>
            <a:r>
              <a:rPr lang="en-US" sz="800" dirty="0">
                <a:solidFill>
                  <a:srgbClr val="6B1A1A"/>
                </a:solidFill>
                <a:latin typeface="Calibri" pitchFamily="34" charset="0"/>
                <a:ea typeface="Calibri" pitchFamily="34" charset="-122"/>
                <a:cs typeface="Calibri" pitchFamily="34" charset="-120"/>
              </a:rPr>
              <a:t>D232410652</a:t>
            </a:r>
            <a:endParaRPr lang="en-US" sz="800" dirty="0"/>
          </a:p>
        </p:txBody>
      </p:sp>
      <p:sp>
        <p:nvSpPr>
          <p:cNvPr id="41" name="Text 39"/>
          <p:cNvSpPr/>
          <p:nvPr/>
        </p:nvSpPr>
        <p:spPr>
          <a:xfrm>
            <a:off x="5779008" y="3054096"/>
            <a:ext cx="11887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Debargha P.</a:t>
            </a:r>
            <a:endParaRPr lang="en-US" sz="900" dirty="0"/>
          </a:p>
        </p:txBody>
      </p:sp>
      <p:sp>
        <p:nvSpPr>
          <p:cNvPr id="42" name="Text 40"/>
          <p:cNvSpPr/>
          <p:nvPr/>
        </p:nvSpPr>
        <p:spPr>
          <a:xfrm>
            <a:off x="6967728" y="3054096"/>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ITE</a:t>
            </a:r>
            <a:endParaRPr lang="en-US" sz="900" dirty="0"/>
          </a:p>
        </p:txBody>
      </p:sp>
      <p:sp>
        <p:nvSpPr>
          <p:cNvPr id="43" name="Text 41"/>
          <p:cNvSpPr/>
          <p:nvPr/>
        </p:nvSpPr>
        <p:spPr>
          <a:xfrm>
            <a:off x="7470648" y="3054096"/>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6.22</a:t>
            </a:r>
            <a:endParaRPr lang="en-US" sz="900" dirty="0"/>
          </a:p>
        </p:txBody>
      </p:sp>
      <p:sp>
        <p:nvSpPr>
          <p:cNvPr id="44" name="Text 42"/>
          <p:cNvSpPr/>
          <p:nvPr/>
        </p:nvSpPr>
        <p:spPr>
          <a:xfrm>
            <a:off x="7973568" y="3054096"/>
            <a:ext cx="502920" cy="365760"/>
          </a:xfrm>
          <a:prstGeom prst="rect">
            <a:avLst/>
          </a:prstGeom>
          <a:noFill/>
          <a:ln/>
        </p:spPr>
        <p:txBody>
          <a:bodyPr wrap="square" lIns="0" tIns="0" rIns="0" bIns="0" rtlCol="0" anchor="ctr"/>
          <a:lstStyle/>
          <a:p>
            <a:pPr marL="0" indent="0">
              <a:buNone/>
            </a:pPr>
            <a:r>
              <a:rPr lang="en-US" sz="900" dirty="0">
                <a:solidFill>
                  <a:srgbClr val="2E7D32"/>
                </a:solidFill>
                <a:latin typeface="Calibri" pitchFamily="34" charset="0"/>
                <a:ea typeface="Calibri" pitchFamily="34" charset="-122"/>
                <a:cs typeface="Calibri" pitchFamily="34" charset="-120"/>
              </a:rPr>
              <a:t>PASS</a:t>
            </a:r>
            <a:endParaRPr lang="en-US" sz="900" dirty="0"/>
          </a:p>
        </p:txBody>
      </p:sp>
      <p:sp>
        <p:nvSpPr>
          <p:cNvPr id="45" name="Text 43"/>
          <p:cNvSpPr/>
          <p:nvPr/>
        </p:nvSpPr>
        <p:spPr>
          <a:xfrm>
            <a:off x="8476488" y="3054096"/>
            <a:ext cx="640080" cy="365760"/>
          </a:xfrm>
          <a:prstGeom prst="rect">
            <a:avLst/>
          </a:prstGeom>
          <a:noFill/>
          <a:ln/>
        </p:spPr>
        <p:txBody>
          <a:bodyPr wrap="square" rtlCol="0" anchor="ctr"/>
          <a:lstStyle/>
          <a:p>
            <a:pPr marL="0" indent="0">
              <a:buNone/>
            </a:pPr>
            <a:r>
              <a:rPr lang="en-US" sz="900" dirty="0">
                <a:solidFill>
                  <a:srgbClr val="6B1A1A"/>
                </a:solidFill>
                <a:latin typeface="Calibri" pitchFamily="34" charset="0"/>
                <a:ea typeface="Calibri" pitchFamily="34" charset="-122"/>
                <a:cs typeface="Calibri" pitchFamily="34" charset="-120"/>
              </a:rPr>
              <a:t>Edit  Del</a:t>
            </a:r>
            <a:endParaRPr lang="en-US" sz="900" dirty="0"/>
          </a:p>
        </p:txBody>
      </p:sp>
      <p:sp>
        <p:nvSpPr>
          <p:cNvPr id="46" name="Shape 44"/>
          <p:cNvSpPr/>
          <p:nvPr/>
        </p:nvSpPr>
        <p:spPr>
          <a:xfrm>
            <a:off x="7223760" y="4434840"/>
            <a:ext cx="1508760" cy="347472"/>
          </a:xfrm>
          <a:prstGeom prst="rect">
            <a:avLst/>
          </a:prstGeom>
          <a:solidFill>
            <a:srgbClr val="6B1A1A"/>
          </a:solidFill>
          <a:ln w="12700">
            <a:solidFill>
              <a:srgbClr val="6B1A1A"/>
            </a:solidFill>
            <a:prstDash val="solid"/>
          </a:ln>
        </p:spPr>
      </p:sp>
      <p:sp>
        <p:nvSpPr>
          <p:cNvPr id="47" name="Text 45"/>
          <p:cNvSpPr/>
          <p:nvPr/>
        </p:nvSpPr>
        <p:spPr>
          <a:xfrm>
            <a:off x="7223760" y="4434840"/>
            <a:ext cx="15087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Live Support</a:t>
            </a:r>
            <a:endParaRPr lang="en-US" sz="1000" dirty="0"/>
          </a:p>
        </p:txBody>
      </p:sp>
      <p:sp>
        <p:nvSpPr>
          <p:cNvPr id="48" name="Text 46"/>
          <p:cNvSpPr/>
          <p:nvPr/>
        </p:nvSpPr>
        <p:spPr>
          <a:xfrm>
            <a:off x="274320" y="4846320"/>
            <a:ext cx="859536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3: Teacher Dashboard — Manage Results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Output Screenshots  —  Student Result Card</a:t>
            </a:r>
            <a:endParaRPr lang="en-US" sz="2200" dirty="0"/>
          </a:p>
        </p:txBody>
      </p:sp>
      <p:sp>
        <p:nvSpPr>
          <p:cNvPr id="4" name="Shape 2"/>
          <p:cNvSpPr/>
          <p:nvPr/>
        </p:nvSpPr>
        <p:spPr>
          <a:xfrm>
            <a:off x="274320" y="896112"/>
            <a:ext cx="8595360" cy="3977640"/>
          </a:xfrm>
          <a:prstGeom prst="rect">
            <a:avLst/>
          </a:prstGeom>
          <a:solidFill>
            <a:srgbClr val="F5EFE6"/>
          </a:solidFill>
          <a:ln w="12700">
            <a:solidFill>
              <a:srgbClr val="CCCCCC"/>
            </a:solidFill>
            <a:prstDash val="solid"/>
          </a:ln>
        </p:spPr>
      </p:sp>
      <p:sp>
        <p:nvSpPr>
          <p:cNvPr id="5" name="Shape 3"/>
          <p:cNvSpPr/>
          <p:nvPr/>
        </p:nvSpPr>
        <p:spPr>
          <a:xfrm>
            <a:off x="274320" y="896112"/>
            <a:ext cx="1554480" cy="3977640"/>
          </a:xfrm>
          <a:prstGeom prst="rect">
            <a:avLst/>
          </a:prstGeom>
          <a:solidFill>
            <a:srgbClr val="4A0F0F"/>
          </a:solidFill>
          <a:ln w="12700">
            <a:solidFill>
              <a:srgbClr val="4A0F0F"/>
            </a:solidFill>
            <a:prstDash val="solid"/>
          </a:ln>
        </p:spPr>
      </p:sp>
      <p:sp>
        <p:nvSpPr>
          <p:cNvPr id="6" name="Text 4"/>
          <p:cNvSpPr/>
          <p:nvPr/>
        </p:nvSpPr>
        <p:spPr>
          <a:xfrm>
            <a:off x="320040" y="969264"/>
            <a:ext cx="1463040" cy="502920"/>
          </a:xfrm>
          <a:prstGeom prst="rect">
            <a:avLst/>
          </a:prstGeom>
          <a:noFill/>
          <a:ln/>
        </p:spPr>
        <p:txBody>
          <a:bodyPr wrap="square" rtlCol="0" anchor="ctr"/>
          <a:lstStyle/>
          <a:p>
            <a:pPr marL="0" indent="0" algn="ctr">
              <a:buNone/>
            </a:pPr>
            <a:r>
              <a:rPr lang="en-US" sz="1000" b="1" dirty="0">
                <a:solidFill>
                  <a:srgbClr val="F5EFE6"/>
                </a:solidFill>
                <a:latin typeface="Cambria" pitchFamily="34" charset="0"/>
                <a:ea typeface="Cambria" pitchFamily="34" charset="-122"/>
                <a:cs typeface="Cambria" pitchFamily="34" charset="-120"/>
              </a:rPr>
              <a:t>EduEval</a:t>
            </a:r>
            <a:endParaRPr lang="en-US" sz="1000" dirty="0"/>
          </a:p>
          <a:p>
            <a:pPr marL="0" indent="0" algn="ctr">
              <a:buNone/>
            </a:pPr>
            <a:r>
              <a:rPr lang="en-US" sz="1000" b="1" dirty="0">
                <a:solidFill>
                  <a:srgbClr val="F5EFE6"/>
                </a:solidFill>
                <a:latin typeface="Cambria" pitchFamily="34" charset="0"/>
                <a:ea typeface="Cambria" pitchFamily="34" charset="-122"/>
                <a:cs typeface="Cambria" pitchFamily="34" charset="-120"/>
              </a:rPr>
              <a:t>Portal</a:t>
            </a:r>
            <a:endParaRPr lang="en-US" sz="1000" dirty="0"/>
          </a:p>
        </p:txBody>
      </p:sp>
      <p:sp>
        <p:nvSpPr>
          <p:cNvPr id="7" name="Shape 5"/>
          <p:cNvSpPr/>
          <p:nvPr/>
        </p:nvSpPr>
        <p:spPr>
          <a:xfrm>
            <a:off x="347472" y="1600200"/>
            <a:ext cx="1408176" cy="292608"/>
          </a:xfrm>
          <a:prstGeom prst="rect">
            <a:avLst/>
          </a:prstGeom>
          <a:solidFill>
            <a:srgbClr val="6B1A1A"/>
          </a:solidFill>
          <a:ln w="12700">
            <a:solidFill>
              <a:srgbClr val="6B1A1A"/>
            </a:solidFill>
            <a:prstDash val="solid"/>
          </a:ln>
        </p:spPr>
      </p:sp>
      <p:sp>
        <p:nvSpPr>
          <p:cNvPr id="8" name="Text 6"/>
          <p:cNvSpPr/>
          <p:nvPr/>
        </p:nvSpPr>
        <p:spPr>
          <a:xfrm>
            <a:off x="347472" y="1600200"/>
            <a:ext cx="1408176" cy="292608"/>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My Result</a:t>
            </a:r>
            <a:endParaRPr lang="en-US" sz="900" dirty="0"/>
          </a:p>
        </p:txBody>
      </p:sp>
      <p:sp>
        <p:nvSpPr>
          <p:cNvPr id="9" name="Text 7"/>
          <p:cNvSpPr/>
          <p:nvPr/>
        </p:nvSpPr>
        <p:spPr>
          <a:xfrm>
            <a:off x="347472" y="1956816"/>
            <a:ext cx="1408176" cy="256032"/>
          </a:xfrm>
          <a:prstGeom prst="rect">
            <a:avLst/>
          </a:prstGeom>
          <a:noFill/>
          <a:ln/>
        </p:spPr>
        <p:txBody>
          <a:bodyPr wrap="square" rtlCol="0" anchor="ctr"/>
          <a:lstStyle/>
          <a:p>
            <a:pPr marL="0" indent="0" algn="ctr">
              <a:buNone/>
            </a:pPr>
            <a:r>
              <a:rPr lang="en-US" sz="900" dirty="0">
                <a:solidFill>
                  <a:srgbClr val="CCBBBB"/>
                </a:solidFill>
                <a:latin typeface="Calibri" pitchFamily="34" charset="0"/>
                <a:ea typeface="Calibri" pitchFamily="34" charset="-122"/>
                <a:cs typeface="Calibri" pitchFamily="34" charset="-120"/>
              </a:rPr>
              <a:t>Log Out</a:t>
            </a:r>
            <a:endParaRPr lang="en-US" sz="900" dirty="0"/>
          </a:p>
        </p:txBody>
      </p:sp>
      <p:sp>
        <p:nvSpPr>
          <p:cNvPr id="10" name="Text 8"/>
          <p:cNvSpPr/>
          <p:nvPr/>
        </p:nvSpPr>
        <p:spPr>
          <a:xfrm>
            <a:off x="1965960" y="969264"/>
            <a:ext cx="6675120" cy="347472"/>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Welcome, Soumacharyya Paul    STUDENT</a:t>
            </a:r>
            <a:endParaRPr lang="en-US" sz="1200" dirty="0"/>
          </a:p>
        </p:txBody>
      </p:sp>
      <p:sp>
        <p:nvSpPr>
          <p:cNvPr id="11" name="Shape 9"/>
          <p:cNvSpPr/>
          <p:nvPr/>
        </p:nvSpPr>
        <p:spPr>
          <a:xfrm>
            <a:off x="1920240" y="1371600"/>
            <a:ext cx="6858000" cy="3383280"/>
          </a:xfrm>
          <a:prstGeom prst="rect">
            <a:avLst/>
          </a:prstGeom>
          <a:solidFill>
            <a:srgbClr val="FFFFFF"/>
          </a:solidFill>
          <a:ln w="12700">
            <a:solidFill>
              <a:srgbClr val="CCCCCC"/>
            </a:solidFill>
            <a:prstDash val="solid"/>
          </a:ln>
        </p:spPr>
      </p:sp>
      <p:sp>
        <p:nvSpPr>
          <p:cNvPr id="12" name="Text 10"/>
          <p:cNvSpPr/>
          <p:nvPr/>
        </p:nvSpPr>
        <p:spPr>
          <a:xfrm>
            <a:off x="2011680" y="1417320"/>
            <a:ext cx="6675120" cy="320040"/>
          </a:xfrm>
          <a:prstGeom prst="rect">
            <a:avLst/>
          </a:prstGeom>
          <a:noFill/>
          <a:ln/>
        </p:spPr>
        <p:txBody>
          <a:bodyPr wrap="square" rtlCol="0" anchor="ctr"/>
          <a:lstStyle/>
          <a:p>
            <a:pPr marL="0" indent="0" algn="ctr">
              <a:buNone/>
            </a:pPr>
            <a:r>
              <a:rPr lang="en-US" sz="1400" b="1" dirty="0">
                <a:solidFill>
                  <a:srgbClr val="6B1A1A"/>
                </a:solidFill>
                <a:latin typeface="Cambria" pitchFamily="34" charset="0"/>
                <a:ea typeface="Cambria" pitchFamily="34" charset="-122"/>
                <a:cs typeface="Cambria" pitchFamily="34" charset="-120"/>
              </a:rPr>
              <a:t>Your Academic Result</a:t>
            </a:r>
            <a:endParaRPr lang="en-US" sz="1400" dirty="0"/>
          </a:p>
        </p:txBody>
      </p:sp>
      <p:sp>
        <p:nvSpPr>
          <p:cNvPr id="13" name="Shape 11"/>
          <p:cNvSpPr/>
          <p:nvPr/>
        </p:nvSpPr>
        <p:spPr>
          <a:xfrm>
            <a:off x="2057400" y="1783080"/>
            <a:ext cx="6583680" cy="347472"/>
          </a:xfrm>
          <a:prstGeom prst="rect">
            <a:avLst/>
          </a:prstGeom>
          <a:solidFill>
            <a:srgbClr val="6B1A1A"/>
          </a:solidFill>
          <a:ln w="12700">
            <a:solidFill>
              <a:srgbClr val="6B1A1A"/>
            </a:solidFill>
            <a:prstDash val="solid"/>
          </a:ln>
        </p:spPr>
      </p:sp>
      <p:sp>
        <p:nvSpPr>
          <p:cNvPr id="14" name="Text 12"/>
          <p:cNvSpPr/>
          <p:nvPr/>
        </p:nvSpPr>
        <p:spPr>
          <a:xfrm>
            <a:off x="2057400" y="1783080"/>
            <a:ext cx="658368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OFFICIAL ACADEMIC REPORT</a:t>
            </a:r>
            <a:endParaRPr lang="en-US" sz="1100" dirty="0"/>
          </a:p>
        </p:txBody>
      </p:sp>
      <p:sp>
        <p:nvSpPr>
          <p:cNvPr id="15" name="Text 13"/>
          <p:cNvSpPr/>
          <p:nvPr/>
        </p:nvSpPr>
        <p:spPr>
          <a:xfrm>
            <a:off x="2148840" y="2212848"/>
            <a:ext cx="3657600" cy="292608"/>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Soumacharyya Paul</a:t>
            </a:r>
            <a:endParaRPr lang="en-US" sz="1200" dirty="0"/>
          </a:p>
        </p:txBody>
      </p:sp>
      <p:sp>
        <p:nvSpPr>
          <p:cNvPr id="16" name="Text 14"/>
          <p:cNvSpPr/>
          <p:nvPr/>
        </p:nvSpPr>
        <p:spPr>
          <a:xfrm>
            <a:off x="2148840" y="2487168"/>
            <a:ext cx="3657600" cy="21945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Registration ID: D232410696</a:t>
            </a:r>
            <a:endParaRPr lang="en-US" sz="1000" dirty="0"/>
          </a:p>
        </p:txBody>
      </p:sp>
      <p:sp>
        <p:nvSpPr>
          <p:cNvPr id="17" name="Shape 15"/>
          <p:cNvSpPr/>
          <p:nvPr/>
        </p:nvSpPr>
        <p:spPr>
          <a:xfrm>
            <a:off x="7132320" y="2212848"/>
            <a:ext cx="1261872" cy="566928"/>
          </a:xfrm>
          <a:prstGeom prst="rect">
            <a:avLst/>
          </a:prstGeom>
          <a:solidFill>
            <a:srgbClr val="F2F2F2"/>
          </a:solidFill>
          <a:ln w="12700">
            <a:solidFill>
              <a:srgbClr val="CCCCCC"/>
            </a:solidFill>
            <a:prstDash val="solid"/>
          </a:ln>
        </p:spPr>
      </p:sp>
      <p:sp>
        <p:nvSpPr>
          <p:cNvPr id="18" name="Text 16"/>
          <p:cNvSpPr/>
          <p:nvPr/>
        </p:nvSpPr>
        <p:spPr>
          <a:xfrm>
            <a:off x="7150608" y="2231136"/>
            <a:ext cx="1225296" cy="530352"/>
          </a:xfrm>
          <a:prstGeom prst="rect">
            <a:avLst/>
          </a:prstGeom>
          <a:noFill/>
          <a:ln/>
        </p:spPr>
        <p:txBody>
          <a:bodyPr wrap="square" rtlCol="0" anchor="ctr"/>
          <a:lstStyle/>
          <a:p>
            <a:pPr marL="0" indent="0" algn="ctr">
              <a:buNone/>
            </a:pPr>
            <a:r>
              <a:rPr lang="en-US" sz="900" dirty="0">
                <a:solidFill>
                  <a:srgbClr val="1A1A1A"/>
                </a:solidFill>
                <a:latin typeface="Calibri" pitchFamily="34" charset="0"/>
                <a:ea typeface="Calibri" pitchFamily="34" charset="-122"/>
                <a:cs typeface="Calibri" pitchFamily="34" charset="-120"/>
              </a:rPr>
              <a:t>Dept: ITE</a:t>
            </a: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Year: 2  |  Sem: 4</a:t>
            </a:r>
            <a:endParaRPr lang="en-US" sz="900" dirty="0"/>
          </a:p>
        </p:txBody>
      </p:sp>
      <p:sp>
        <p:nvSpPr>
          <p:cNvPr id="19" name="Shape 17"/>
          <p:cNvSpPr/>
          <p:nvPr/>
        </p:nvSpPr>
        <p:spPr>
          <a:xfrm>
            <a:off x="2148840" y="2788920"/>
            <a:ext cx="2359152" cy="219456"/>
          </a:xfrm>
          <a:prstGeom prst="rect">
            <a:avLst/>
          </a:prstGeom>
          <a:solidFill>
            <a:srgbClr val="F2F2F2"/>
          </a:solidFill>
          <a:ln w="12700">
            <a:solidFill>
              <a:srgbClr val="F2F2F2"/>
            </a:solidFill>
            <a:prstDash val="solid"/>
          </a:ln>
        </p:spPr>
      </p:sp>
      <p:sp>
        <p:nvSpPr>
          <p:cNvPr id="20" name="Text 18"/>
          <p:cNvSpPr/>
          <p:nvPr/>
        </p:nvSpPr>
        <p:spPr>
          <a:xfrm>
            <a:off x="2212848" y="2807208"/>
            <a:ext cx="1783080"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Subject</a:t>
            </a:r>
            <a:endParaRPr lang="en-US" sz="900" dirty="0"/>
          </a:p>
        </p:txBody>
      </p:sp>
      <p:sp>
        <p:nvSpPr>
          <p:cNvPr id="21" name="Text 19"/>
          <p:cNvSpPr/>
          <p:nvPr/>
        </p:nvSpPr>
        <p:spPr>
          <a:xfrm>
            <a:off x="4005072" y="2807208"/>
            <a:ext cx="475488"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Marks</a:t>
            </a:r>
            <a:endParaRPr lang="en-US" sz="900" dirty="0"/>
          </a:p>
        </p:txBody>
      </p:sp>
      <p:sp>
        <p:nvSpPr>
          <p:cNvPr id="22" name="Shape 20"/>
          <p:cNvSpPr/>
          <p:nvPr/>
        </p:nvSpPr>
        <p:spPr>
          <a:xfrm>
            <a:off x="4590288" y="2788920"/>
            <a:ext cx="2359152" cy="219456"/>
          </a:xfrm>
          <a:prstGeom prst="rect">
            <a:avLst/>
          </a:prstGeom>
          <a:solidFill>
            <a:srgbClr val="F2F2F2"/>
          </a:solidFill>
          <a:ln w="12700">
            <a:solidFill>
              <a:srgbClr val="F2F2F2"/>
            </a:solidFill>
            <a:prstDash val="solid"/>
          </a:ln>
        </p:spPr>
      </p:sp>
      <p:sp>
        <p:nvSpPr>
          <p:cNvPr id="23" name="Text 21"/>
          <p:cNvSpPr/>
          <p:nvPr/>
        </p:nvSpPr>
        <p:spPr>
          <a:xfrm>
            <a:off x="4645152" y="2807208"/>
            <a:ext cx="1783080"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Subject</a:t>
            </a:r>
            <a:endParaRPr lang="en-US" sz="900" dirty="0"/>
          </a:p>
        </p:txBody>
      </p:sp>
      <p:sp>
        <p:nvSpPr>
          <p:cNvPr id="24" name="Text 22"/>
          <p:cNvSpPr/>
          <p:nvPr/>
        </p:nvSpPr>
        <p:spPr>
          <a:xfrm>
            <a:off x="6446520" y="2807208"/>
            <a:ext cx="475488"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Marks</a:t>
            </a:r>
            <a:endParaRPr lang="en-US" sz="900" dirty="0"/>
          </a:p>
        </p:txBody>
      </p:sp>
      <p:sp>
        <p:nvSpPr>
          <p:cNvPr id="25" name="Text 23"/>
          <p:cNvSpPr/>
          <p:nvPr/>
        </p:nvSpPr>
        <p:spPr>
          <a:xfrm>
            <a:off x="2212848" y="303580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Operating Systems</a:t>
            </a:r>
            <a:endParaRPr lang="en-US" sz="1000" dirty="0"/>
          </a:p>
        </p:txBody>
      </p:sp>
      <p:sp>
        <p:nvSpPr>
          <p:cNvPr id="26" name="Text 24"/>
          <p:cNvSpPr/>
          <p:nvPr/>
        </p:nvSpPr>
        <p:spPr>
          <a:xfrm>
            <a:off x="4005072" y="303580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99</a:t>
            </a:r>
            <a:endParaRPr lang="en-US" sz="1000" dirty="0"/>
          </a:p>
        </p:txBody>
      </p:sp>
      <p:sp>
        <p:nvSpPr>
          <p:cNvPr id="27" name="Shape 25"/>
          <p:cNvSpPr/>
          <p:nvPr/>
        </p:nvSpPr>
        <p:spPr>
          <a:xfrm>
            <a:off x="2148840" y="3291840"/>
            <a:ext cx="2359152" cy="274320"/>
          </a:xfrm>
          <a:prstGeom prst="rect">
            <a:avLst/>
          </a:prstGeom>
          <a:solidFill>
            <a:srgbClr val="FAFAFA"/>
          </a:solidFill>
          <a:ln w="12700">
            <a:solidFill>
              <a:srgbClr val="FAFAFA"/>
            </a:solidFill>
            <a:prstDash val="solid"/>
          </a:ln>
        </p:spPr>
      </p:sp>
      <p:sp>
        <p:nvSpPr>
          <p:cNvPr id="28" name="Text 26"/>
          <p:cNvSpPr/>
          <p:nvPr/>
        </p:nvSpPr>
        <p:spPr>
          <a:xfrm>
            <a:off x="2212848" y="331012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DBMS</a:t>
            </a:r>
            <a:endParaRPr lang="en-US" sz="1000" dirty="0"/>
          </a:p>
        </p:txBody>
      </p:sp>
      <p:sp>
        <p:nvSpPr>
          <p:cNvPr id="29" name="Text 27"/>
          <p:cNvSpPr/>
          <p:nvPr/>
        </p:nvSpPr>
        <p:spPr>
          <a:xfrm>
            <a:off x="4005072" y="331012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76</a:t>
            </a:r>
            <a:endParaRPr lang="en-US" sz="1000" dirty="0"/>
          </a:p>
        </p:txBody>
      </p:sp>
      <p:sp>
        <p:nvSpPr>
          <p:cNvPr id="30" name="Text 28"/>
          <p:cNvSpPr/>
          <p:nvPr/>
        </p:nvSpPr>
        <p:spPr>
          <a:xfrm>
            <a:off x="2212848" y="358444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Comp. Networks</a:t>
            </a:r>
            <a:endParaRPr lang="en-US" sz="1000" dirty="0"/>
          </a:p>
        </p:txBody>
      </p:sp>
      <p:sp>
        <p:nvSpPr>
          <p:cNvPr id="31" name="Text 29"/>
          <p:cNvSpPr/>
          <p:nvPr/>
        </p:nvSpPr>
        <p:spPr>
          <a:xfrm>
            <a:off x="4005072" y="358444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59</a:t>
            </a:r>
            <a:endParaRPr lang="en-US" sz="1000" dirty="0"/>
          </a:p>
        </p:txBody>
      </p:sp>
      <p:sp>
        <p:nvSpPr>
          <p:cNvPr id="32" name="Shape 30"/>
          <p:cNvSpPr/>
          <p:nvPr/>
        </p:nvSpPr>
        <p:spPr>
          <a:xfrm>
            <a:off x="2148840" y="3840480"/>
            <a:ext cx="2359152" cy="274320"/>
          </a:xfrm>
          <a:prstGeom prst="rect">
            <a:avLst/>
          </a:prstGeom>
          <a:solidFill>
            <a:srgbClr val="FAFAFA"/>
          </a:solidFill>
          <a:ln w="12700">
            <a:solidFill>
              <a:srgbClr val="FAFAFA"/>
            </a:solidFill>
            <a:prstDash val="solid"/>
          </a:ln>
        </p:spPr>
      </p:sp>
      <p:sp>
        <p:nvSpPr>
          <p:cNvPr id="33" name="Text 31"/>
          <p:cNvSpPr/>
          <p:nvPr/>
        </p:nvSpPr>
        <p:spPr>
          <a:xfrm>
            <a:off x="2212848" y="385876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Java</a:t>
            </a:r>
            <a:endParaRPr lang="en-US" sz="1000" dirty="0"/>
          </a:p>
        </p:txBody>
      </p:sp>
      <p:sp>
        <p:nvSpPr>
          <p:cNvPr id="34" name="Text 32"/>
          <p:cNvSpPr/>
          <p:nvPr/>
        </p:nvSpPr>
        <p:spPr>
          <a:xfrm>
            <a:off x="4005072" y="385876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69</a:t>
            </a:r>
            <a:endParaRPr lang="en-US" sz="1000" dirty="0"/>
          </a:p>
        </p:txBody>
      </p:sp>
      <p:sp>
        <p:nvSpPr>
          <p:cNvPr id="35" name="Text 33"/>
          <p:cNvSpPr/>
          <p:nvPr/>
        </p:nvSpPr>
        <p:spPr>
          <a:xfrm>
            <a:off x="2212848" y="413308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Soft. Engineering</a:t>
            </a:r>
            <a:endParaRPr lang="en-US" sz="1000" dirty="0"/>
          </a:p>
        </p:txBody>
      </p:sp>
      <p:sp>
        <p:nvSpPr>
          <p:cNvPr id="36" name="Text 34"/>
          <p:cNvSpPr/>
          <p:nvPr/>
        </p:nvSpPr>
        <p:spPr>
          <a:xfrm>
            <a:off x="4005072" y="413308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78</a:t>
            </a:r>
            <a:endParaRPr lang="en-US" sz="1000" dirty="0"/>
          </a:p>
        </p:txBody>
      </p:sp>
      <p:sp>
        <p:nvSpPr>
          <p:cNvPr id="37" name="Text 35"/>
          <p:cNvSpPr/>
          <p:nvPr/>
        </p:nvSpPr>
        <p:spPr>
          <a:xfrm>
            <a:off x="4645152" y="303580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Minor Project</a:t>
            </a:r>
            <a:endParaRPr lang="en-US" sz="1000" dirty="0"/>
          </a:p>
        </p:txBody>
      </p:sp>
      <p:sp>
        <p:nvSpPr>
          <p:cNvPr id="38" name="Text 36"/>
          <p:cNvSpPr/>
          <p:nvPr/>
        </p:nvSpPr>
        <p:spPr>
          <a:xfrm>
            <a:off x="6446520" y="303580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70</a:t>
            </a:r>
            <a:endParaRPr lang="en-US" sz="1000" dirty="0"/>
          </a:p>
        </p:txBody>
      </p:sp>
      <p:sp>
        <p:nvSpPr>
          <p:cNvPr id="39" name="Shape 37"/>
          <p:cNvSpPr/>
          <p:nvPr/>
        </p:nvSpPr>
        <p:spPr>
          <a:xfrm>
            <a:off x="4590288" y="3291840"/>
            <a:ext cx="2359152" cy="274320"/>
          </a:xfrm>
          <a:prstGeom prst="rect">
            <a:avLst/>
          </a:prstGeom>
          <a:solidFill>
            <a:srgbClr val="FAFAFA"/>
          </a:solidFill>
          <a:ln w="12700">
            <a:solidFill>
              <a:srgbClr val="FAFAFA"/>
            </a:solidFill>
            <a:prstDash val="solid"/>
          </a:ln>
        </p:spPr>
      </p:sp>
      <p:sp>
        <p:nvSpPr>
          <p:cNvPr id="40" name="Text 38"/>
          <p:cNvSpPr/>
          <p:nvPr/>
        </p:nvSpPr>
        <p:spPr>
          <a:xfrm>
            <a:off x="4645152" y="331012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OS Lab</a:t>
            </a:r>
            <a:endParaRPr lang="en-US" sz="1000" dirty="0"/>
          </a:p>
        </p:txBody>
      </p:sp>
      <p:sp>
        <p:nvSpPr>
          <p:cNvPr id="41" name="Text 39"/>
          <p:cNvSpPr/>
          <p:nvPr/>
        </p:nvSpPr>
        <p:spPr>
          <a:xfrm>
            <a:off x="6446520" y="331012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59</a:t>
            </a:r>
            <a:endParaRPr lang="en-US" sz="1000" dirty="0"/>
          </a:p>
        </p:txBody>
      </p:sp>
      <p:sp>
        <p:nvSpPr>
          <p:cNvPr id="42" name="Text 40"/>
          <p:cNvSpPr/>
          <p:nvPr/>
        </p:nvSpPr>
        <p:spPr>
          <a:xfrm>
            <a:off x="4645152" y="358444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DBMS Lab</a:t>
            </a:r>
            <a:endParaRPr lang="en-US" sz="1000" dirty="0"/>
          </a:p>
        </p:txBody>
      </p:sp>
      <p:sp>
        <p:nvSpPr>
          <p:cNvPr id="43" name="Text 41"/>
          <p:cNvSpPr/>
          <p:nvPr/>
        </p:nvSpPr>
        <p:spPr>
          <a:xfrm>
            <a:off x="6446520" y="358444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50</a:t>
            </a:r>
            <a:endParaRPr lang="en-US" sz="1000" dirty="0"/>
          </a:p>
        </p:txBody>
      </p:sp>
      <p:sp>
        <p:nvSpPr>
          <p:cNvPr id="44" name="Shape 42"/>
          <p:cNvSpPr/>
          <p:nvPr/>
        </p:nvSpPr>
        <p:spPr>
          <a:xfrm>
            <a:off x="4590288" y="3840480"/>
            <a:ext cx="2359152" cy="274320"/>
          </a:xfrm>
          <a:prstGeom prst="rect">
            <a:avLst/>
          </a:prstGeom>
          <a:solidFill>
            <a:srgbClr val="FAFAFA"/>
          </a:solidFill>
          <a:ln w="12700">
            <a:solidFill>
              <a:srgbClr val="FAFAFA"/>
            </a:solidFill>
            <a:prstDash val="solid"/>
          </a:ln>
        </p:spPr>
      </p:sp>
      <p:sp>
        <p:nvSpPr>
          <p:cNvPr id="45" name="Text 43"/>
          <p:cNvSpPr/>
          <p:nvPr/>
        </p:nvSpPr>
        <p:spPr>
          <a:xfrm>
            <a:off x="4645152" y="385876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CN Lab</a:t>
            </a:r>
            <a:endParaRPr lang="en-US" sz="1000" dirty="0"/>
          </a:p>
        </p:txBody>
      </p:sp>
      <p:sp>
        <p:nvSpPr>
          <p:cNvPr id="46" name="Text 44"/>
          <p:cNvSpPr/>
          <p:nvPr/>
        </p:nvSpPr>
        <p:spPr>
          <a:xfrm>
            <a:off x="6446520" y="385876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77</a:t>
            </a:r>
            <a:endParaRPr lang="en-US" sz="1000" dirty="0"/>
          </a:p>
        </p:txBody>
      </p:sp>
      <p:sp>
        <p:nvSpPr>
          <p:cNvPr id="47" name="Text 45"/>
          <p:cNvSpPr/>
          <p:nvPr/>
        </p:nvSpPr>
        <p:spPr>
          <a:xfrm>
            <a:off x="4645152" y="413308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Java Lab</a:t>
            </a:r>
            <a:endParaRPr lang="en-US" sz="1000" dirty="0"/>
          </a:p>
        </p:txBody>
      </p:sp>
      <p:sp>
        <p:nvSpPr>
          <p:cNvPr id="48" name="Text 46"/>
          <p:cNvSpPr/>
          <p:nvPr/>
        </p:nvSpPr>
        <p:spPr>
          <a:xfrm>
            <a:off x="6446520" y="413308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89</a:t>
            </a:r>
            <a:endParaRPr lang="en-US" sz="1000" dirty="0"/>
          </a:p>
        </p:txBody>
      </p:sp>
      <p:sp>
        <p:nvSpPr>
          <p:cNvPr id="49" name="Shape 47"/>
          <p:cNvSpPr/>
          <p:nvPr/>
        </p:nvSpPr>
        <p:spPr>
          <a:xfrm>
            <a:off x="2148840" y="4416552"/>
            <a:ext cx="6583680" cy="27432"/>
          </a:xfrm>
          <a:prstGeom prst="rect">
            <a:avLst/>
          </a:prstGeom>
          <a:solidFill>
            <a:srgbClr val="CCCCCC"/>
          </a:solidFill>
          <a:ln w="12700">
            <a:solidFill>
              <a:srgbClr val="CCCCCC"/>
            </a:solidFill>
            <a:prstDash val="solid"/>
          </a:ln>
        </p:spPr>
      </p:sp>
      <p:sp>
        <p:nvSpPr>
          <p:cNvPr id="50" name="Text 48"/>
          <p:cNvSpPr/>
          <p:nvPr/>
        </p:nvSpPr>
        <p:spPr>
          <a:xfrm>
            <a:off x="2194560" y="4480560"/>
            <a:ext cx="1828800" cy="320040"/>
          </a:xfrm>
          <a:prstGeom prst="rect">
            <a:avLst/>
          </a:prstGeom>
          <a:noFill/>
          <a:ln/>
        </p:spPr>
        <p:txBody>
          <a:bodyPr wrap="square" rtlCol="0" anchor="ctr"/>
          <a:lstStyle/>
          <a:p>
            <a:pPr marL="0" indent="0">
              <a:buNone/>
            </a:pPr>
            <a:r>
              <a:rPr lang="en-US" sz="1500" b="1" dirty="0">
                <a:solidFill>
                  <a:srgbClr val="6B1A1A"/>
                </a:solidFill>
                <a:latin typeface="Cambria" pitchFamily="34" charset="0"/>
                <a:ea typeface="Cambria" pitchFamily="34" charset="-122"/>
                <a:cs typeface="Cambria" pitchFamily="34" charset="-120"/>
              </a:rPr>
              <a:t>CGPA:  7.26</a:t>
            </a:r>
            <a:endParaRPr lang="en-US" sz="1500" dirty="0"/>
          </a:p>
        </p:txBody>
      </p:sp>
      <p:sp>
        <p:nvSpPr>
          <p:cNvPr id="51" name="Shape 49"/>
          <p:cNvSpPr/>
          <p:nvPr/>
        </p:nvSpPr>
        <p:spPr>
          <a:xfrm>
            <a:off x="4937760" y="4498848"/>
            <a:ext cx="685800" cy="256032"/>
          </a:xfrm>
          <a:prstGeom prst="rect">
            <a:avLst/>
          </a:prstGeom>
          <a:solidFill>
            <a:srgbClr val="2E7D32"/>
          </a:solidFill>
          <a:ln w="12700">
            <a:solidFill>
              <a:srgbClr val="2E7D32"/>
            </a:solidFill>
            <a:prstDash val="solid"/>
          </a:ln>
        </p:spPr>
      </p:sp>
      <p:sp>
        <p:nvSpPr>
          <p:cNvPr id="52" name="Text 50"/>
          <p:cNvSpPr/>
          <p:nvPr/>
        </p:nvSpPr>
        <p:spPr>
          <a:xfrm>
            <a:off x="4937760" y="4498848"/>
            <a:ext cx="6858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53" name="Text 51"/>
          <p:cNvSpPr/>
          <p:nvPr/>
        </p:nvSpPr>
        <p:spPr>
          <a:xfrm>
            <a:off x="274320" y="4873752"/>
            <a:ext cx="859536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4: Student Result Card with Subject-wise Marks and CGPA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882</Words>
  <Application>Microsoft Office PowerPoint</Application>
  <PresentationFormat>On-screen Show (16:9)</PresentationFormat>
  <Paragraphs>167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Baskerville Old Face</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Sukanya Maji</dc:creator>
  <cp:keywords/>
  <dc:description>generated using python-pptx</dc:description>
  <cp:lastModifiedBy>Sukanya Maji</cp:lastModifiedBy>
  <cp:revision>2</cp:revision>
  <dcterms:created xsi:type="dcterms:W3CDTF">2013-01-27T09:14:16Z</dcterms:created>
  <dcterms:modified xsi:type="dcterms:W3CDTF">2026-06-22T22:50:34Z</dcterms:modified>
  <cp:category/>
</cp:coreProperties>
</file>