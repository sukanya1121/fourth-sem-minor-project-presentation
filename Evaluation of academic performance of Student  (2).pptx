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sldSz cx="9144000" cy="5143500" type="screen16x9"/>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40013"/>
    <a:srgbClr val="740016"/>
    <a:srgbClr val="FFFFFF"/>
    <a:srgbClr val="FEFCF8"/>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03" d="100"/>
          <a:sy n="103" d="100"/>
        </p:scale>
        <p:origin x="874" y="77"/>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6/23/2026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6/23/2026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6/23/2026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6/23/2026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6/23/2026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6/23/2026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6/23/2026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640013"/>
          </a:solidFill>
          <a:ln/>
        </p:spPr>
      </p:sp>
      <p:sp>
        <p:nvSpPr>
          <p:cNvPr id="3" name="Text 1"/>
          <p:cNvSpPr/>
          <p:nvPr/>
        </p:nvSpPr>
        <p:spPr>
          <a:xfrm>
            <a:off x="365760" y="0"/>
            <a:ext cx="8412480" cy="640080"/>
          </a:xfrm>
          <a:prstGeom prst="rect">
            <a:avLst/>
          </a:prstGeom>
          <a:noFill/>
          <a:ln/>
        </p:spPr>
        <p:txBody>
          <a:bodyPr wrap="square" lIns="0" tIns="0" rIns="0" bIns="0" rtlCol="0" anchor="ctr"/>
          <a:lstStyle/>
          <a:p>
            <a:pPr marL="0" indent="0" algn="l">
              <a:buNone/>
            </a:pPr>
            <a:r>
              <a:rPr lang="en-US" sz="2200" b="1" dirty="0">
                <a:solidFill>
                  <a:srgbClr val="FFFFFF"/>
                </a:solidFill>
                <a:latin typeface="Cambria" pitchFamily="34" charset="0"/>
                <a:ea typeface="Cambria" pitchFamily="34" charset="-122"/>
                <a:cs typeface="Cambria" pitchFamily="34" charset="-120"/>
              </a:rPr>
              <a:t>About Our College — Dasnagar Govt. Polytechnic</a:t>
            </a:r>
            <a:endParaRPr lang="en-US" sz="2200" dirty="0"/>
          </a:p>
        </p:txBody>
      </p:sp>
      <p:sp>
        <p:nvSpPr>
          <p:cNvPr id="4" name="Shape 2"/>
          <p:cNvSpPr/>
          <p:nvPr/>
        </p:nvSpPr>
        <p:spPr>
          <a:xfrm>
            <a:off x="308218" y="694944"/>
            <a:ext cx="8527564" cy="4256532"/>
          </a:xfrm>
          <a:prstGeom prst="rect">
            <a:avLst/>
          </a:prstGeom>
          <a:solidFill>
            <a:srgbClr val="FFFFFF"/>
          </a:solidFill>
          <a:ln w="12700">
            <a:solidFill>
              <a:srgbClr val="DDDDDD"/>
            </a:solidFill>
            <a:prstDash val="solid"/>
          </a:ln>
          <a:effectLst>
            <a:outerShdw blurRad="101600" dist="38100" dir="5400000" algn="bl" rotWithShape="0">
              <a:srgbClr val="000000">
                <a:alpha val="18000"/>
              </a:srgbClr>
            </a:outerShdw>
          </a:effectLst>
        </p:spPr>
      </p:sp>
      <p:pic>
        <p:nvPicPr>
          <p:cNvPr id="5" name="Image 0" descr="frames/cropped/hero_new.png"/>
          <p:cNvPicPr>
            <a:picLocks noChangeAspect="1"/>
          </p:cNvPicPr>
          <p:nvPr/>
        </p:nvPicPr>
        <p:blipFill>
          <a:blip r:embed="rId2"/>
          <a:stretch>
            <a:fillRect/>
          </a:stretch>
        </p:blipFill>
        <p:spPr>
          <a:xfrm>
            <a:off x="344794" y="731520"/>
            <a:ext cx="8454412" cy="418338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52039"/>
            <a:ext cx="9144000" cy="806419"/>
          </a:xfrm>
          <a:prstGeom prst="rect">
            <a:avLst/>
          </a:prstGeom>
          <a:solidFill>
            <a:srgbClr val="640013"/>
          </a:solidFill>
          <a:ln/>
        </p:spPr>
        <p:txBody>
          <a:bodyPr anchor="b"/>
          <a:lstStyle/>
          <a:p>
            <a:endParaRPr lang="en-IN" dirty="0"/>
          </a:p>
        </p:txBody>
      </p:sp>
      <p:sp>
        <p:nvSpPr>
          <p:cNvPr id="3" name="Text 1"/>
          <p:cNvSpPr/>
          <p:nvPr/>
        </p:nvSpPr>
        <p:spPr>
          <a:xfrm>
            <a:off x="0" y="-141249"/>
            <a:ext cx="9144000" cy="895629"/>
          </a:xfrm>
          <a:prstGeom prst="rect">
            <a:avLst/>
          </a:prstGeom>
          <a:noFill/>
          <a:ln/>
        </p:spPr>
        <p:txBody>
          <a:bodyPr wrap="square" lIns="0" tIns="0" rIns="0" bIns="0" rtlCol="0" anchor="ctr"/>
          <a:lstStyle/>
          <a:p>
            <a:pPr marL="0" indent="0">
              <a:buNone/>
            </a:pPr>
            <a:r>
              <a:rPr lang="en-US" sz="2800" b="1" dirty="0">
                <a:solidFill>
                  <a:srgbClr val="FFFFFF"/>
                </a:solidFill>
                <a:latin typeface="Cambria" pitchFamily="34" charset="0"/>
                <a:ea typeface="Cambria" pitchFamily="34" charset="-122"/>
                <a:cs typeface="Cambria" pitchFamily="34" charset="-120"/>
              </a:rPr>
              <a:t>     Acknowledgement</a:t>
            </a:r>
            <a:endParaRPr lang="en-US" sz="2800" dirty="0"/>
          </a:p>
        </p:txBody>
      </p:sp>
      <p:sp>
        <p:nvSpPr>
          <p:cNvPr id="4" name="Text 2"/>
          <p:cNvSpPr/>
          <p:nvPr/>
        </p:nvSpPr>
        <p:spPr>
          <a:xfrm>
            <a:off x="548640" y="960120"/>
            <a:ext cx="8046720" cy="1371600"/>
          </a:xfrm>
          <a:prstGeom prst="rect">
            <a:avLst/>
          </a:prstGeom>
          <a:noFill/>
          <a:ln/>
        </p:spPr>
        <p:txBody>
          <a:bodyPr wrap="square" rtlCol="0" anchor="t"/>
          <a:lstStyle/>
          <a:p>
            <a:pPr marL="0" indent="0" algn="l">
              <a:lnSpc>
                <a:spcPct val="125000"/>
              </a:lnSpc>
              <a:buNone/>
            </a:pPr>
            <a:r>
              <a:rPr lang="en-US" sz="1400" dirty="0">
                <a:solidFill>
                  <a:srgbClr val="2B2420"/>
                </a:solidFill>
                <a:latin typeface="Calibri" pitchFamily="34" charset="0"/>
                <a:ea typeface="Calibri" pitchFamily="34" charset="-122"/>
                <a:cs typeface="Calibri" pitchFamily="34" charset="-120"/>
              </a:rPr>
              <a:t>I express my sincere gratitude to </a:t>
            </a:r>
            <a:r>
              <a:rPr lang="en-US" sz="1400" b="1" dirty="0">
                <a:solidFill>
                  <a:srgbClr val="2B2420"/>
                </a:solidFill>
                <a:latin typeface="Calibri" pitchFamily="34" charset="0"/>
                <a:ea typeface="Calibri" pitchFamily="34" charset="-122"/>
                <a:cs typeface="Calibri" pitchFamily="34" charset="-120"/>
              </a:rPr>
              <a:t>MS PUSPITA MANNA</a:t>
            </a:r>
            <a:r>
              <a:rPr lang="en-US" sz="1400" dirty="0">
                <a:solidFill>
                  <a:srgbClr val="2B2420"/>
                </a:solidFill>
                <a:latin typeface="Calibri" pitchFamily="34" charset="0"/>
                <a:ea typeface="Calibri" pitchFamily="34" charset="-122"/>
                <a:cs typeface="Calibri" pitchFamily="34" charset="-120"/>
              </a:rPr>
              <a:t> and </a:t>
            </a:r>
            <a:r>
              <a:rPr lang="en-US" sz="1400" b="1" dirty="0">
                <a:solidFill>
                  <a:srgbClr val="2B2420"/>
                </a:solidFill>
                <a:latin typeface="Calibri" pitchFamily="34" charset="0"/>
                <a:ea typeface="Calibri" pitchFamily="34" charset="-122"/>
                <a:cs typeface="Calibri" pitchFamily="34" charset="-120"/>
              </a:rPr>
              <a:t>SHRI ACHINTYA GOPAL MONDAL</a:t>
            </a:r>
            <a:r>
              <a:rPr lang="en-US" sz="1400" dirty="0">
                <a:solidFill>
                  <a:srgbClr val="2B2420"/>
                </a:solidFill>
                <a:latin typeface="Calibri" pitchFamily="34" charset="0"/>
                <a:ea typeface="Calibri" pitchFamily="34" charset="-122"/>
                <a:cs typeface="Calibri" pitchFamily="34" charset="-120"/>
              </a:rPr>
              <a:t> of the Department of Information Technology and Engineering, </a:t>
            </a:r>
            <a:r>
              <a:rPr lang="en-US" sz="1400" b="1" dirty="0">
                <a:solidFill>
                  <a:srgbClr val="2B2420"/>
                </a:solidFill>
                <a:latin typeface="Calibri" pitchFamily="34" charset="0"/>
                <a:ea typeface="Calibri" pitchFamily="34" charset="-122"/>
                <a:cs typeface="Calibri" pitchFamily="34" charset="-120"/>
              </a:rPr>
              <a:t>DASNAGAR GOVT. POLYTECHNIC</a:t>
            </a:r>
            <a:r>
              <a:rPr lang="en-US" sz="1400" dirty="0">
                <a:solidFill>
                  <a:srgbClr val="2B2420"/>
                </a:solidFill>
                <a:latin typeface="Calibri" pitchFamily="34" charset="0"/>
                <a:ea typeface="Calibri" pitchFamily="34" charset="-122"/>
                <a:cs typeface="Calibri" pitchFamily="34" charset="-120"/>
              </a:rPr>
              <a:t>, for extending their valuable time to help me take up this problem as a project.</a:t>
            </a:r>
            <a:endParaRPr lang="en-US" sz="1400" dirty="0"/>
          </a:p>
        </p:txBody>
      </p:sp>
      <p:sp>
        <p:nvSpPr>
          <p:cNvPr id="5" name="Text 3"/>
          <p:cNvSpPr/>
          <p:nvPr/>
        </p:nvSpPr>
        <p:spPr>
          <a:xfrm>
            <a:off x="548640" y="2651760"/>
            <a:ext cx="8046720" cy="1737360"/>
          </a:xfrm>
          <a:prstGeom prst="rect">
            <a:avLst/>
          </a:prstGeom>
          <a:noFill/>
          <a:ln/>
        </p:spPr>
        <p:txBody>
          <a:bodyPr wrap="square" rtlCol="0" anchor="t"/>
          <a:lstStyle/>
          <a:p>
            <a:pPr marL="0" indent="0" algn="l">
              <a:lnSpc>
                <a:spcPct val="130000"/>
              </a:lnSpc>
              <a:buNone/>
            </a:pPr>
            <a:r>
              <a:rPr lang="en-US" sz="1350" dirty="0">
                <a:solidFill>
                  <a:srgbClr val="2B2420"/>
                </a:solidFill>
                <a:latin typeface="Calibri" pitchFamily="34" charset="0"/>
                <a:ea typeface="Calibri" pitchFamily="34" charset="-122"/>
                <a:cs typeface="Calibri" pitchFamily="34" charset="-120"/>
              </a:rPr>
              <a:t>This presentation is based on the project “Evaluation of Academic Performance of Students,” carried out by Soumacharyya Paul, Debargho Pramanik, Kaustab Jana, Tuhin Sadhukhan, Sukanya Maji, Mahi Gupta, Piyali Majhi and Salma Khatun, students of the Diploma 4th Semester 2025-2026 batch, Department of Information Technology and Engineering, Dasnagar Govt. Polytechnic.</a:t>
            </a:r>
            <a:endParaRPr lang="en-US" sz="13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6B1A1A"/>
          </a:solidFill>
          <a:ln w="12700">
            <a:solidFill>
              <a:srgbClr val="6B1A1A"/>
            </a:solidFill>
            <a:prstDash val="solid"/>
          </a:ln>
        </p:spPr>
      </p:sp>
      <p:sp>
        <p:nvSpPr>
          <p:cNvPr id="3" name="Text 1"/>
          <p:cNvSpPr/>
          <p:nvPr/>
        </p:nvSpPr>
        <p:spPr>
          <a:xfrm>
            <a:off x="365760" y="0"/>
            <a:ext cx="8412480" cy="777240"/>
          </a:xfrm>
          <a:prstGeom prst="rect">
            <a:avLst/>
          </a:prstGeom>
          <a:noFill/>
          <a:ln/>
        </p:spPr>
        <p:txBody>
          <a:bodyPr wrap="square" lIns="0" tIns="0" rIns="0" bIns="0" rtlCol="0" anchor="ctr"/>
          <a:lstStyle/>
          <a:p>
            <a:pPr marL="0" indent="0">
              <a:buNone/>
            </a:pPr>
            <a:r>
              <a:rPr lang="en-US" sz="2400" b="1" dirty="0">
                <a:solidFill>
                  <a:srgbClr val="FFFFFF"/>
                </a:solidFill>
                <a:latin typeface="Cambria" pitchFamily="34" charset="0"/>
                <a:ea typeface="Cambria" pitchFamily="34" charset="-122"/>
                <a:cs typeface="Cambria" pitchFamily="34" charset="-120"/>
              </a:rPr>
              <a:t>Index Page</a:t>
            </a:r>
            <a:endParaRPr lang="en-US" sz="2400" dirty="0"/>
          </a:p>
        </p:txBody>
      </p:sp>
      <p:sp>
        <p:nvSpPr>
          <p:cNvPr id="4" name="Shape 2"/>
          <p:cNvSpPr/>
          <p:nvPr/>
        </p:nvSpPr>
        <p:spPr>
          <a:xfrm>
            <a:off x="365760" y="932688"/>
            <a:ext cx="8412480" cy="658368"/>
          </a:xfrm>
          <a:prstGeom prst="rect">
            <a:avLst/>
          </a:prstGeom>
          <a:solidFill>
            <a:srgbClr val="F2F2F2"/>
          </a:solidFill>
          <a:ln w="12700">
            <a:solidFill>
              <a:srgbClr val="F2F2F2"/>
            </a:solidFill>
            <a:prstDash val="solid"/>
          </a:ln>
        </p:spPr>
      </p:sp>
      <p:sp>
        <p:nvSpPr>
          <p:cNvPr id="5" name="Text 3"/>
          <p:cNvSpPr/>
          <p:nvPr/>
        </p:nvSpPr>
        <p:spPr>
          <a:xfrm>
            <a:off x="502920" y="1005840"/>
            <a:ext cx="457200" cy="457200"/>
          </a:xfrm>
          <a:prstGeom prst="rect">
            <a:avLst/>
          </a:prstGeom>
          <a:noFill/>
          <a:ln/>
        </p:spPr>
        <p:txBody>
          <a:bodyPr wrap="square" rtlCol="0" anchor="ctr"/>
          <a:lstStyle/>
          <a:p>
            <a:pPr marL="0" indent="0">
              <a:buNone/>
            </a:pPr>
            <a:r>
              <a:rPr lang="en-US" sz="1600" b="1" dirty="0">
                <a:solidFill>
                  <a:srgbClr val="6B1A1A"/>
                </a:solidFill>
                <a:latin typeface="Cambria" pitchFamily="34" charset="0"/>
                <a:ea typeface="Cambria" pitchFamily="34" charset="-122"/>
                <a:cs typeface="Cambria" pitchFamily="34" charset="-120"/>
              </a:rPr>
              <a:t>01</a:t>
            </a:r>
            <a:endParaRPr lang="en-US" sz="1600" dirty="0"/>
          </a:p>
        </p:txBody>
      </p:sp>
      <p:sp>
        <p:nvSpPr>
          <p:cNvPr id="6" name="Text 4"/>
          <p:cNvSpPr/>
          <p:nvPr/>
        </p:nvSpPr>
        <p:spPr>
          <a:xfrm>
            <a:off x="1097280" y="1042416"/>
            <a:ext cx="6858000" cy="411480"/>
          </a:xfrm>
          <a:prstGeom prst="rect">
            <a:avLst/>
          </a:prstGeom>
          <a:noFill/>
          <a:ln/>
        </p:spPr>
        <p:txBody>
          <a:bodyPr wrap="square" rtlCol="0" anchor="ctr"/>
          <a:lstStyle/>
          <a:p>
            <a:pPr marL="0" indent="0">
              <a:buNone/>
            </a:pPr>
            <a:r>
              <a:rPr lang="en-US" sz="1600" dirty="0">
                <a:solidFill>
                  <a:srgbClr val="1A1A1A"/>
                </a:solidFill>
                <a:latin typeface="Calibri" pitchFamily="34" charset="0"/>
                <a:ea typeface="Calibri" pitchFamily="34" charset="-122"/>
                <a:cs typeface="Calibri" pitchFamily="34" charset="-120"/>
              </a:rPr>
              <a:t>Problem Statement</a:t>
            </a:r>
            <a:endParaRPr lang="en-US" sz="1600" dirty="0"/>
          </a:p>
        </p:txBody>
      </p:sp>
      <p:sp>
        <p:nvSpPr>
          <p:cNvPr id="7" name="Shape 5"/>
          <p:cNvSpPr/>
          <p:nvPr/>
        </p:nvSpPr>
        <p:spPr>
          <a:xfrm>
            <a:off x="365760" y="1591056"/>
            <a:ext cx="8412480" cy="18288"/>
          </a:xfrm>
          <a:prstGeom prst="rect">
            <a:avLst/>
          </a:prstGeom>
          <a:solidFill>
            <a:srgbClr val="CCCCCC"/>
          </a:solidFill>
          <a:ln w="12700">
            <a:solidFill>
              <a:srgbClr val="CCCCCC"/>
            </a:solidFill>
            <a:prstDash val="solid"/>
          </a:ln>
        </p:spPr>
      </p:sp>
      <p:sp>
        <p:nvSpPr>
          <p:cNvPr id="8" name="Text 6"/>
          <p:cNvSpPr/>
          <p:nvPr/>
        </p:nvSpPr>
        <p:spPr>
          <a:xfrm>
            <a:off x="502920" y="1755648"/>
            <a:ext cx="457200" cy="457200"/>
          </a:xfrm>
          <a:prstGeom prst="rect">
            <a:avLst/>
          </a:prstGeom>
          <a:noFill/>
          <a:ln/>
        </p:spPr>
        <p:txBody>
          <a:bodyPr wrap="square" rtlCol="0" anchor="ctr"/>
          <a:lstStyle/>
          <a:p>
            <a:pPr marL="0" indent="0">
              <a:buNone/>
            </a:pPr>
            <a:r>
              <a:rPr lang="en-US" sz="1600" b="1" dirty="0">
                <a:solidFill>
                  <a:srgbClr val="6B1A1A"/>
                </a:solidFill>
                <a:latin typeface="Cambria" pitchFamily="34" charset="0"/>
                <a:ea typeface="Cambria" pitchFamily="34" charset="-122"/>
                <a:cs typeface="Cambria" pitchFamily="34" charset="-120"/>
              </a:rPr>
              <a:t>02</a:t>
            </a:r>
            <a:endParaRPr lang="en-US" sz="1600" dirty="0"/>
          </a:p>
        </p:txBody>
      </p:sp>
      <p:sp>
        <p:nvSpPr>
          <p:cNvPr id="9" name="Text 7"/>
          <p:cNvSpPr/>
          <p:nvPr/>
        </p:nvSpPr>
        <p:spPr>
          <a:xfrm>
            <a:off x="1097280" y="1792224"/>
            <a:ext cx="6858000" cy="411480"/>
          </a:xfrm>
          <a:prstGeom prst="rect">
            <a:avLst/>
          </a:prstGeom>
          <a:noFill/>
          <a:ln/>
        </p:spPr>
        <p:txBody>
          <a:bodyPr wrap="square" rtlCol="0" anchor="ctr"/>
          <a:lstStyle/>
          <a:p>
            <a:pPr marL="0" indent="0">
              <a:buNone/>
            </a:pPr>
            <a:r>
              <a:rPr lang="en-US" sz="1600" dirty="0">
                <a:solidFill>
                  <a:srgbClr val="1A1A1A"/>
                </a:solidFill>
                <a:latin typeface="Calibri" pitchFamily="34" charset="0"/>
                <a:ea typeface="Calibri" pitchFamily="34" charset="-122"/>
                <a:cs typeface="Calibri" pitchFamily="34" charset="-120"/>
              </a:rPr>
              <a:t>Objective</a:t>
            </a:r>
            <a:endParaRPr lang="en-US" sz="1600" dirty="0"/>
          </a:p>
        </p:txBody>
      </p:sp>
      <p:sp>
        <p:nvSpPr>
          <p:cNvPr id="10" name="Shape 8"/>
          <p:cNvSpPr/>
          <p:nvPr/>
        </p:nvSpPr>
        <p:spPr>
          <a:xfrm>
            <a:off x="365760" y="2340864"/>
            <a:ext cx="8412480" cy="18288"/>
          </a:xfrm>
          <a:prstGeom prst="rect">
            <a:avLst/>
          </a:prstGeom>
          <a:solidFill>
            <a:srgbClr val="CCCCCC"/>
          </a:solidFill>
          <a:ln w="12700">
            <a:solidFill>
              <a:srgbClr val="CCCCCC"/>
            </a:solidFill>
            <a:prstDash val="solid"/>
          </a:ln>
        </p:spPr>
      </p:sp>
      <p:sp>
        <p:nvSpPr>
          <p:cNvPr id="11" name="Shape 9"/>
          <p:cNvSpPr/>
          <p:nvPr/>
        </p:nvSpPr>
        <p:spPr>
          <a:xfrm>
            <a:off x="365760" y="2432304"/>
            <a:ext cx="8412480" cy="658368"/>
          </a:xfrm>
          <a:prstGeom prst="rect">
            <a:avLst/>
          </a:prstGeom>
          <a:solidFill>
            <a:srgbClr val="F2F2F2"/>
          </a:solidFill>
          <a:ln w="12700">
            <a:solidFill>
              <a:srgbClr val="F2F2F2"/>
            </a:solidFill>
            <a:prstDash val="solid"/>
          </a:ln>
        </p:spPr>
      </p:sp>
      <p:sp>
        <p:nvSpPr>
          <p:cNvPr id="12" name="Text 10"/>
          <p:cNvSpPr/>
          <p:nvPr/>
        </p:nvSpPr>
        <p:spPr>
          <a:xfrm>
            <a:off x="502920" y="2505456"/>
            <a:ext cx="457200" cy="457200"/>
          </a:xfrm>
          <a:prstGeom prst="rect">
            <a:avLst/>
          </a:prstGeom>
          <a:noFill/>
          <a:ln/>
        </p:spPr>
        <p:txBody>
          <a:bodyPr wrap="square" rtlCol="0" anchor="ctr"/>
          <a:lstStyle/>
          <a:p>
            <a:pPr marL="0" indent="0">
              <a:buNone/>
            </a:pPr>
            <a:r>
              <a:rPr lang="en-US" sz="1600" b="1" dirty="0">
                <a:solidFill>
                  <a:srgbClr val="6B1A1A"/>
                </a:solidFill>
                <a:latin typeface="Cambria" pitchFamily="34" charset="0"/>
                <a:ea typeface="Cambria" pitchFamily="34" charset="-122"/>
                <a:cs typeface="Cambria" pitchFamily="34" charset="-120"/>
              </a:rPr>
              <a:t>03</a:t>
            </a:r>
            <a:endParaRPr lang="en-US" sz="1600" dirty="0"/>
          </a:p>
        </p:txBody>
      </p:sp>
      <p:sp>
        <p:nvSpPr>
          <p:cNvPr id="13" name="Text 11"/>
          <p:cNvSpPr/>
          <p:nvPr/>
        </p:nvSpPr>
        <p:spPr>
          <a:xfrm>
            <a:off x="1097280" y="2542032"/>
            <a:ext cx="6858000" cy="411480"/>
          </a:xfrm>
          <a:prstGeom prst="rect">
            <a:avLst/>
          </a:prstGeom>
          <a:noFill/>
          <a:ln/>
        </p:spPr>
        <p:txBody>
          <a:bodyPr wrap="square" rtlCol="0" anchor="ctr"/>
          <a:lstStyle/>
          <a:p>
            <a:pPr marL="0" indent="0">
              <a:buNone/>
            </a:pPr>
            <a:r>
              <a:rPr lang="en-US" sz="1600" dirty="0">
                <a:solidFill>
                  <a:srgbClr val="1A1A1A"/>
                </a:solidFill>
                <a:latin typeface="Calibri" pitchFamily="34" charset="0"/>
                <a:ea typeface="Calibri" pitchFamily="34" charset="-122"/>
                <a:cs typeface="Calibri" pitchFamily="34" charset="-120"/>
              </a:rPr>
              <a:t>Technology Used</a:t>
            </a:r>
            <a:endParaRPr lang="en-US" sz="1600" dirty="0"/>
          </a:p>
        </p:txBody>
      </p:sp>
      <p:sp>
        <p:nvSpPr>
          <p:cNvPr id="14" name="Shape 12"/>
          <p:cNvSpPr/>
          <p:nvPr/>
        </p:nvSpPr>
        <p:spPr>
          <a:xfrm>
            <a:off x="365760" y="3090672"/>
            <a:ext cx="8412480" cy="18288"/>
          </a:xfrm>
          <a:prstGeom prst="rect">
            <a:avLst/>
          </a:prstGeom>
          <a:solidFill>
            <a:srgbClr val="CCCCCC"/>
          </a:solidFill>
          <a:ln w="12700">
            <a:solidFill>
              <a:srgbClr val="CCCCCC"/>
            </a:solidFill>
            <a:prstDash val="solid"/>
          </a:ln>
        </p:spPr>
      </p:sp>
      <p:sp>
        <p:nvSpPr>
          <p:cNvPr id="15" name="Text 13"/>
          <p:cNvSpPr/>
          <p:nvPr/>
        </p:nvSpPr>
        <p:spPr>
          <a:xfrm>
            <a:off x="502920" y="3255264"/>
            <a:ext cx="457200" cy="457200"/>
          </a:xfrm>
          <a:prstGeom prst="rect">
            <a:avLst/>
          </a:prstGeom>
          <a:noFill/>
          <a:ln/>
        </p:spPr>
        <p:txBody>
          <a:bodyPr wrap="square" rtlCol="0" anchor="ctr"/>
          <a:lstStyle/>
          <a:p>
            <a:pPr marL="0" indent="0">
              <a:buNone/>
            </a:pPr>
            <a:r>
              <a:rPr lang="en-US" sz="1600" b="1" dirty="0">
                <a:solidFill>
                  <a:srgbClr val="6B1A1A"/>
                </a:solidFill>
                <a:latin typeface="Cambria" pitchFamily="34" charset="0"/>
                <a:ea typeface="Cambria" pitchFamily="34" charset="-122"/>
                <a:cs typeface="Cambria" pitchFamily="34" charset="-120"/>
              </a:rPr>
              <a:t>04</a:t>
            </a:r>
            <a:endParaRPr lang="en-US" sz="1600" dirty="0"/>
          </a:p>
        </p:txBody>
      </p:sp>
      <p:sp>
        <p:nvSpPr>
          <p:cNvPr id="16" name="Text 14"/>
          <p:cNvSpPr/>
          <p:nvPr/>
        </p:nvSpPr>
        <p:spPr>
          <a:xfrm>
            <a:off x="1097280" y="3291840"/>
            <a:ext cx="6858000" cy="411480"/>
          </a:xfrm>
          <a:prstGeom prst="rect">
            <a:avLst/>
          </a:prstGeom>
          <a:noFill/>
          <a:ln/>
        </p:spPr>
        <p:txBody>
          <a:bodyPr wrap="square" rtlCol="0" anchor="ctr"/>
          <a:lstStyle/>
          <a:p>
            <a:pPr marL="0" indent="0">
              <a:buNone/>
            </a:pPr>
            <a:r>
              <a:rPr lang="en-US" sz="1600" dirty="0">
                <a:solidFill>
                  <a:srgbClr val="1A1A1A"/>
                </a:solidFill>
                <a:latin typeface="Calibri" pitchFamily="34" charset="0"/>
                <a:ea typeface="Calibri" pitchFamily="34" charset="-122"/>
                <a:cs typeface="Calibri" pitchFamily="34" charset="-120"/>
              </a:rPr>
              <a:t>Project Work Flow</a:t>
            </a:r>
            <a:endParaRPr lang="en-US" sz="1600" dirty="0"/>
          </a:p>
        </p:txBody>
      </p:sp>
      <p:sp>
        <p:nvSpPr>
          <p:cNvPr id="17" name="Shape 15"/>
          <p:cNvSpPr/>
          <p:nvPr/>
        </p:nvSpPr>
        <p:spPr>
          <a:xfrm>
            <a:off x="365760" y="3840480"/>
            <a:ext cx="8412480" cy="18288"/>
          </a:xfrm>
          <a:prstGeom prst="rect">
            <a:avLst/>
          </a:prstGeom>
          <a:solidFill>
            <a:srgbClr val="CCCCCC"/>
          </a:solidFill>
          <a:ln w="12700">
            <a:solidFill>
              <a:srgbClr val="CCCCCC"/>
            </a:solidFill>
            <a:prstDash val="solid"/>
          </a:ln>
        </p:spPr>
      </p:sp>
      <p:sp>
        <p:nvSpPr>
          <p:cNvPr id="18" name="Shape 16"/>
          <p:cNvSpPr/>
          <p:nvPr/>
        </p:nvSpPr>
        <p:spPr>
          <a:xfrm>
            <a:off x="365760" y="3931920"/>
            <a:ext cx="8412480" cy="658368"/>
          </a:xfrm>
          <a:prstGeom prst="rect">
            <a:avLst/>
          </a:prstGeom>
          <a:solidFill>
            <a:srgbClr val="F2F2F2"/>
          </a:solidFill>
          <a:ln w="12700">
            <a:solidFill>
              <a:srgbClr val="F2F2F2"/>
            </a:solidFill>
            <a:prstDash val="solid"/>
          </a:ln>
        </p:spPr>
      </p:sp>
      <p:sp>
        <p:nvSpPr>
          <p:cNvPr id="19" name="Text 17"/>
          <p:cNvSpPr/>
          <p:nvPr/>
        </p:nvSpPr>
        <p:spPr>
          <a:xfrm>
            <a:off x="502920" y="4005072"/>
            <a:ext cx="457200" cy="457200"/>
          </a:xfrm>
          <a:prstGeom prst="rect">
            <a:avLst/>
          </a:prstGeom>
          <a:noFill/>
          <a:ln/>
        </p:spPr>
        <p:txBody>
          <a:bodyPr wrap="square" rtlCol="0" anchor="ctr"/>
          <a:lstStyle/>
          <a:p>
            <a:pPr marL="0" indent="0">
              <a:buNone/>
            </a:pPr>
            <a:r>
              <a:rPr lang="en-US" sz="1600" b="1" dirty="0">
                <a:solidFill>
                  <a:srgbClr val="6B1A1A"/>
                </a:solidFill>
                <a:latin typeface="Cambria" pitchFamily="34" charset="0"/>
                <a:ea typeface="Cambria" pitchFamily="34" charset="-122"/>
                <a:cs typeface="Cambria" pitchFamily="34" charset="-120"/>
              </a:rPr>
              <a:t>05</a:t>
            </a:r>
            <a:endParaRPr lang="en-US" sz="1600" dirty="0"/>
          </a:p>
        </p:txBody>
      </p:sp>
      <p:sp>
        <p:nvSpPr>
          <p:cNvPr id="20" name="Text 18"/>
          <p:cNvSpPr/>
          <p:nvPr/>
        </p:nvSpPr>
        <p:spPr>
          <a:xfrm>
            <a:off x="1097280" y="4041648"/>
            <a:ext cx="6858000" cy="411480"/>
          </a:xfrm>
          <a:prstGeom prst="rect">
            <a:avLst/>
          </a:prstGeom>
          <a:noFill/>
          <a:ln/>
        </p:spPr>
        <p:txBody>
          <a:bodyPr wrap="square" rtlCol="0" anchor="ctr"/>
          <a:lstStyle/>
          <a:p>
            <a:pPr marL="0" indent="0">
              <a:buNone/>
            </a:pPr>
            <a:r>
              <a:rPr lang="en-US" sz="1600" dirty="0">
                <a:solidFill>
                  <a:srgbClr val="1A1A1A"/>
                </a:solidFill>
                <a:latin typeface="Calibri" pitchFamily="34" charset="0"/>
                <a:ea typeface="Calibri" pitchFamily="34" charset="-122"/>
                <a:cs typeface="Calibri" pitchFamily="34" charset="-120"/>
              </a:rPr>
              <a:t>Output Screenshots</a:t>
            </a:r>
            <a:endParaRPr lang="en-US" sz="1600" dirty="0"/>
          </a:p>
        </p:txBody>
      </p:sp>
      <p:sp>
        <p:nvSpPr>
          <p:cNvPr id="21" name="Shape 19"/>
          <p:cNvSpPr/>
          <p:nvPr/>
        </p:nvSpPr>
        <p:spPr>
          <a:xfrm>
            <a:off x="365760" y="4590288"/>
            <a:ext cx="8412480" cy="18288"/>
          </a:xfrm>
          <a:prstGeom prst="rect">
            <a:avLst/>
          </a:prstGeom>
          <a:solidFill>
            <a:srgbClr val="CCCCCC"/>
          </a:solidFill>
          <a:ln w="12700">
            <a:solidFill>
              <a:srgbClr val="CCCCCC"/>
            </a:solidFill>
            <a:prstDash val="solid"/>
          </a:ln>
        </p:spPr>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C586A8A0-112F-5A35-6E0A-3BFD169F69DA}"/>
              </a:ext>
            </a:extLst>
          </p:cNvPr>
          <p:cNvGraphicFramePr>
            <a:graphicFrameLocks noGrp="1"/>
          </p:cNvGraphicFramePr>
          <p:nvPr>
            <p:extLst>
              <p:ext uri="{D42A27DB-BD31-4B8C-83A1-F6EECF244321}">
                <p14:modId xmlns:p14="http://schemas.microsoft.com/office/powerpoint/2010/main" val="1725310848"/>
              </p:ext>
            </p:extLst>
          </p:nvPr>
        </p:nvGraphicFramePr>
        <p:xfrm>
          <a:off x="1" y="0"/>
          <a:ext cx="9143999" cy="827314"/>
        </p:xfrm>
        <a:graphic>
          <a:graphicData uri="http://schemas.openxmlformats.org/drawingml/2006/table">
            <a:tbl>
              <a:tblPr/>
              <a:tblGrid>
                <a:gridCol w="9143999">
                  <a:extLst>
                    <a:ext uri="{9D8B030D-6E8A-4147-A177-3AD203B41FA5}">
                      <a16:colId xmlns:a16="http://schemas.microsoft.com/office/drawing/2014/main" val="2433855685"/>
                    </a:ext>
                  </a:extLst>
                </a:gridCol>
              </a:tblGrid>
              <a:tr h="827314">
                <a:tc>
                  <a:txBody>
                    <a:bodyPr/>
                    <a:lstStyle/>
                    <a:p>
                      <a:pPr algn="l"/>
                      <a:r>
                        <a:rPr lang="en-IN" sz="2800" b="1" dirty="0">
                          <a:solidFill>
                            <a:schemeClr val="bg1"/>
                          </a:solidFill>
                          <a:latin typeface="Baskerville Old Face" panose="02020602080505020303" pitchFamily="18" charset="0"/>
                        </a:rPr>
                        <a:t>   Problem Statement</a:t>
                      </a:r>
                    </a:p>
                  </a:txBody>
                  <a:tcPr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rgbClr val="640013"/>
                    </a:solidFill>
                  </a:tcPr>
                </a:tc>
                <a:extLst>
                  <a:ext uri="{0D108BD9-81ED-4DB2-BD59-A6C34878D82A}">
                    <a16:rowId xmlns:a16="http://schemas.microsoft.com/office/drawing/2014/main" val="1138994178"/>
                  </a:ext>
                </a:extLst>
              </a:tr>
            </a:tbl>
          </a:graphicData>
        </a:graphic>
      </p:graphicFrame>
      <p:sp>
        <p:nvSpPr>
          <p:cNvPr id="3" name="Text 2">
            <a:extLst>
              <a:ext uri="{FF2B5EF4-FFF2-40B4-BE49-F238E27FC236}">
                <a16:creationId xmlns:a16="http://schemas.microsoft.com/office/drawing/2014/main" id="{A94C96E7-A565-2493-104B-810AD49D34FB}"/>
              </a:ext>
            </a:extLst>
          </p:cNvPr>
          <p:cNvSpPr/>
          <p:nvPr/>
        </p:nvSpPr>
        <p:spPr>
          <a:xfrm>
            <a:off x="548640" y="1103086"/>
            <a:ext cx="8046720" cy="3614056"/>
          </a:xfrm>
          <a:prstGeom prst="rect">
            <a:avLst/>
          </a:prstGeom>
          <a:noFill/>
          <a:ln/>
        </p:spPr>
        <p:txBody>
          <a:bodyPr wrap="square" rtlCol="0" anchor="t"/>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ct val="130000"/>
              </a:lnSpc>
              <a:buNone/>
            </a:pPr>
            <a:r>
              <a:rPr lang="en-US" sz="1350" dirty="0">
                <a:solidFill>
                  <a:srgbClr val="2B2420"/>
                </a:solidFill>
                <a:latin typeface="Calibri" pitchFamily="34" charset="0"/>
                <a:ea typeface="Calibri" pitchFamily="34" charset="-122"/>
                <a:cs typeface="Calibri" pitchFamily="34" charset="-120"/>
              </a:rPr>
              <a:t>Educational institutions deal with a large amount of student and teacher information every year, which is mostly maintained manually in registers or scattered across separate files. This makes it difficult to keep track of newly admitted students, organize their records properly, and retrieve the required information quickly whenever needed.</a:t>
            </a:r>
            <a:endParaRPr lang="en-US" sz="1350" dirty="0"/>
          </a:p>
          <a:p>
            <a:pPr marL="0" indent="0" algn="l">
              <a:lnSpc>
                <a:spcPct val="130000"/>
              </a:lnSpc>
              <a:buNone/>
            </a:pPr>
            <a:endParaRPr lang="en-US" sz="1350" dirty="0"/>
          </a:p>
          <a:p>
            <a:pPr marL="0" indent="0" algn="l">
              <a:lnSpc>
                <a:spcPct val="130000"/>
              </a:lnSpc>
              <a:buNone/>
            </a:pPr>
            <a:r>
              <a:rPr lang="en-US" sz="1350" dirty="0">
                <a:solidFill>
                  <a:srgbClr val="2B2420"/>
                </a:solidFill>
                <a:latin typeface="Calibri" pitchFamily="34" charset="0"/>
                <a:ea typeface="Calibri" pitchFamily="34" charset="-122"/>
                <a:cs typeface="Calibri" pitchFamily="34" charset="-120"/>
              </a:rPr>
              <a:t>There is, therefore, a genuine need for a system where the details of both students and teachers can be stored together in an organized manner, allowing the institution to manage this information in its own way and access it easily, without depending on scattered paper records.</a:t>
            </a:r>
            <a:endParaRPr lang="en-US" sz="1350" dirty="0"/>
          </a:p>
          <a:p>
            <a:pPr marL="0" indent="0" algn="l">
              <a:lnSpc>
                <a:spcPct val="130000"/>
              </a:lnSpc>
              <a:buNone/>
            </a:pPr>
            <a:endParaRPr lang="en-US" sz="1350" dirty="0"/>
          </a:p>
          <a:p>
            <a:pPr marL="0" indent="0" algn="l">
              <a:lnSpc>
                <a:spcPct val="130000"/>
              </a:lnSpc>
              <a:buNone/>
            </a:pPr>
            <a:r>
              <a:rPr lang="en-US" sz="1350" dirty="0">
                <a:solidFill>
                  <a:srgbClr val="2B2420"/>
                </a:solidFill>
                <a:latin typeface="Calibri" pitchFamily="34" charset="0"/>
                <a:ea typeface="Calibri" pitchFamily="34" charset="-122"/>
                <a:cs typeface="Calibri" pitchFamily="34" charset="-120"/>
              </a:rPr>
              <a:t>The “Evaluation of Academic Performance of Students” project has been undertaken with this very purpose in mind — to build a simple and organized platform that keeps student and teacher information in one place, so that the records of admitted students can be maintained, updated, and accessed conveniently whenever required.</a:t>
            </a:r>
            <a:endParaRPr lang="en-US" sz="13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6B1A1A"/>
          </a:solidFill>
          <a:ln w="12700">
            <a:solidFill>
              <a:srgbClr val="6B1A1A"/>
            </a:solidFill>
            <a:prstDash val="solid"/>
          </a:ln>
        </p:spPr>
      </p:sp>
      <p:sp>
        <p:nvSpPr>
          <p:cNvPr id="3" name="Text 1"/>
          <p:cNvSpPr/>
          <p:nvPr/>
        </p:nvSpPr>
        <p:spPr>
          <a:xfrm>
            <a:off x="365760" y="0"/>
            <a:ext cx="8412480" cy="777240"/>
          </a:xfrm>
          <a:prstGeom prst="rect">
            <a:avLst/>
          </a:prstGeom>
          <a:noFill/>
          <a:ln/>
        </p:spPr>
        <p:txBody>
          <a:bodyPr wrap="square" lIns="0" tIns="0" rIns="0" bIns="0" rtlCol="0" anchor="ctr"/>
          <a:lstStyle/>
          <a:p>
            <a:pPr marL="0" indent="0">
              <a:buNone/>
            </a:pPr>
            <a:r>
              <a:rPr lang="en-US" sz="2400" b="1" dirty="0">
                <a:solidFill>
                  <a:srgbClr val="FFFFFF"/>
                </a:solidFill>
                <a:latin typeface="Cambria" pitchFamily="34" charset="0"/>
                <a:ea typeface="Cambria" pitchFamily="34" charset="-122"/>
                <a:cs typeface="Cambria" pitchFamily="34" charset="-120"/>
              </a:rPr>
              <a:t>Objective</a:t>
            </a:r>
            <a:endParaRPr lang="en-US" sz="2400" dirty="0"/>
          </a:p>
        </p:txBody>
      </p:sp>
      <p:sp>
        <p:nvSpPr>
          <p:cNvPr id="4" name="Text 2"/>
          <p:cNvSpPr/>
          <p:nvPr/>
        </p:nvSpPr>
        <p:spPr>
          <a:xfrm>
            <a:off x="457200" y="896112"/>
            <a:ext cx="8229600" cy="475488"/>
          </a:xfrm>
          <a:prstGeom prst="rect">
            <a:avLst/>
          </a:prstGeom>
          <a:noFill/>
          <a:ln/>
        </p:spPr>
        <p:txBody>
          <a:bodyPr wrap="square" rtlCol="0" anchor="ctr"/>
          <a:lstStyle/>
          <a:p>
            <a:pPr marL="0" indent="0">
              <a:buNone/>
            </a:pPr>
            <a:r>
              <a:rPr lang="en-US" sz="1300" b="1" dirty="0">
                <a:solidFill>
                  <a:srgbClr val="555555"/>
                </a:solidFill>
                <a:latin typeface="Calibri" pitchFamily="34" charset="0"/>
                <a:ea typeface="Calibri" pitchFamily="34" charset="-122"/>
                <a:cs typeface="Calibri" pitchFamily="34" charset="-120"/>
              </a:rPr>
              <a:t>The main goal of EduEval Portal is to digitize and simplify the academic result management process for polytechnic institutions.</a:t>
            </a:r>
            <a:endParaRPr lang="en-US" sz="1300" b="1" dirty="0"/>
          </a:p>
        </p:txBody>
      </p:sp>
      <p:sp>
        <p:nvSpPr>
          <p:cNvPr id="6" name="Text 4"/>
          <p:cNvSpPr/>
          <p:nvPr/>
        </p:nvSpPr>
        <p:spPr>
          <a:xfrm>
            <a:off x="713232" y="1444752"/>
            <a:ext cx="8046720" cy="475488"/>
          </a:xfrm>
          <a:prstGeom prst="rect">
            <a:avLst/>
          </a:prstGeom>
          <a:noFill/>
          <a:ln/>
        </p:spPr>
        <p:txBody>
          <a:bodyPr wrap="square" rtlCol="0" anchor="ctr"/>
          <a:lstStyle/>
          <a:p>
            <a:pPr marL="285750" indent="-285750">
              <a:buFont typeface="Wingdings" panose="05000000000000000000" pitchFamily="2" charset="2"/>
              <a:buChar char="q"/>
            </a:pPr>
            <a:r>
              <a:rPr lang="en-US" sz="1250" dirty="0">
                <a:solidFill>
                  <a:srgbClr val="1A1A1A"/>
                </a:solidFill>
                <a:latin typeface="Calibri" pitchFamily="34" charset="0"/>
                <a:ea typeface="Calibri" pitchFamily="34" charset="-122"/>
                <a:cs typeface="Calibri" pitchFamily="34" charset="-120"/>
              </a:rPr>
              <a:t>Build a secure, role-based login system for Teachers and Students.</a:t>
            </a:r>
            <a:endParaRPr lang="en-US" sz="1250" dirty="0"/>
          </a:p>
        </p:txBody>
      </p:sp>
      <p:sp>
        <p:nvSpPr>
          <p:cNvPr id="8" name="Text 6"/>
          <p:cNvSpPr/>
          <p:nvPr/>
        </p:nvSpPr>
        <p:spPr>
          <a:xfrm>
            <a:off x="713232" y="2020824"/>
            <a:ext cx="8046720" cy="475488"/>
          </a:xfrm>
          <a:prstGeom prst="rect">
            <a:avLst/>
          </a:prstGeom>
          <a:noFill/>
          <a:ln/>
        </p:spPr>
        <p:txBody>
          <a:bodyPr wrap="square" rtlCol="0" anchor="ctr"/>
          <a:lstStyle/>
          <a:p>
            <a:pPr marL="285750" indent="-285750">
              <a:buFont typeface="Wingdings" panose="05000000000000000000" pitchFamily="2" charset="2"/>
              <a:buChar char="q"/>
            </a:pPr>
            <a:r>
              <a:rPr lang="en-US" sz="1250" dirty="0">
                <a:solidFill>
                  <a:srgbClr val="1A1A1A"/>
                </a:solidFill>
                <a:latin typeface="Calibri" pitchFamily="34" charset="0"/>
                <a:ea typeface="Calibri" pitchFamily="34" charset="-122"/>
                <a:cs typeface="Calibri" pitchFamily="34" charset="-120"/>
              </a:rPr>
              <a:t>Allow teachers to register students, publish results, and edit academic data from a single dashboard.</a:t>
            </a:r>
            <a:endParaRPr lang="en-US" sz="1250" dirty="0"/>
          </a:p>
        </p:txBody>
      </p:sp>
      <p:sp>
        <p:nvSpPr>
          <p:cNvPr id="10" name="Text 8"/>
          <p:cNvSpPr/>
          <p:nvPr/>
        </p:nvSpPr>
        <p:spPr>
          <a:xfrm>
            <a:off x="713232" y="2596896"/>
            <a:ext cx="8046720" cy="475488"/>
          </a:xfrm>
          <a:prstGeom prst="rect">
            <a:avLst/>
          </a:prstGeom>
          <a:noFill/>
          <a:ln/>
        </p:spPr>
        <p:txBody>
          <a:bodyPr wrap="square" rtlCol="0" anchor="ctr"/>
          <a:lstStyle/>
          <a:p>
            <a:pPr marL="285750" indent="-285750">
              <a:buFont typeface="Wingdings" panose="05000000000000000000" pitchFamily="2" charset="2"/>
              <a:buChar char="q"/>
            </a:pPr>
            <a:r>
              <a:rPr lang="en-US" sz="1250" dirty="0">
                <a:solidFill>
                  <a:srgbClr val="1A1A1A"/>
                </a:solidFill>
                <a:latin typeface="Calibri" pitchFamily="34" charset="0"/>
                <a:ea typeface="Calibri" pitchFamily="34" charset="-122"/>
                <a:cs typeface="Calibri" pitchFamily="34" charset="-120"/>
              </a:rPr>
              <a:t>Allow students to log in using their Registration ID, view subject-wise marks, CGPA, and result status.</a:t>
            </a:r>
            <a:endParaRPr lang="en-US" sz="1250" dirty="0"/>
          </a:p>
        </p:txBody>
      </p:sp>
      <p:sp>
        <p:nvSpPr>
          <p:cNvPr id="12" name="Text 10"/>
          <p:cNvSpPr/>
          <p:nvPr/>
        </p:nvSpPr>
        <p:spPr>
          <a:xfrm>
            <a:off x="713232" y="3172968"/>
            <a:ext cx="8046720" cy="475488"/>
          </a:xfrm>
          <a:prstGeom prst="rect">
            <a:avLst/>
          </a:prstGeom>
          <a:noFill/>
          <a:ln/>
        </p:spPr>
        <p:txBody>
          <a:bodyPr wrap="square" rtlCol="0" anchor="ctr"/>
          <a:lstStyle/>
          <a:p>
            <a:pPr marL="285750" indent="-285750">
              <a:buFont typeface="Wingdings" panose="05000000000000000000" pitchFamily="2" charset="2"/>
              <a:buChar char="q"/>
            </a:pPr>
            <a:r>
              <a:rPr lang="en-US" sz="1250" dirty="0">
                <a:solidFill>
                  <a:srgbClr val="1A1A1A"/>
                </a:solidFill>
                <a:latin typeface="Calibri" pitchFamily="34" charset="0"/>
                <a:ea typeface="Calibri" pitchFamily="34" charset="-122"/>
                <a:cs typeface="Calibri" pitchFamily="34" charset="-120"/>
              </a:rPr>
              <a:t>Implement a PDF report download feature so students can save or print their official academic result.</a:t>
            </a:r>
            <a:endParaRPr lang="en-US" sz="1250" dirty="0"/>
          </a:p>
        </p:txBody>
      </p:sp>
      <p:sp>
        <p:nvSpPr>
          <p:cNvPr id="14" name="Text 12"/>
          <p:cNvSpPr/>
          <p:nvPr/>
        </p:nvSpPr>
        <p:spPr>
          <a:xfrm>
            <a:off x="713232" y="3749040"/>
            <a:ext cx="8046720" cy="475488"/>
          </a:xfrm>
          <a:prstGeom prst="rect">
            <a:avLst/>
          </a:prstGeom>
          <a:noFill/>
          <a:ln/>
        </p:spPr>
        <p:txBody>
          <a:bodyPr wrap="square" rtlCol="0" anchor="ctr"/>
          <a:lstStyle/>
          <a:p>
            <a:pPr marL="285750" indent="-285750">
              <a:buFont typeface="Wingdings" panose="05000000000000000000" pitchFamily="2" charset="2"/>
              <a:buChar char="q"/>
            </a:pPr>
            <a:r>
              <a:rPr lang="en-US" sz="1250" dirty="0">
                <a:solidFill>
                  <a:srgbClr val="1A1A1A"/>
                </a:solidFill>
                <a:latin typeface="Calibri" pitchFamily="34" charset="0"/>
                <a:ea typeface="Calibri" pitchFamily="34" charset="-122"/>
                <a:cs typeface="Calibri" pitchFamily="34" charset="-120"/>
              </a:rPr>
              <a:t>Provide a live in-portal chat feature for real-time communication between teachers and students.</a:t>
            </a:r>
            <a:endParaRPr lang="en-US" sz="1250" dirty="0"/>
          </a:p>
        </p:txBody>
      </p:sp>
      <p:sp>
        <p:nvSpPr>
          <p:cNvPr id="16" name="Text 14"/>
          <p:cNvSpPr/>
          <p:nvPr/>
        </p:nvSpPr>
        <p:spPr>
          <a:xfrm>
            <a:off x="713232" y="4325112"/>
            <a:ext cx="8046720" cy="475488"/>
          </a:xfrm>
          <a:prstGeom prst="rect">
            <a:avLst/>
          </a:prstGeom>
          <a:noFill/>
          <a:ln/>
        </p:spPr>
        <p:txBody>
          <a:bodyPr wrap="square" rtlCol="0" anchor="ctr"/>
          <a:lstStyle/>
          <a:p>
            <a:pPr marL="285750" indent="-285750">
              <a:buFont typeface="Wingdings" panose="05000000000000000000" pitchFamily="2" charset="2"/>
              <a:buChar char="q"/>
            </a:pPr>
            <a:r>
              <a:rPr lang="en-US" sz="1250" dirty="0">
                <a:solidFill>
                  <a:srgbClr val="1A1A1A"/>
                </a:solidFill>
                <a:latin typeface="Calibri" pitchFamily="34" charset="0"/>
                <a:ea typeface="Calibri" pitchFamily="34" charset="-122"/>
                <a:cs typeface="Calibri" pitchFamily="34" charset="-120"/>
              </a:rPr>
              <a:t>Ensure data integrity with server-side validation, session management, and parameterized SQL queries.</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6B1A1A"/>
          </a:solidFill>
          <a:ln w="12700">
            <a:solidFill>
              <a:srgbClr val="6B1A1A"/>
            </a:solidFill>
            <a:prstDash val="solid"/>
          </a:ln>
        </p:spPr>
      </p:sp>
      <p:sp>
        <p:nvSpPr>
          <p:cNvPr id="3" name="Text 1"/>
          <p:cNvSpPr/>
          <p:nvPr/>
        </p:nvSpPr>
        <p:spPr>
          <a:xfrm>
            <a:off x="365760" y="0"/>
            <a:ext cx="8412480" cy="777240"/>
          </a:xfrm>
          <a:prstGeom prst="rect">
            <a:avLst/>
          </a:prstGeom>
          <a:noFill/>
          <a:ln/>
        </p:spPr>
        <p:txBody>
          <a:bodyPr wrap="square" lIns="0" tIns="0" rIns="0" bIns="0" rtlCol="0" anchor="ctr"/>
          <a:lstStyle/>
          <a:p>
            <a:pPr marL="0" indent="0">
              <a:buNone/>
            </a:pPr>
            <a:r>
              <a:rPr lang="en-US" sz="2400" b="1" dirty="0">
                <a:solidFill>
                  <a:srgbClr val="FFFFFF"/>
                </a:solidFill>
                <a:latin typeface="Cambria" pitchFamily="34" charset="0"/>
                <a:ea typeface="Cambria" pitchFamily="34" charset="-122"/>
                <a:cs typeface="Cambria" pitchFamily="34" charset="-120"/>
              </a:rPr>
              <a:t>Technology Used</a:t>
            </a:r>
            <a:endParaRPr lang="en-US" sz="2400" dirty="0"/>
          </a:p>
        </p:txBody>
      </p:sp>
      <p:sp>
        <p:nvSpPr>
          <p:cNvPr id="4" name="Shape 2"/>
          <p:cNvSpPr/>
          <p:nvPr/>
        </p:nvSpPr>
        <p:spPr>
          <a:xfrm>
            <a:off x="365760" y="877824"/>
            <a:ext cx="8412480" cy="621792"/>
          </a:xfrm>
          <a:prstGeom prst="rect">
            <a:avLst/>
          </a:prstGeom>
          <a:solidFill>
            <a:srgbClr val="F2F2F2"/>
          </a:solidFill>
          <a:ln w="12700">
            <a:solidFill>
              <a:srgbClr val="F2F2F2"/>
            </a:solidFill>
            <a:prstDash val="solid"/>
          </a:ln>
        </p:spPr>
        <p:txBody>
          <a:bodyPr/>
          <a:lstStyle/>
          <a:p>
            <a:endParaRPr lang="en-IN" dirty="0"/>
          </a:p>
        </p:txBody>
      </p:sp>
      <p:sp>
        <p:nvSpPr>
          <p:cNvPr id="5" name="Text 3"/>
          <p:cNvSpPr/>
          <p:nvPr/>
        </p:nvSpPr>
        <p:spPr>
          <a:xfrm>
            <a:off x="502920" y="969264"/>
            <a:ext cx="1920240" cy="365760"/>
          </a:xfrm>
          <a:prstGeom prst="rect">
            <a:avLst/>
          </a:prstGeom>
          <a:noFill/>
          <a:ln/>
        </p:spPr>
        <p:txBody>
          <a:bodyPr wrap="square" lIns="0" tIns="0" rIns="0" bIns="0" rtlCol="0" anchor="ctr"/>
          <a:lstStyle/>
          <a:p>
            <a:pPr marL="0" indent="0">
              <a:buNone/>
            </a:pPr>
            <a:r>
              <a:rPr lang="en-US" sz="1300" b="1" dirty="0">
                <a:solidFill>
                  <a:srgbClr val="6B1A1A"/>
                </a:solidFill>
                <a:latin typeface="Cambria" pitchFamily="34" charset="0"/>
                <a:ea typeface="Cambria" pitchFamily="34" charset="-122"/>
                <a:cs typeface="Cambria" pitchFamily="34" charset="-120"/>
              </a:rPr>
              <a:t>PHP </a:t>
            </a:r>
            <a:endParaRPr lang="en-US" sz="1300" dirty="0"/>
          </a:p>
        </p:txBody>
      </p:sp>
      <p:sp>
        <p:nvSpPr>
          <p:cNvPr id="6" name="Text 4"/>
          <p:cNvSpPr/>
          <p:nvPr/>
        </p:nvSpPr>
        <p:spPr>
          <a:xfrm>
            <a:off x="2606040" y="969264"/>
            <a:ext cx="6217920" cy="457200"/>
          </a:xfrm>
          <a:prstGeom prst="rect">
            <a:avLst/>
          </a:prstGeom>
          <a:noFill/>
          <a:ln/>
        </p:spPr>
        <p:txBody>
          <a:bodyPr wrap="square" lIns="0" tIns="0" rIns="0" bIns="0" rtlCol="0" anchor="ctr"/>
          <a:lstStyle/>
          <a:p>
            <a:pPr marL="0" indent="0">
              <a:buNone/>
            </a:pPr>
            <a:r>
              <a:rPr lang="en-US" sz="1200" dirty="0">
                <a:solidFill>
                  <a:srgbClr val="1A1A1A"/>
                </a:solidFill>
                <a:latin typeface="Calibri" pitchFamily="34" charset="0"/>
                <a:ea typeface="Calibri" pitchFamily="34" charset="-122"/>
                <a:cs typeface="Calibri" pitchFamily="34" charset="-120"/>
              </a:rPr>
              <a:t>Server-side language used for handling login, session management, routing, and all database operations via PDO.</a:t>
            </a:r>
            <a:endParaRPr lang="en-US" sz="1200" dirty="0"/>
          </a:p>
        </p:txBody>
      </p:sp>
      <p:sp>
        <p:nvSpPr>
          <p:cNvPr id="7" name="Text 5"/>
          <p:cNvSpPr/>
          <p:nvPr/>
        </p:nvSpPr>
        <p:spPr>
          <a:xfrm>
            <a:off x="502920" y="1645920"/>
            <a:ext cx="1920240" cy="365760"/>
          </a:xfrm>
          <a:prstGeom prst="rect">
            <a:avLst/>
          </a:prstGeom>
          <a:noFill/>
          <a:ln/>
        </p:spPr>
        <p:txBody>
          <a:bodyPr wrap="square" lIns="0" tIns="0" rIns="0" bIns="0" rtlCol="0" anchor="ctr"/>
          <a:lstStyle/>
          <a:p>
            <a:pPr marL="0" indent="0">
              <a:buNone/>
            </a:pPr>
            <a:r>
              <a:rPr lang="en-US" sz="1300" b="1" dirty="0">
                <a:solidFill>
                  <a:srgbClr val="6B1A1A"/>
                </a:solidFill>
                <a:latin typeface="Cambria" pitchFamily="34" charset="0"/>
                <a:ea typeface="Cambria" pitchFamily="34" charset="-122"/>
                <a:cs typeface="Cambria" pitchFamily="34" charset="-120"/>
              </a:rPr>
              <a:t>MySQL</a:t>
            </a:r>
            <a:endParaRPr lang="en-US" sz="1300" dirty="0"/>
          </a:p>
        </p:txBody>
      </p:sp>
      <p:sp>
        <p:nvSpPr>
          <p:cNvPr id="8" name="Text 6"/>
          <p:cNvSpPr/>
          <p:nvPr/>
        </p:nvSpPr>
        <p:spPr>
          <a:xfrm>
            <a:off x="2606040" y="1645920"/>
            <a:ext cx="6217920" cy="457200"/>
          </a:xfrm>
          <a:prstGeom prst="rect">
            <a:avLst/>
          </a:prstGeom>
          <a:noFill/>
          <a:ln/>
        </p:spPr>
        <p:txBody>
          <a:bodyPr wrap="square" lIns="0" tIns="0" rIns="0" bIns="0" rtlCol="0" anchor="ctr"/>
          <a:lstStyle/>
          <a:p>
            <a:pPr marL="0" indent="0">
              <a:buNone/>
            </a:pPr>
            <a:r>
              <a:rPr lang="en-US" sz="1200" dirty="0">
                <a:solidFill>
                  <a:srgbClr val="1A1A1A"/>
                </a:solidFill>
                <a:latin typeface="Calibri" pitchFamily="34" charset="0"/>
                <a:ea typeface="Calibri" pitchFamily="34" charset="-122"/>
                <a:cs typeface="Calibri" pitchFamily="34" charset="-120"/>
              </a:rPr>
              <a:t>Relational database that stores users, student profiles, subject marks, result data, and chat messages.</a:t>
            </a:r>
            <a:endParaRPr lang="en-US" sz="1200" dirty="0"/>
          </a:p>
        </p:txBody>
      </p:sp>
      <p:sp>
        <p:nvSpPr>
          <p:cNvPr id="9" name="Shape 7"/>
          <p:cNvSpPr/>
          <p:nvPr/>
        </p:nvSpPr>
        <p:spPr>
          <a:xfrm>
            <a:off x="411480" y="2266653"/>
            <a:ext cx="8412480" cy="621792"/>
          </a:xfrm>
          <a:prstGeom prst="rect">
            <a:avLst/>
          </a:prstGeom>
          <a:solidFill>
            <a:srgbClr val="F2F2F2"/>
          </a:solidFill>
          <a:ln w="12700">
            <a:solidFill>
              <a:srgbClr val="F2F2F2"/>
            </a:solidFill>
            <a:prstDash val="solid"/>
          </a:ln>
        </p:spPr>
      </p:sp>
      <p:sp>
        <p:nvSpPr>
          <p:cNvPr id="10" name="Text 8"/>
          <p:cNvSpPr/>
          <p:nvPr/>
        </p:nvSpPr>
        <p:spPr>
          <a:xfrm>
            <a:off x="502920" y="2322576"/>
            <a:ext cx="1920240" cy="365760"/>
          </a:xfrm>
          <a:prstGeom prst="rect">
            <a:avLst/>
          </a:prstGeom>
          <a:noFill/>
          <a:ln/>
        </p:spPr>
        <p:txBody>
          <a:bodyPr wrap="square" lIns="0" tIns="0" rIns="0" bIns="0" rtlCol="0" anchor="ctr"/>
          <a:lstStyle/>
          <a:p>
            <a:pPr marL="0" indent="0">
              <a:buNone/>
            </a:pPr>
            <a:r>
              <a:rPr lang="en-US" sz="1300" b="1" dirty="0">
                <a:solidFill>
                  <a:srgbClr val="6B1A1A"/>
                </a:solidFill>
                <a:latin typeface="Cambria" pitchFamily="34" charset="0"/>
                <a:ea typeface="Cambria" pitchFamily="34" charset="-122"/>
                <a:cs typeface="Cambria" pitchFamily="34" charset="-120"/>
              </a:rPr>
              <a:t>HTML / CSS</a:t>
            </a:r>
            <a:endParaRPr lang="en-US" sz="1300" dirty="0"/>
          </a:p>
        </p:txBody>
      </p:sp>
      <p:sp>
        <p:nvSpPr>
          <p:cNvPr id="11" name="Text 9"/>
          <p:cNvSpPr/>
          <p:nvPr/>
        </p:nvSpPr>
        <p:spPr>
          <a:xfrm>
            <a:off x="2606040" y="2322576"/>
            <a:ext cx="6217920" cy="457200"/>
          </a:xfrm>
          <a:prstGeom prst="rect">
            <a:avLst/>
          </a:prstGeom>
          <a:noFill/>
          <a:ln/>
        </p:spPr>
        <p:txBody>
          <a:bodyPr wrap="square" lIns="0" tIns="0" rIns="0" bIns="0" rtlCol="0" anchor="ctr"/>
          <a:lstStyle/>
          <a:p>
            <a:pPr marL="0" indent="0">
              <a:buNone/>
            </a:pPr>
            <a:r>
              <a:rPr lang="en-US" sz="1200" dirty="0">
                <a:solidFill>
                  <a:srgbClr val="1A1A1A"/>
                </a:solidFill>
                <a:latin typeface="Calibri" pitchFamily="34" charset="0"/>
                <a:ea typeface="Calibri" pitchFamily="34" charset="-122"/>
                <a:cs typeface="Calibri" pitchFamily="34" charset="-120"/>
              </a:rPr>
              <a:t>Markup and styling for all pages — responsive layout, tab-based login UI, result card design using Flexbox.</a:t>
            </a:r>
            <a:endParaRPr lang="en-US" sz="1200" dirty="0"/>
          </a:p>
        </p:txBody>
      </p:sp>
      <p:sp>
        <p:nvSpPr>
          <p:cNvPr id="13" name="Text 11"/>
          <p:cNvSpPr/>
          <p:nvPr/>
        </p:nvSpPr>
        <p:spPr>
          <a:xfrm>
            <a:off x="2606040" y="2999232"/>
            <a:ext cx="6217920" cy="457200"/>
          </a:xfrm>
          <a:prstGeom prst="rect">
            <a:avLst/>
          </a:prstGeom>
          <a:noFill/>
          <a:ln/>
        </p:spPr>
        <p:txBody>
          <a:bodyPr wrap="square" lIns="0" tIns="0" rIns="0" bIns="0" rtlCol="0" anchor="ctr"/>
          <a:lstStyle/>
          <a:p>
            <a:pPr marL="0" indent="0">
              <a:buNone/>
            </a:pPr>
            <a:endParaRPr lang="en-US" sz="1200" dirty="0"/>
          </a:p>
        </p:txBody>
      </p:sp>
      <p:sp>
        <p:nvSpPr>
          <p:cNvPr id="17" name="Text 15"/>
          <p:cNvSpPr/>
          <p:nvPr/>
        </p:nvSpPr>
        <p:spPr>
          <a:xfrm>
            <a:off x="411480" y="2997115"/>
            <a:ext cx="8412480" cy="513122"/>
          </a:xfrm>
          <a:prstGeom prst="rect">
            <a:avLst/>
          </a:prstGeom>
          <a:noFill/>
          <a:ln/>
        </p:spPr>
        <p:txBody>
          <a:bodyPr wrap="square" lIns="0" tIns="0" rIns="0" bIns="0" rtlCol="0" anchor="ctr"/>
          <a:lstStyle/>
          <a:p>
            <a:pPr marL="0" indent="0">
              <a:buNone/>
            </a:pPr>
            <a:r>
              <a:rPr lang="en-US" sz="1300" b="1" dirty="0">
                <a:solidFill>
                  <a:srgbClr val="6B1A1A"/>
                </a:solidFill>
                <a:latin typeface="Cambria" pitchFamily="34" charset="0"/>
                <a:ea typeface="Cambria" pitchFamily="34" charset="-122"/>
                <a:cs typeface="Cambria" pitchFamily="34" charset="-120"/>
              </a:rPr>
              <a:t>Apache / XAMPP</a:t>
            </a:r>
            <a:endParaRPr lang="en-US" sz="1300" dirty="0"/>
          </a:p>
        </p:txBody>
      </p:sp>
      <p:sp>
        <p:nvSpPr>
          <p:cNvPr id="18" name="Text 16"/>
          <p:cNvSpPr/>
          <p:nvPr/>
        </p:nvSpPr>
        <p:spPr>
          <a:xfrm>
            <a:off x="2564409" y="2888445"/>
            <a:ext cx="6217920" cy="621792"/>
          </a:xfrm>
          <a:prstGeom prst="rect">
            <a:avLst/>
          </a:prstGeom>
          <a:noFill/>
          <a:ln/>
        </p:spPr>
        <p:txBody>
          <a:bodyPr wrap="square" lIns="0" tIns="0" rIns="0" bIns="0" rtlCol="0" anchor="ctr"/>
          <a:lstStyle/>
          <a:p>
            <a:pPr marL="0" indent="0">
              <a:buNone/>
            </a:pPr>
            <a:r>
              <a:rPr lang="en-US" sz="1200" dirty="0">
                <a:solidFill>
                  <a:srgbClr val="1A1A1A"/>
                </a:solidFill>
                <a:latin typeface="Calibri" pitchFamily="34" charset="0"/>
                <a:ea typeface="Calibri" pitchFamily="34" charset="-122"/>
                <a:cs typeface="Calibri" pitchFamily="34" charset="-120"/>
              </a:rPr>
              <a:t>Local web server stack used for development. Handles HTTP requests, PHP processing, and serves the application.</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6B1A1A"/>
          </a:solidFill>
          <a:ln w="12700">
            <a:solidFill>
              <a:srgbClr val="6B1A1A"/>
            </a:solidFill>
            <a:prstDash val="solid"/>
          </a:ln>
        </p:spPr>
      </p:sp>
      <p:sp>
        <p:nvSpPr>
          <p:cNvPr id="3" name="Text 1"/>
          <p:cNvSpPr/>
          <p:nvPr/>
        </p:nvSpPr>
        <p:spPr>
          <a:xfrm>
            <a:off x="365760" y="0"/>
            <a:ext cx="8412480" cy="777240"/>
          </a:xfrm>
          <a:prstGeom prst="rect">
            <a:avLst/>
          </a:prstGeom>
          <a:noFill/>
          <a:ln/>
        </p:spPr>
        <p:txBody>
          <a:bodyPr wrap="square" lIns="0" tIns="0" rIns="0" bIns="0" rtlCol="0" anchor="ctr"/>
          <a:lstStyle/>
          <a:p>
            <a:pPr marL="0" indent="0">
              <a:buNone/>
            </a:pPr>
            <a:r>
              <a:rPr lang="en-US" sz="2400" b="1" dirty="0">
                <a:solidFill>
                  <a:srgbClr val="FFFFFF"/>
                </a:solidFill>
                <a:latin typeface="Cambria" pitchFamily="34" charset="0"/>
                <a:ea typeface="Cambria" pitchFamily="34" charset="-122"/>
                <a:cs typeface="Cambria" pitchFamily="34" charset="-120"/>
              </a:rPr>
              <a:t>Project Work Flow</a:t>
            </a:r>
            <a:endParaRPr lang="en-US" sz="2400" dirty="0"/>
          </a:p>
        </p:txBody>
      </p:sp>
      <p:sp>
        <p:nvSpPr>
          <p:cNvPr id="4" name="Text 2"/>
          <p:cNvSpPr/>
          <p:nvPr/>
        </p:nvSpPr>
        <p:spPr>
          <a:xfrm>
            <a:off x="365760" y="896112"/>
            <a:ext cx="4023360" cy="320040"/>
          </a:xfrm>
          <a:prstGeom prst="rect">
            <a:avLst/>
          </a:prstGeom>
          <a:noFill/>
          <a:ln/>
        </p:spPr>
        <p:txBody>
          <a:bodyPr wrap="square" lIns="0" tIns="0" rIns="0" bIns="0" rtlCol="0" anchor="ctr"/>
          <a:lstStyle/>
          <a:p>
            <a:pPr marL="0" indent="0">
              <a:buNone/>
            </a:pPr>
            <a:r>
              <a:rPr lang="en-US" sz="1300" b="1" dirty="0">
                <a:solidFill>
                  <a:srgbClr val="6B1A1A"/>
                </a:solidFill>
                <a:latin typeface="Cambria" pitchFamily="34" charset="0"/>
                <a:ea typeface="Cambria" pitchFamily="34" charset="-122"/>
                <a:cs typeface="Cambria" pitchFamily="34" charset="-120"/>
              </a:rPr>
              <a:t>System Flow</a:t>
            </a:r>
            <a:endParaRPr lang="en-US" sz="1300" dirty="0"/>
          </a:p>
        </p:txBody>
      </p:sp>
      <p:sp>
        <p:nvSpPr>
          <p:cNvPr id="5" name="Shape 3"/>
          <p:cNvSpPr/>
          <p:nvPr/>
        </p:nvSpPr>
        <p:spPr>
          <a:xfrm>
            <a:off x="365760" y="1197864"/>
            <a:ext cx="4023360" cy="22860"/>
          </a:xfrm>
          <a:prstGeom prst="rect">
            <a:avLst/>
          </a:prstGeom>
          <a:solidFill>
            <a:srgbClr val="6B1A1A"/>
          </a:solidFill>
          <a:ln w="12700">
            <a:solidFill>
              <a:srgbClr val="6B1A1A"/>
            </a:solidFill>
            <a:prstDash val="solid"/>
          </a:ln>
        </p:spPr>
      </p:sp>
      <p:sp>
        <p:nvSpPr>
          <p:cNvPr id="6" name="Text 4"/>
          <p:cNvSpPr/>
          <p:nvPr/>
        </p:nvSpPr>
        <p:spPr>
          <a:xfrm>
            <a:off x="384048" y="1298448"/>
            <a:ext cx="274320" cy="347472"/>
          </a:xfrm>
          <a:prstGeom prst="rect">
            <a:avLst/>
          </a:prstGeom>
          <a:noFill/>
          <a:ln/>
        </p:spPr>
        <p:txBody>
          <a:bodyPr wrap="square" rtlCol="0" anchor="ctr"/>
          <a:lstStyle/>
          <a:p>
            <a:pPr marL="0" indent="0" algn="ctr">
              <a:buNone/>
            </a:pPr>
            <a:r>
              <a:rPr lang="en-US" sz="1100" dirty="0">
                <a:solidFill>
                  <a:srgbClr val="6B1A1A"/>
                </a:solidFill>
                <a:latin typeface="Calibri" pitchFamily="34" charset="0"/>
                <a:ea typeface="Calibri" pitchFamily="34" charset="-122"/>
                <a:cs typeface="Calibri" pitchFamily="34" charset="-120"/>
              </a:rPr>
              <a:t>↓</a:t>
            </a:r>
            <a:endParaRPr lang="en-US" sz="1100" dirty="0"/>
          </a:p>
        </p:txBody>
      </p:sp>
      <p:sp>
        <p:nvSpPr>
          <p:cNvPr id="7" name="Text 5"/>
          <p:cNvSpPr/>
          <p:nvPr/>
        </p:nvSpPr>
        <p:spPr>
          <a:xfrm>
            <a:off x="713232" y="1335024"/>
            <a:ext cx="3611880" cy="347472"/>
          </a:xfrm>
          <a:prstGeom prst="rect">
            <a:avLst/>
          </a:prstGeom>
          <a:noFill/>
          <a:ln/>
        </p:spPr>
        <p:txBody>
          <a:bodyPr wrap="square" lIns="0" tIns="0" rIns="0" bIns="0" rtlCol="0" anchor="ctr"/>
          <a:lstStyle/>
          <a:p>
            <a:pPr marL="0" indent="0">
              <a:buNone/>
            </a:pPr>
            <a:r>
              <a:rPr lang="en-US" sz="1100" dirty="0">
                <a:solidFill>
                  <a:srgbClr val="1A1A1A"/>
                </a:solidFill>
                <a:latin typeface="Calibri" pitchFamily="34" charset="0"/>
                <a:ea typeface="Calibri" pitchFamily="34" charset="-122"/>
                <a:cs typeface="Calibri" pitchFamily="34" charset="-120"/>
              </a:rPr>
              <a:t>User opens index.php (Login Page)</a:t>
            </a:r>
            <a:endParaRPr lang="en-US" sz="1100" dirty="0"/>
          </a:p>
        </p:txBody>
      </p:sp>
      <p:sp>
        <p:nvSpPr>
          <p:cNvPr id="8" name="Text 6"/>
          <p:cNvSpPr/>
          <p:nvPr/>
        </p:nvSpPr>
        <p:spPr>
          <a:xfrm>
            <a:off x="384048" y="1755648"/>
            <a:ext cx="274320" cy="347472"/>
          </a:xfrm>
          <a:prstGeom prst="rect">
            <a:avLst/>
          </a:prstGeom>
          <a:noFill/>
          <a:ln/>
        </p:spPr>
        <p:txBody>
          <a:bodyPr wrap="square" rtlCol="0" anchor="ctr"/>
          <a:lstStyle/>
          <a:p>
            <a:pPr marL="0" indent="0" algn="ctr">
              <a:buNone/>
            </a:pPr>
            <a:r>
              <a:rPr lang="en-US" sz="1100" dirty="0">
                <a:solidFill>
                  <a:srgbClr val="6B1A1A"/>
                </a:solidFill>
                <a:latin typeface="Calibri" pitchFamily="34" charset="0"/>
                <a:ea typeface="Calibri" pitchFamily="34" charset="-122"/>
                <a:cs typeface="Calibri" pitchFamily="34" charset="-120"/>
              </a:rPr>
              <a:t>↓</a:t>
            </a:r>
            <a:endParaRPr lang="en-US" sz="1100" dirty="0"/>
          </a:p>
        </p:txBody>
      </p:sp>
      <p:sp>
        <p:nvSpPr>
          <p:cNvPr id="9" name="Text 7"/>
          <p:cNvSpPr/>
          <p:nvPr/>
        </p:nvSpPr>
        <p:spPr>
          <a:xfrm>
            <a:off x="713232" y="1792224"/>
            <a:ext cx="3611880" cy="347472"/>
          </a:xfrm>
          <a:prstGeom prst="rect">
            <a:avLst/>
          </a:prstGeom>
          <a:noFill/>
          <a:ln/>
        </p:spPr>
        <p:txBody>
          <a:bodyPr wrap="square" lIns="0" tIns="0" rIns="0" bIns="0" rtlCol="0" anchor="ctr"/>
          <a:lstStyle/>
          <a:p>
            <a:pPr marL="0" indent="0">
              <a:buNone/>
            </a:pPr>
            <a:r>
              <a:rPr lang="en-US" sz="1100" dirty="0">
                <a:solidFill>
                  <a:srgbClr val="1A1A1A"/>
                </a:solidFill>
                <a:latin typeface="Calibri" pitchFamily="34" charset="0"/>
                <a:ea typeface="Calibri" pitchFamily="34" charset="-122"/>
                <a:cs typeface="Calibri" pitchFamily="34" charset="-120"/>
              </a:rPr>
              <a:t>Selects role: Teacher or Student</a:t>
            </a:r>
            <a:endParaRPr lang="en-US" sz="1100" dirty="0"/>
          </a:p>
        </p:txBody>
      </p:sp>
      <p:sp>
        <p:nvSpPr>
          <p:cNvPr id="10" name="Text 8"/>
          <p:cNvSpPr/>
          <p:nvPr/>
        </p:nvSpPr>
        <p:spPr>
          <a:xfrm>
            <a:off x="384048" y="2212848"/>
            <a:ext cx="274320" cy="347472"/>
          </a:xfrm>
          <a:prstGeom prst="rect">
            <a:avLst/>
          </a:prstGeom>
          <a:noFill/>
          <a:ln/>
        </p:spPr>
        <p:txBody>
          <a:bodyPr wrap="square" rtlCol="0" anchor="ctr"/>
          <a:lstStyle/>
          <a:p>
            <a:pPr marL="0" indent="0" algn="ctr">
              <a:buNone/>
            </a:pPr>
            <a:r>
              <a:rPr lang="en-US" sz="1100" dirty="0">
                <a:solidFill>
                  <a:srgbClr val="6B1A1A"/>
                </a:solidFill>
                <a:latin typeface="Calibri" pitchFamily="34" charset="0"/>
                <a:ea typeface="Calibri" pitchFamily="34" charset="-122"/>
                <a:cs typeface="Calibri" pitchFamily="34" charset="-120"/>
              </a:rPr>
              <a:t>↓</a:t>
            </a:r>
            <a:endParaRPr lang="en-US" sz="1100" dirty="0"/>
          </a:p>
        </p:txBody>
      </p:sp>
      <p:sp>
        <p:nvSpPr>
          <p:cNvPr id="11" name="Text 9"/>
          <p:cNvSpPr/>
          <p:nvPr/>
        </p:nvSpPr>
        <p:spPr>
          <a:xfrm>
            <a:off x="713232" y="2249424"/>
            <a:ext cx="3611880" cy="347472"/>
          </a:xfrm>
          <a:prstGeom prst="rect">
            <a:avLst/>
          </a:prstGeom>
          <a:noFill/>
          <a:ln/>
        </p:spPr>
        <p:txBody>
          <a:bodyPr wrap="square" lIns="0" tIns="0" rIns="0" bIns="0" rtlCol="0" anchor="ctr"/>
          <a:lstStyle/>
          <a:p>
            <a:pPr marL="0" indent="0">
              <a:buNone/>
            </a:pPr>
            <a:r>
              <a:rPr lang="en-US" sz="1100" dirty="0">
                <a:solidFill>
                  <a:srgbClr val="1A1A1A"/>
                </a:solidFill>
                <a:latin typeface="Calibri" pitchFamily="34" charset="0"/>
                <a:ea typeface="Calibri" pitchFamily="34" charset="-122"/>
                <a:cs typeface="Calibri" pitchFamily="34" charset="-120"/>
              </a:rPr>
              <a:t>Enters credentials → Server validates via PDO</a:t>
            </a:r>
            <a:endParaRPr lang="en-US" sz="1100" dirty="0"/>
          </a:p>
        </p:txBody>
      </p:sp>
      <p:sp>
        <p:nvSpPr>
          <p:cNvPr id="12" name="Text 10"/>
          <p:cNvSpPr/>
          <p:nvPr/>
        </p:nvSpPr>
        <p:spPr>
          <a:xfrm>
            <a:off x="384048" y="2670048"/>
            <a:ext cx="274320" cy="347472"/>
          </a:xfrm>
          <a:prstGeom prst="rect">
            <a:avLst/>
          </a:prstGeom>
          <a:noFill/>
          <a:ln/>
        </p:spPr>
        <p:txBody>
          <a:bodyPr wrap="square" rtlCol="0" anchor="ctr"/>
          <a:lstStyle/>
          <a:p>
            <a:pPr marL="0" indent="0" algn="ctr">
              <a:buNone/>
            </a:pPr>
            <a:r>
              <a:rPr lang="en-US" sz="1100" dirty="0">
                <a:solidFill>
                  <a:srgbClr val="6B1A1A"/>
                </a:solidFill>
                <a:latin typeface="Calibri" pitchFamily="34" charset="0"/>
                <a:ea typeface="Calibri" pitchFamily="34" charset="-122"/>
                <a:cs typeface="Calibri" pitchFamily="34" charset="-120"/>
              </a:rPr>
              <a:t>↓</a:t>
            </a:r>
            <a:endParaRPr lang="en-US" sz="1100" dirty="0"/>
          </a:p>
        </p:txBody>
      </p:sp>
      <p:sp>
        <p:nvSpPr>
          <p:cNvPr id="13" name="Text 11"/>
          <p:cNvSpPr/>
          <p:nvPr/>
        </p:nvSpPr>
        <p:spPr>
          <a:xfrm>
            <a:off x="713232" y="2706624"/>
            <a:ext cx="3611880" cy="347472"/>
          </a:xfrm>
          <a:prstGeom prst="rect">
            <a:avLst/>
          </a:prstGeom>
          <a:noFill/>
          <a:ln/>
        </p:spPr>
        <p:txBody>
          <a:bodyPr wrap="square" lIns="0" tIns="0" rIns="0" bIns="0" rtlCol="0" anchor="ctr"/>
          <a:lstStyle/>
          <a:p>
            <a:pPr marL="0" indent="0">
              <a:buNone/>
            </a:pPr>
            <a:r>
              <a:rPr lang="en-US" sz="1100" dirty="0">
                <a:solidFill>
                  <a:srgbClr val="1A1A1A"/>
                </a:solidFill>
                <a:latin typeface="Calibri" pitchFamily="34" charset="0"/>
                <a:ea typeface="Calibri" pitchFamily="34" charset="-122"/>
                <a:cs typeface="Calibri" pitchFamily="34" charset="-120"/>
              </a:rPr>
              <a:t>Session is created with role &amp; user_id</a:t>
            </a:r>
            <a:endParaRPr lang="en-US" sz="1100" dirty="0"/>
          </a:p>
        </p:txBody>
      </p:sp>
      <p:sp>
        <p:nvSpPr>
          <p:cNvPr id="14" name="Text 12"/>
          <p:cNvSpPr/>
          <p:nvPr/>
        </p:nvSpPr>
        <p:spPr>
          <a:xfrm>
            <a:off x="384048" y="3127248"/>
            <a:ext cx="274320" cy="347472"/>
          </a:xfrm>
          <a:prstGeom prst="rect">
            <a:avLst/>
          </a:prstGeom>
          <a:noFill/>
          <a:ln/>
        </p:spPr>
        <p:txBody>
          <a:bodyPr wrap="square" rtlCol="0" anchor="ctr"/>
          <a:lstStyle/>
          <a:p>
            <a:pPr marL="0" indent="0" algn="ctr">
              <a:buNone/>
            </a:pPr>
            <a:r>
              <a:rPr lang="en-US" sz="1100" dirty="0">
                <a:solidFill>
                  <a:srgbClr val="6B1A1A"/>
                </a:solidFill>
                <a:latin typeface="Calibri" pitchFamily="34" charset="0"/>
                <a:ea typeface="Calibri" pitchFamily="34" charset="-122"/>
                <a:cs typeface="Calibri" pitchFamily="34" charset="-120"/>
              </a:rPr>
              <a:t>↓</a:t>
            </a:r>
            <a:endParaRPr lang="en-US" sz="1100" dirty="0"/>
          </a:p>
        </p:txBody>
      </p:sp>
      <p:sp>
        <p:nvSpPr>
          <p:cNvPr id="15" name="Text 13"/>
          <p:cNvSpPr/>
          <p:nvPr/>
        </p:nvSpPr>
        <p:spPr>
          <a:xfrm>
            <a:off x="713232" y="3163824"/>
            <a:ext cx="3611880" cy="347472"/>
          </a:xfrm>
          <a:prstGeom prst="rect">
            <a:avLst/>
          </a:prstGeom>
          <a:noFill/>
          <a:ln/>
        </p:spPr>
        <p:txBody>
          <a:bodyPr wrap="square" lIns="0" tIns="0" rIns="0" bIns="0" rtlCol="0" anchor="ctr"/>
          <a:lstStyle/>
          <a:p>
            <a:pPr marL="0" indent="0">
              <a:buNone/>
            </a:pPr>
            <a:r>
              <a:rPr lang="en-US" sz="1100" dirty="0">
                <a:solidFill>
                  <a:srgbClr val="1A1A1A"/>
                </a:solidFill>
                <a:latin typeface="Calibri" pitchFamily="34" charset="0"/>
                <a:ea typeface="Calibri" pitchFamily="34" charset="-122"/>
                <a:cs typeface="Calibri" pitchFamily="34" charset="-120"/>
              </a:rPr>
              <a:t>Redirected to dashboard.php</a:t>
            </a:r>
            <a:endParaRPr lang="en-US" sz="1100" dirty="0"/>
          </a:p>
        </p:txBody>
      </p:sp>
      <p:sp>
        <p:nvSpPr>
          <p:cNvPr id="16" name="Text 14"/>
          <p:cNvSpPr/>
          <p:nvPr/>
        </p:nvSpPr>
        <p:spPr>
          <a:xfrm>
            <a:off x="384048" y="3584448"/>
            <a:ext cx="274320" cy="347472"/>
          </a:xfrm>
          <a:prstGeom prst="rect">
            <a:avLst/>
          </a:prstGeom>
          <a:noFill/>
          <a:ln/>
        </p:spPr>
        <p:txBody>
          <a:bodyPr wrap="square" rtlCol="0" anchor="ctr"/>
          <a:lstStyle/>
          <a:p>
            <a:pPr marL="0" indent="0" algn="ctr">
              <a:buNone/>
            </a:pPr>
            <a:r>
              <a:rPr lang="en-US" sz="1100" dirty="0">
                <a:solidFill>
                  <a:srgbClr val="6B1A1A"/>
                </a:solidFill>
                <a:latin typeface="Calibri" pitchFamily="34" charset="0"/>
                <a:ea typeface="Calibri" pitchFamily="34" charset="-122"/>
                <a:cs typeface="Calibri" pitchFamily="34" charset="-120"/>
              </a:rPr>
              <a:t>↓</a:t>
            </a:r>
            <a:endParaRPr lang="en-US" sz="1100" dirty="0"/>
          </a:p>
        </p:txBody>
      </p:sp>
      <p:sp>
        <p:nvSpPr>
          <p:cNvPr id="17" name="Text 15"/>
          <p:cNvSpPr/>
          <p:nvPr/>
        </p:nvSpPr>
        <p:spPr>
          <a:xfrm>
            <a:off x="713232" y="3621024"/>
            <a:ext cx="3611880" cy="347472"/>
          </a:xfrm>
          <a:prstGeom prst="rect">
            <a:avLst/>
          </a:prstGeom>
          <a:noFill/>
          <a:ln/>
        </p:spPr>
        <p:txBody>
          <a:bodyPr wrap="square" lIns="0" tIns="0" rIns="0" bIns="0" rtlCol="0" anchor="ctr"/>
          <a:lstStyle/>
          <a:p>
            <a:pPr marL="0" indent="0">
              <a:buNone/>
            </a:pPr>
            <a:r>
              <a:rPr lang="en-US" sz="1100" dirty="0">
                <a:solidFill>
                  <a:srgbClr val="1A1A1A"/>
                </a:solidFill>
                <a:latin typeface="Calibri" pitchFamily="34" charset="0"/>
                <a:ea typeface="Calibri" pitchFamily="34" charset="-122"/>
                <a:cs typeface="Calibri" pitchFamily="34" charset="-120"/>
              </a:rPr>
              <a:t>Role-based UI rendered (Teacher / Student)</a:t>
            </a:r>
            <a:endParaRPr lang="en-US" sz="1100" dirty="0"/>
          </a:p>
        </p:txBody>
      </p:sp>
      <p:sp>
        <p:nvSpPr>
          <p:cNvPr id="18" name="Text 16"/>
          <p:cNvSpPr/>
          <p:nvPr/>
        </p:nvSpPr>
        <p:spPr>
          <a:xfrm>
            <a:off x="384048" y="4041648"/>
            <a:ext cx="274320" cy="347472"/>
          </a:xfrm>
          <a:prstGeom prst="rect">
            <a:avLst/>
          </a:prstGeom>
          <a:noFill/>
          <a:ln/>
        </p:spPr>
        <p:txBody>
          <a:bodyPr wrap="square" rtlCol="0" anchor="ctr"/>
          <a:lstStyle/>
          <a:p>
            <a:pPr marL="0" indent="0" algn="ctr">
              <a:buNone/>
            </a:pPr>
            <a:r>
              <a:rPr lang="en-US" sz="1100" dirty="0">
                <a:solidFill>
                  <a:srgbClr val="6B1A1A"/>
                </a:solidFill>
                <a:latin typeface="Calibri" pitchFamily="34" charset="0"/>
                <a:ea typeface="Calibri" pitchFamily="34" charset="-122"/>
                <a:cs typeface="Calibri" pitchFamily="34" charset="-120"/>
              </a:rPr>
              <a:t>↓</a:t>
            </a:r>
            <a:endParaRPr lang="en-US" sz="1100" dirty="0"/>
          </a:p>
        </p:txBody>
      </p:sp>
      <p:sp>
        <p:nvSpPr>
          <p:cNvPr id="19" name="Text 17"/>
          <p:cNvSpPr/>
          <p:nvPr/>
        </p:nvSpPr>
        <p:spPr>
          <a:xfrm>
            <a:off x="713232" y="4078224"/>
            <a:ext cx="3611880" cy="347472"/>
          </a:xfrm>
          <a:prstGeom prst="rect">
            <a:avLst/>
          </a:prstGeom>
          <a:noFill/>
          <a:ln/>
        </p:spPr>
        <p:txBody>
          <a:bodyPr wrap="square" lIns="0" tIns="0" rIns="0" bIns="0" rtlCol="0" anchor="ctr"/>
          <a:lstStyle/>
          <a:p>
            <a:pPr marL="0" indent="0">
              <a:buNone/>
            </a:pPr>
            <a:r>
              <a:rPr lang="en-US" sz="1100" dirty="0">
                <a:solidFill>
                  <a:srgbClr val="1A1A1A"/>
                </a:solidFill>
                <a:latin typeface="Calibri" pitchFamily="34" charset="0"/>
                <a:ea typeface="Calibri" pitchFamily="34" charset="-122"/>
                <a:cs typeface="Calibri" pitchFamily="34" charset="-120"/>
              </a:rPr>
              <a:t>All API calls pass through api.php with session check</a:t>
            </a:r>
            <a:endParaRPr lang="en-US" sz="1100" dirty="0"/>
          </a:p>
        </p:txBody>
      </p:sp>
      <p:sp>
        <p:nvSpPr>
          <p:cNvPr id="20" name="Text 18"/>
          <p:cNvSpPr/>
          <p:nvPr/>
        </p:nvSpPr>
        <p:spPr>
          <a:xfrm>
            <a:off x="384048" y="4498848"/>
            <a:ext cx="274320" cy="347472"/>
          </a:xfrm>
          <a:prstGeom prst="rect">
            <a:avLst/>
          </a:prstGeom>
          <a:noFill/>
          <a:ln/>
        </p:spPr>
        <p:txBody>
          <a:bodyPr wrap="square" rtlCol="0" anchor="ctr"/>
          <a:lstStyle/>
          <a:p>
            <a:pPr marL="0" indent="0" algn="ctr">
              <a:buNone/>
            </a:pPr>
            <a:r>
              <a:rPr lang="en-US" sz="1100" dirty="0">
                <a:solidFill>
                  <a:srgbClr val="6B1A1A"/>
                </a:solidFill>
                <a:latin typeface="Calibri" pitchFamily="34" charset="0"/>
                <a:ea typeface="Calibri" pitchFamily="34" charset="-122"/>
                <a:cs typeface="Calibri" pitchFamily="34" charset="-120"/>
              </a:rPr>
              <a:t>↩</a:t>
            </a:r>
            <a:endParaRPr lang="en-US" sz="1100" dirty="0"/>
          </a:p>
        </p:txBody>
      </p:sp>
      <p:sp>
        <p:nvSpPr>
          <p:cNvPr id="21" name="Text 19"/>
          <p:cNvSpPr/>
          <p:nvPr/>
        </p:nvSpPr>
        <p:spPr>
          <a:xfrm>
            <a:off x="713232" y="4535424"/>
            <a:ext cx="3611880" cy="347472"/>
          </a:xfrm>
          <a:prstGeom prst="rect">
            <a:avLst/>
          </a:prstGeom>
          <a:noFill/>
          <a:ln/>
        </p:spPr>
        <p:txBody>
          <a:bodyPr wrap="square" lIns="0" tIns="0" rIns="0" bIns="0" rtlCol="0" anchor="ctr"/>
          <a:lstStyle/>
          <a:p>
            <a:pPr marL="0" indent="0">
              <a:buNone/>
            </a:pPr>
            <a:r>
              <a:rPr lang="en-US" sz="1100" dirty="0">
                <a:solidFill>
                  <a:srgbClr val="1A1A1A"/>
                </a:solidFill>
                <a:latin typeface="Calibri" pitchFamily="34" charset="0"/>
                <a:ea typeface="Calibri" pitchFamily="34" charset="-122"/>
                <a:cs typeface="Calibri" pitchFamily="34" charset="-120"/>
              </a:rPr>
              <a:t>User clicks Logout → session_destroy() → redirect to login</a:t>
            </a:r>
            <a:endParaRPr lang="en-US" sz="1100" dirty="0"/>
          </a:p>
        </p:txBody>
      </p:sp>
      <p:sp>
        <p:nvSpPr>
          <p:cNvPr id="22" name="Text 20"/>
          <p:cNvSpPr/>
          <p:nvPr/>
        </p:nvSpPr>
        <p:spPr>
          <a:xfrm>
            <a:off x="4846320" y="896112"/>
            <a:ext cx="4023360" cy="320040"/>
          </a:xfrm>
          <a:prstGeom prst="rect">
            <a:avLst/>
          </a:prstGeom>
          <a:noFill/>
          <a:ln/>
        </p:spPr>
        <p:txBody>
          <a:bodyPr wrap="square" lIns="0" tIns="0" rIns="0" bIns="0" rtlCol="0" anchor="ctr"/>
          <a:lstStyle/>
          <a:p>
            <a:pPr marL="0" indent="0">
              <a:buNone/>
            </a:pPr>
            <a:r>
              <a:rPr lang="en-US" sz="1300" b="1" dirty="0">
                <a:solidFill>
                  <a:srgbClr val="6B1A1A"/>
                </a:solidFill>
                <a:latin typeface="Cambria" pitchFamily="34" charset="0"/>
                <a:ea typeface="Cambria" pitchFamily="34" charset="-122"/>
                <a:cs typeface="Cambria" pitchFamily="34" charset="-120"/>
              </a:rPr>
              <a:t>Role-Based Actions</a:t>
            </a:r>
            <a:endParaRPr lang="en-US" sz="1300" dirty="0"/>
          </a:p>
        </p:txBody>
      </p:sp>
      <p:sp>
        <p:nvSpPr>
          <p:cNvPr id="23" name="Shape 21"/>
          <p:cNvSpPr/>
          <p:nvPr/>
        </p:nvSpPr>
        <p:spPr>
          <a:xfrm>
            <a:off x="4846320" y="1197864"/>
            <a:ext cx="4023360" cy="22860"/>
          </a:xfrm>
          <a:prstGeom prst="rect">
            <a:avLst/>
          </a:prstGeom>
          <a:solidFill>
            <a:srgbClr val="6B1A1A"/>
          </a:solidFill>
          <a:ln w="12700">
            <a:solidFill>
              <a:srgbClr val="6B1A1A"/>
            </a:solidFill>
            <a:prstDash val="solid"/>
          </a:ln>
        </p:spPr>
      </p:sp>
      <p:sp>
        <p:nvSpPr>
          <p:cNvPr id="24" name="Text 22"/>
          <p:cNvSpPr/>
          <p:nvPr/>
        </p:nvSpPr>
        <p:spPr>
          <a:xfrm>
            <a:off x="4846320" y="1298448"/>
            <a:ext cx="3931920" cy="274320"/>
          </a:xfrm>
          <a:prstGeom prst="rect">
            <a:avLst/>
          </a:prstGeom>
          <a:noFill/>
          <a:ln/>
        </p:spPr>
        <p:txBody>
          <a:bodyPr wrap="square" lIns="0" tIns="0" rIns="0" bIns="0" rtlCol="0" anchor="ctr"/>
          <a:lstStyle/>
          <a:p>
            <a:pPr marL="0" indent="0">
              <a:buNone/>
            </a:pPr>
            <a:r>
              <a:rPr lang="en-US" sz="1200" b="1" dirty="0">
                <a:solidFill>
                  <a:srgbClr val="1A1A1A"/>
                </a:solidFill>
                <a:latin typeface="Calibri" pitchFamily="34" charset="0"/>
                <a:ea typeface="Calibri" pitchFamily="34" charset="-122"/>
                <a:cs typeface="Calibri" pitchFamily="34" charset="-120"/>
              </a:rPr>
              <a:t>Teacher Can:</a:t>
            </a:r>
            <a:endParaRPr lang="en-US" sz="1200" dirty="0"/>
          </a:p>
        </p:txBody>
      </p:sp>
      <p:sp>
        <p:nvSpPr>
          <p:cNvPr id="25" name="Text 23"/>
          <p:cNvSpPr/>
          <p:nvPr/>
        </p:nvSpPr>
        <p:spPr>
          <a:xfrm>
            <a:off x="4983480" y="1600200"/>
            <a:ext cx="3840480" cy="310896"/>
          </a:xfrm>
          <a:prstGeom prst="rect">
            <a:avLst/>
          </a:prstGeom>
          <a:noFill/>
          <a:ln/>
        </p:spPr>
        <p:txBody>
          <a:bodyPr wrap="square" lIns="0" tIns="0" rIns="0" bIns="0" rtlCol="0" anchor="ctr"/>
          <a:lstStyle/>
          <a:p>
            <a:pPr marL="0" indent="0">
              <a:buNone/>
            </a:pPr>
            <a:r>
              <a:rPr lang="en-US" sz="1100" dirty="0">
                <a:solidFill>
                  <a:srgbClr val="1A1A1A"/>
                </a:solidFill>
                <a:latin typeface="Calibri" pitchFamily="34" charset="0"/>
                <a:ea typeface="Calibri" pitchFamily="34" charset="-122"/>
                <a:cs typeface="Calibri" pitchFamily="34" charset="-120"/>
              </a:rPr>
              <a:t>• Register / Edit / Delete student accounts</a:t>
            </a:r>
            <a:endParaRPr lang="en-US" sz="1100" dirty="0"/>
          </a:p>
        </p:txBody>
      </p:sp>
      <p:sp>
        <p:nvSpPr>
          <p:cNvPr id="26" name="Text 24"/>
          <p:cNvSpPr/>
          <p:nvPr/>
        </p:nvSpPr>
        <p:spPr>
          <a:xfrm>
            <a:off x="4983480" y="1947672"/>
            <a:ext cx="3840480" cy="310896"/>
          </a:xfrm>
          <a:prstGeom prst="rect">
            <a:avLst/>
          </a:prstGeom>
          <a:noFill/>
          <a:ln/>
        </p:spPr>
        <p:txBody>
          <a:bodyPr wrap="square" lIns="0" tIns="0" rIns="0" bIns="0" rtlCol="0" anchor="ctr"/>
          <a:lstStyle/>
          <a:p>
            <a:pPr marL="0" indent="0">
              <a:buNone/>
            </a:pPr>
            <a:r>
              <a:rPr lang="en-US" sz="1100" dirty="0">
                <a:solidFill>
                  <a:srgbClr val="1A1A1A"/>
                </a:solidFill>
                <a:latin typeface="Calibri" pitchFamily="34" charset="0"/>
                <a:ea typeface="Calibri" pitchFamily="34" charset="-122"/>
                <a:cs typeface="Calibri" pitchFamily="34" charset="-120"/>
              </a:rPr>
              <a:t>• Publish result by entering subject marks</a:t>
            </a:r>
            <a:endParaRPr lang="en-US" sz="1100" dirty="0"/>
          </a:p>
        </p:txBody>
      </p:sp>
      <p:sp>
        <p:nvSpPr>
          <p:cNvPr id="27" name="Text 25"/>
          <p:cNvSpPr/>
          <p:nvPr/>
        </p:nvSpPr>
        <p:spPr>
          <a:xfrm>
            <a:off x="4983480" y="2295144"/>
            <a:ext cx="3840480" cy="310896"/>
          </a:xfrm>
          <a:prstGeom prst="rect">
            <a:avLst/>
          </a:prstGeom>
          <a:noFill/>
          <a:ln/>
        </p:spPr>
        <p:txBody>
          <a:bodyPr wrap="square" lIns="0" tIns="0" rIns="0" bIns="0" rtlCol="0" anchor="ctr"/>
          <a:lstStyle/>
          <a:p>
            <a:pPr marL="0" indent="0">
              <a:buNone/>
            </a:pPr>
            <a:r>
              <a:rPr lang="en-US" sz="1100" dirty="0">
                <a:solidFill>
                  <a:srgbClr val="1A1A1A"/>
                </a:solidFill>
                <a:latin typeface="Calibri" pitchFamily="34" charset="0"/>
                <a:ea typeface="Calibri" pitchFamily="34" charset="-122"/>
                <a:cs typeface="Calibri" pitchFamily="34" charset="-120"/>
              </a:rPr>
              <a:t>• Edit existing results and recalculate CGPA</a:t>
            </a:r>
            <a:endParaRPr lang="en-US" sz="1100" dirty="0"/>
          </a:p>
        </p:txBody>
      </p:sp>
      <p:sp>
        <p:nvSpPr>
          <p:cNvPr id="28" name="Text 26"/>
          <p:cNvSpPr/>
          <p:nvPr/>
        </p:nvSpPr>
        <p:spPr>
          <a:xfrm>
            <a:off x="4983480" y="2642616"/>
            <a:ext cx="3840480" cy="310896"/>
          </a:xfrm>
          <a:prstGeom prst="rect">
            <a:avLst/>
          </a:prstGeom>
          <a:noFill/>
          <a:ln/>
        </p:spPr>
        <p:txBody>
          <a:bodyPr wrap="square" lIns="0" tIns="0" rIns="0" bIns="0" rtlCol="0" anchor="ctr"/>
          <a:lstStyle/>
          <a:p>
            <a:pPr marL="0" indent="0">
              <a:buNone/>
            </a:pPr>
            <a:r>
              <a:rPr lang="en-US" sz="1100" dirty="0">
                <a:solidFill>
                  <a:srgbClr val="1A1A1A"/>
                </a:solidFill>
                <a:latin typeface="Calibri" pitchFamily="34" charset="0"/>
                <a:ea typeface="Calibri" pitchFamily="34" charset="-122"/>
                <a:cs typeface="Calibri" pitchFamily="34" charset="-120"/>
              </a:rPr>
              <a:t>• View all students on Manage Results dashboard</a:t>
            </a:r>
            <a:endParaRPr lang="en-US" sz="1100" dirty="0"/>
          </a:p>
        </p:txBody>
      </p:sp>
      <p:sp>
        <p:nvSpPr>
          <p:cNvPr id="29" name="Text 27"/>
          <p:cNvSpPr/>
          <p:nvPr/>
        </p:nvSpPr>
        <p:spPr>
          <a:xfrm>
            <a:off x="4983480" y="2990088"/>
            <a:ext cx="3840480" cy="310896"/>
          </a:xfrm>
          <a:prstGeom prst="rect">
            <a:avLst/>
          </a:prstGeom>
          <a:noFill/>
          <a:ln/>
        </p:spPr>
        <p:txBody>
          <a:bodyPr wrap="square" lIns="0" tIns="0" rIns="0" bIns="0" rtlCol="0" anchor="ctr"/>
          <a:lstStyle/>
          <a:p>
            <a:pPr marL="0" indent="0">
              <a:buNone/>
            </a:pPr>
            <a:r>
              <a:rPr lang="en-US" sz="1100" dirty="0">
                <a:solidFill>
                  <a:srgbClr val="1A1A1A"/>
                </a:solidFill>
                <a:latin typeface="Calibri" pitchFamily="34" charset="0"/>
                <a:ea typeface="Calibri" pitchFamily="34" charset="-122"/>
                <a:cs typeface="Calibri" pitchFamily="34" charset="-120"/>
              </a:rPr>
              <a:t>• Send messages in Live Chat</a:t>
            </a:r>
            <a:endParaRPr lang="en-US" sz="1100" dirty="0"/>
          </a:p>
        </p:txBody>
      </p:sp>
      <p:sp>
        <p:nvSpPr>
          <p:cNvPr id="30" name="Text 28"/>
          <p:cNvSpPr/>
          <p:nvPr/>
        </p:nvSpPr>
        <p:spPr>
          <a:xfrm>
            <a:off x="4846320" y="3383280"/>
            <a:ext cx="3931920" cy="274320"/>
          </a:xfrm>
          <a:prstGeom prst="rect">
            <a:avLst/>
          </a:prstGeom>
          <a:noFill/>
          <a:ln/>
        </p:spPr>
        <p:txBody>
          <a:bodyPr wrap="square" lIns="0" tIns="0" rIns="0" bIns="0" rtlCol="0" anchor="ctr"/>
          <a:lstStyle/>
          <a:p>
            <a:pPr marL="0" indent="0">
              <a:buNone/>
            </a:pPr>
            <a:r>
              <a:rPr lang="en-US" sz="1200" b="1" dirty="0">
                <a:solidFill>
                  <a:srgbClr val="1A1A1A"/>
                </a:solidFill>
                <a:latin typeface="Calibri" pitchFamily="34" charset="0"/>
                <a:ea typeface="Calibri" pitchFamily="34" charset="-122"/>
                <a:cs typeface="Calibri" pitchFamily="34" charset="-120"/>
              </a:rPr>
              <a:t>Student Can:</a:t>
            </a:r>
            <a:endParaRPr lang="en-US" sz="1200" dirty="0"/>
          </a:p>
        </p:txBody>
      </p:sp>
      <p:sp>
        <p:nvSpPr>
          <p:cNvPr id="31" name="Text 29"/>
          <p:cNvSpPr/>
          <p:nvPr/>
        </p:nvSpPr>
        <p:spPr>
          <a:xfrm>
            <a:off x="4983480" y="3703320"/>
            <a:ext cx="3840480" cy="310896"/>
          </a:xfrm>
          <a:prstGeom prst="rect">
            <a:avLst/>
          </a:prstGeom>
          <a:noFill/>
          <a:ln/>
        </p:spPr>
        <p:txBody>
          <a:bodyPr wrap="square" lIns="0" tIns="0" rIns="0" bIns="0" rtlCol="0" anchor="ctr"/>
          <a:lstStyle/>
          <a:p>
            <a:pPr marL="0" indent="0">
              <a:buNone/>
            </a:pPr>
            <a:r>
              <a:rPr lang="en-US" sz="1100" dirty="0">
                <a:solidFill>
                  <a:srgbClr val="1A1A1A"/>
                </a:solidFill>
                <a:latin typeface="Calibri" pitchFamily="34" charset="0"/>
                <a:ea typeface="Calibri" pitchFamily="34" charset="-122"/>
                <a:cs typeface="Calibri" pitchFamily="34" charset="-120"/>
              </a:rPr>
              <a:t>• Log in using Registration ID and password</a:t>
            </a:r>
            <a:endParaRPr lang="en-US" sz="1100" dirty="0"/>
          </a:p>
        </p:txBody>
      </p:sp>
      <p:sp>
        <p:nvSpPr>
          <p:cNvPr id="32" name="Text 30"/>
          <p:cNvSpPr/>
          <p:nvPr/>
        </p:nvSpPr>
        <p:spPr>
          <a:xfrm>
            <a:off x="4983480" y="4050792"/>
            <a:ext cx="3840480" cy="310896"/>
          </a:xfrm>
          <a:prstGeom prst="rect">
            <a:avLst/>
          </a:prstGeom>
          <a:noFill/>
          <a:ln/>
        </p:spPr>
        <p:txBody>
          <a:bodyPr wrap="square" lIns="0" tIns="0" rIns="0" bIns="0" rtlCol="0" anchor="ctr"/>
          <a:lstStyle/>
          <a:p>
            <a:pPr marL="0" indent="0">
              <a:buNone/>
            </a:pPr>
            <a:r>
              <a:rPr lang="en-US" sz="1100" dirty="0">
                <a:solidFill>
                  <a:srgbClr val="1A1A1A"/>
                </a:solidFill>
                <a:latin typeface="Calibri" pitchFamily="34" charset="0"/>
                <a:ea typeface="Calibri" pitchFamily="34" charset="-122"/>
                <a:cs typeface="Calibri" pitchFamily="34" charset="-120"/>
              </a:rPr>
              <a:t>• View subject-wise marks and CGPA</a:t>
            </a:r>
            <a:endParaRPr lang="en-US" sz="1100" dirty="0"/>
          </a:p>
        </p:txBody>
      </p:sp>
      <p:sp>
        <p:nvSpPr>
          <p:cNvPr id="33" name="Text 31"/>
          <p:cNvSpPr/>
          <p:nvPr/>
        </p:nvSpPr>
        <p:spPr>
          <a:xfrm>
            <a:off x="4983480" y="4398264"/>
            <a:ext cx="3840480" cy="310896"/>
          </a:xfrm>
          <a:prstGeom prst="rect">
            <a:avLst/>
          </a:prstGeom>
          <a:noFill/>
          <a:ln/>
        </p:spPr>
        <p:txBody>
          <a:bodyPr wrap="square" lIns="0" tIns="0" rIns="0" bIns="0" rtlCol="0" anchor="ctr"/>
          <a:lstStyle/>
          <a:p>
            <a:pPr marL="0" indent="0">
              <a:buNone/>
            </a:pPr>
            <a:r>
              <a:rPr lang="en-US" sz="1100" dirty="0">
                <a:solidFill>
                  <a:srgbClr val="1A1A1A"/>
                </a:solidFill>
                <a:latin typeface="Calibri" pitchFamily="34" charset="0"/>
                <a:ea typeface="Calibri" pitchFamily="34" charset="-122"/>
                <a:cs typeface="Calibri" pitchFamily="34" charset="-120"/>
              </a:rPr>
              <a:t>• Download official academic result as PDF</a:t>
            </a:r>
            <a:endParaRPr lang="en-US" sz="1100" dirty="0"/>
          </a:p>
        </p:txBody>
      </p:sp>
      <p:sp>
        <p:nvSpPr>
          <p:cNvPr id="34" name="Text 32"/>
          <p:cNvSpPr/>
          <p:nvPr/>
        </p:nvSpPr>
        <p:spPr>
          <a:xfrm>
            <a:off x="4983480" y="4745736"/>
            <a:ext cx="3840480" cy="310896"/>
          </a:xfrm>
          <a:prstGeom prst="rect">
            <a:avLst/>
          </a:prstGeom>
          <a:noFill/>
          <a:ln/>
        </p:spPr>
        <p:txBody>
          <a:bodyPr wrap="square" lIns="0" tIns="0" rIns="0" bIns="0" rtlCol="0" anchor="ctr"/>
          <a:lstStyle/>
          <a:p>
            <a:pPr marL="0" indent="0">
              <a:buNone/>
            </a:pPr>
            <a:r>
              <a:rPr lang="en-US" sz="1100" dirty="0">
                <a:solidFill>
                  <a:srgbClr val="1A1A1A"/>
                </a:solidFill>
                <a:latin typeface="Calibri" pitchFamily="34" charset="0"/>
                <a:ea typeface="Calibri" pitchFamily="34" charset="-122"/>
                <a:cs typeface="Calibri" pitchFamily="34" charset="-120"/>
              </a:rPr>
              <a:t>• Send messages in Live Chat</a:t>
            </a:r>
            <a:endParaRPr lang="en-US" sz="1100" dirty="0"/>
          </a:p>
        </p:txBody>
      </p:sp>
      <p:sp>
        <p:nvSpPr>
          <p:cNvPr id="35" name="Shape 33"/>
          <p:cNvSpPr/>
          <p:nvPr/>
        </p:nvSpPr>
        <p:spPr>
          <a:xfrm>
            <a:off x="4572000" y="868680"/>
            <a:ext cx="22860" cy="4069080"/>
          </a:xfrm>
          <a:prstGeom prst="rect">
            <a:avLst/>
          </a:prstGeom>
          <a:solidFill>
            <a:srgbClr val="CCCCCC"/>
          </a:solidFill>
          <a:ln w="12700">
            <a:solidFill>
              <a:srgbClr val="CCCCCC"/>
            </a:solidFill>
            <a:prstDash val="solid"/>
          </a:ln>
        </p:spPr>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6B1A1A"/>
          </a:solidFill>
          <a:ln w="12700">
            <a:solidFill>
              <a:srgbClr val="6B1A1A"/>
            </a:solidFill>
            <a:prstDash val="solid"/>
          </a:ln>
        </p:spPr>
      </p:sp>
      <p:sp>
        <p:nvSpPr>
          <p:cNvPr id="3" name="Text 1"/>
          <p:cNvSpPr/>
          <p:nvPr/>
        </p:nvSpPr>
        <p:spPr>
          <a:xfrm>
            <a:off x="365760" y="0"/>
            <a:ext cx="8412480" cy="777240"/>
          </a:xfrm>
          <a:prstGeom prst="rect">
            <a:avLst/>
          </a:prstGeom>
          <a:noFill/>
          <a:ln/>
        </p:spPr>
        <p:txBody>
          <a:bodyPr wrap="square" lIns="0" tIns="0" rIns="0" bIns="0" rtlCol="0" anchor="ctr"/>
          <a:lstStyle/>
          <a:p>
            <a:pPr marL="0" indent="0">
              <a:buNone/>
            </a:pPr>
            <a:r>
              <a:rPr lang="en-US" sz="2200" b="1" dirty="0">
                <a:solidFill>
                  <a:srgbClr val="FFFFFF"/>
                </a:solidFill>
                <a:latin typeface="Cambria" pitchFamily="34" charset="0"/>
                <a:ea typeface="Cambria" pitchFamily="34" charset="-122"/>
                <a:cs typeface="Cambria" pitchFamily="34" charset="-120"/>
              </a:rPr>
              <a:t>Output Screenshots  —  Login Page</a:t>
            </a:r>
            <a:endParaRPr lang="en-US" sz="2200" dirty="0"/>
          </a:p>
        </p:txBody>
      </p:sp>
      <p:sp>
        <p:nvSpPr>
          <p:cNvPr id="4" name="Shape 2"/>
          <p:cNvSpPr/>
          <p:nvPr/>
        </p:nvSpPr>
        <p:spPr>
          <a:xfrm>
            <a:off x="320040" y="914400"/>
            <a:ext cx="3840480" cy="3931920"/>
          </a:xfrm>
          <a:prstGeom prst="rect">
            <a:avLst/>
          </a:prstGeom>
          <a:solidFill>
            <a:srgbClr val="F5EFE6"/>
          </a:solidFill>
          <a:ln w="12700">
            <a:solidFill>
              <a:srgbClr val="CCCCCC"/>
            </a:solidFill>
            <a:prstDash val="solid"/>
          </a:ln>
        </p:spPr>
      </p:sp>
      <p:sp>
        <p:nvSpPr>
          <p:cNvPr id="5" name="Shape 3"/>
          <p:cNvSpPr/>
          <p:nvPr/>
        </p:nvSpPr>
        <p:spPr>
          <a:xfrm>
            <a:off x="320040" y="914400"/>
            <a:ext cx="3840480" cy="402336"/>
          </a:xfrm>
          <a:prstGeom prst="rect">
            <a:avLst/>
          </a:prstGeom>
          <a:solidFill>
            <a:srgbClr val="EDEBE6"/>
          </a:solidFill>
          <a:ln w="12700">
            <a:solidFill>
              <a:srgbClr val="CCCCCC"/>
            </a:solidFill>
            <a:prstDash val="solid"/>
          </a:ln>
        </p:spPr>
      </p:sp>
      <p:sp>
        <p:nvSpPr>
          <p:cNvPr id="6" name="Shape 4"/>
          <p:cNvSpPr/>
          <p:nvPr/>
        </p:nvSpPr>
        <p:spPr>
          <a:xfrm>
            <a:off x="320040" y="1289304"/>
            <a:ext cx="1920240" cy="36576"/>
          </a:xfrm>
          <a:prstGeom prst="rect">
            <a:avLst/>
          </a:prstGeom>
          <a:solidFill>
            <a:srgbClr val="6B1A1A"/>
          </a:solidFill>
          <a:ln w="12700">
            <a:solidFill>
              <a:srgbClr val="6B1A1A"/>
            </a:solidFill>
            <a:prstDash val="solid"/>
          </a:ln>
        </p:spPr>
      </p:sp>
      <p:sp>
        <p:nvSpPr>
          <p:cNvPr id="7" name="Text 5"/>
          <p:cNvSpPr/>
          <p:nvPr/>
        </p:nvSpPr>
        <p:spPr>
          <a:xfrm>
            <a:off x="320040" y="914400"/>
            <a:ext cx="1920240" cy="402336"/>
          </a:xfrm>
          <a:prstGeom prst="rect">
            <a:avLst/>
          </a:prstGeom>
          <a:noFill/>
          <a:ln/>
        </p:spPr>
        <p:txBody>
          <a:bodyPr wrap="square" rtlCol="0" anchor="ctr"/>
          <a:lstStyle/>
          <a:p>
            <a:pPr marL="0" indent="0" algn="ctr">
              <a:buNone/>
            </a:pPr>
            <a:r>
              <a:rPr lang="en-US" sz="1100" b="1" dirty="0">
                <a:solidFill>
                  <a:srgbClr val="6B1A1A"/>
                </a:solidFill>
                <a:latin typeface="Calibri" pitchFamily="34" charset="0"/>
                <a:ea typeface="Calibri" pitchFamily="34" charset="-122"/>
                <a:cs typeface="Calibri" pitchFamily="34" charset="-120"/>
              </a:rPr>
              <a:t>🎓 Student</a:t>
            </a:r>
            <a:endParaRPr lang="en-US" sz="1100" dirty="0"/>
          </a:p>
        </p:txBody>
      </p:sp>
      <p:sp>
        <p:nvSpPr>
          <p:cNvPr id="8" name="Text 6"/>
          <p:cNvSpPr/>
          <p:nvPr/>
        </p:nvSpPr>
        <p:spPr>
          <a:xfrm>
            <a:off x="2240280" y="914400"/>
            <a:ext cx="1920240" cy="402336"/>
          </a:xfrm>
          <a:prstGeom prst="rect">
            <a:avLst/>
          </a:prstGeom>
          <a:noFill/>
          <a:ln/>
        </p:spPr>
        <p:txBody>
          <a:bodyPr wrap="square" rtlCol="0" anchor="ctr"/>
          <a:lstStyle/>
          <a:p>
            <a:pPr marL="0" indent="0" algn="ctr">
              <a:buNone/>
            </a:pPr>
            <a:r>
              <a:rPr lang="en-US" sz="1100" dirty="0">
                <a:solidFill>
                  <a:srgbClr val="555555"/>
                </a:solidFill>
                <a:latin typeface="Calibri" pitchFamily="34" charset="0"/>
                <a:ea typeface="Calibri" pitchFamily="34" charset="-122"/>
                <a:cs typeface="Calibri" pitchFamily="34" charset="-120"/>
              </a:rPr>
              <a:t>📚 Teacher</a:t>
            </a:r>
            <a:endParaRPr lang="en-US" sz="1100" dirty="0"/>
          </a:p>
        </p:txBody>
      </p:sp>
      <p:sp>
        <p:nvSpPr>
          <p:cNvPr id="9" name="Text 7"/>
          <p:cNvSpPr/>
          <p:nvPr/>
        </p:nvSpPr>
        <p:spPr>
          <a:xfrm>
            <a:off x="502920" y="1417320"/>
            <a:ext cx="3474720" cy="384048"/>
          </a:xfrm>
          <a:prstGeom prst="rect">
            <a:avLst/>
          </a:prstGeom>
          <a:noFill/>
          <a:ln/>
        </p:spPr>
        <p:txBody>
          <a:bodyPr wrap="square" rtlCol="0" anchor="ctr"/>
          <a:lstStyle/>
          <a:p>
            <a:pPr marL="0" indent="0" algn="ctr">
              <a:buNone/>
            </a:pPr>
            <a:r>
              <a:rPr lang="en-US" sz="1800" b="1" dirty="0">
                <a:solidFill>
                  <a:srgbClr val="6B1A1A"/>
                </a:solidFill>
                <a:latin typeface="Cambria" pitchFamily="34" charset="0"/>
                <a:ea typeface="Cambria" pitchFamily="34" charset="-122"/>
                <a:cs typeface="Cambria" pitchFamily="34" charset="-120"/>
              </a:rPr>
              <a:t>Student Login</a:t>
            </a:r>
            <a:endParaRPr lang="en-US" sz="1800" dirty="0"/>
          </a:p>
        </p:txBody>
      </p:sp>
      <p:sp>
        <p:nvSpPr>
          <p:cNvPr id="10" name="Text 8"/>
          <p:cNvSpPr/>
          <p:nvPr/>
        </p:nvSpPr>
        <p:spPr>
          <a:xfrm>
            <a:off x="502920" y="1773936"/>
            <a:ext cx="3474720" cy="256032"/>
          </a:xfrm>
          <a:prstGeom prst="rect">
            <a:avLst/>
          </a:prstGeom>
          <a:noFill/>
          <a:ln/>
        </p:spPr>
        <p:txBody>
          <a:bodyPr wrap="square" rtlCol="0" anchor="ctr"/>
          <a:lstStyle/>
          <a:p>
            <a:pPr marL="0" indent="0" algn="ctr">
              <a:buNone/>
            </a:pPr>
            <a:r>
              <a:rPr lang="en-US" sz="1000" dirty="0">
                <a:solidFill>
                  <a:srgbClr val="555555"/>
                </a:solidFill>
                <a:latin typeface="Calibri" pitchFamily="34" charset="0"/>
                <a:ea typeface="Calibri" pitchFamily="34" charset="-122"/>
                <a:cs typeface="Calibri" pitchFamily="34" charset="-120"/>
              </a:rPr>
              <a:t>Welcome back! Please enter your details.</a:t>
            </a:r>
            <a:endParaRPr lang="en-US" sz="1000" dirty="0"/>
          </a:p>
        </p:txBody>
      </p:sp>
      <p:sp>
        <p:nvSpPr>
          <p:cNvPr id="11" name="Text 9"/>
          <p:cNvSpPr/>
          <p:nvPr/>
        </p:nvSpPr>
        <p:spPr>
          <a:xfrm>
            <a:off x="548640" y="2103120"/>
            <a:ext cx="3383280" cy="228600"/>
          </a:xfrm>
          <a:prstGeom prst="rect">
            <a:avLst/>
          </a:prstGeom>
          <a:noFill/>
          <a:ln/>
        </p:spPr>
        <p:txBody>
          <a:bodyPr wrap="square" rtlCol="0" anchor="ctr"/>
          <a:lstStyle/>
          <a:p>
            <a:pPr marL="0" indent="0">
              <a:buNone/>
            </a:pPr>
            <a:r>
              <a:rPr lang="en-US" sz="1000" dirty="0">
                <a:solidFill>
                  <a:srgbClr val="1A1A1A"/>
                </a:solidFill>
                <a:latin typeface="Calibri" pitchFamily="34" charset="0"/>
                <a:ea typeface="Calibri" pitchFamily="34" charset="-122"/>
                <a:cs typeface="Calibri" pitchFamily="34" charset="-120"/>
              </a:rPr>
              <a:t>Registration No</a:t>
            </a:r>
            <a:endParaRPr lang="en-US" sz="1000" dirty="0"/>
          </a:p>
        </p:txBody>
      </p:sp>
      <p:sp>
        <p:nvSpPr>
          <p:cNvPr id="12" name="Shape 10"/>
          <p:cNvSpPr/>
          <p:nvPr/>
        </p:nvSpPr>
        <p:spPr>
          <a:xfrm>
            <a:off x="548640" y="2304288"/>
            <a:ext cx="3383280" cy="347472"/>
          </a:xfrm>
          <a:prstGeom prst="rect">
            <a:avLst/>
          </a:prstGeom>
          <a:solidFill>
            <a:srgbClr val="FFFFFF"/>
          </a:solidFill>
          <a:ln w="12700">
            <a:solidFill>
              <a:srgbClr val="CCCCCC"/>
            </a:solidFill>
            <a:prstDash val="solid"/>
          </a:ln>
        </p:spPr>
      </p:sp>
      <p:sp>
        <p:nvSpPr>
          <p:cNvPr id="13" name="Text 11"/>
          <p:cNvSpPr/>
          <p:nvPr/>
        </p:nvSpPr>
        <p:spPr>
          <a:xfrm>
            <a:off x="685800" y="2350008"/>
            <a:ext cx="3108960" cy="256032"/>
          </a:xfrm>
          <a:prstGeom prst="rect">
            <a:avLst/>
          </a:prstGeom>
          <a:noFill/>
          <a:ln/>
        </p:spPr>
        <p:txBody>
          <a:bodyPr wrap="square" rtlCol="0" anchor="ctr"/>
          <a:lstStyle/>
          <a:p>
            <a:pPr marL="0" indent="0">
              <a:buNone/>
            </a:pPr>
            <a:r>
              <a:rPr lang="en-US" sz="1100" dirty="0">
                <a:solidFill>
                  <a:srgbClr val="1A1A1A"/>
                </a:solidFill>
                <a:latin typeface="Calibri" pitchFamily="34" charset="0"/>
                <a:ea typeface="Calibri" pitchFamily="34" charset="-122"/>
                <a:cs typeface="Calibri" pitchFamily="34" charset="-120"/>
              </a:rPr>
              <a:t>D232410652</a:t>
            </a:r>
            <a:endParaRPr lang="en-US" sz="1100" dirty="0"/>
          </a:p>
        </p:txBody>
      </p:sp>
      <p:sp>
        <p:nvSpPr>
          <p:cNvPr id="14" name="Text 12"/>
          <p:cNvSpPr/>
          <p:nvPr/>
        </p:nvSpPr>
        <p:spPr>
          <a:xfrm>
            <a:off x="548640" y="2743200"/>
            <a:ext cx="3383280" cy="228600"/>
          </a:xfrm>
          <a:prstGeom prst="rect">
            <a:avLst/>
          </a:prstGeom>
          <a:noFill/>
          <a:ln/>
        </p:spPr>
        <p:txBody>
          <a:bodyPr wrap="square" rtlCol="0" anchor="ctr"/>
          <a:lstStyle/>
          <a:p>
            <a:pPr marL="0" indent="0">
              <a:buNone/>
            </a:pPr>
            <a:r>
              <a:rPr lang="en-US" sz="1000" dirty="0">
                <a:solidFill>
                  <a:srgbClr val="1A1A1A"/>
                </a:solidFill>
                <a:latin typeface="Calibri" pitchFamily="34" charset="0"/>
                <a:ea typeface="Calibri" pitchFamily="34" charset="-122"/>
                <a:cs typeface="Calibri" pitchFamily="34" charset="-120"/>
              </a:rPr>
              <a:t>Password</a:t>
            </a:r>
            <a:endParaRPr lang="en-US" sz="1000" dirty="0"/>
          </a:p>
        </p:txBody>
      </p:sp>
      <p:sp>
        <p:nvSpPr>
          <p:cNvPr id="15" name="Shape 13"/>
          <p:cNvSpPr/>
          <p:nvPr/>
        </p:nvSpPr>
        <p:spPr>
          <a:xfrm>
            <a:off x="548640" y="2944368"/>
            <a:ext cx="3383280" cy="347472"/>
          </a:xfrm>
          <a:prstGeom prst="rect">
            <a:avLst/>
          </a:prstGeom>
          <a:solidFill>
            <a:srgbClr val="FFFFFF"/>
          </a:solidFill>
          <a:ln w="12700">
            <a:solidFill>
              <a:srgbClr val="CCCCCC"/>
            </a:solidFill>
            <a:prstDash val="solid"/>
          </a:ln>
        </p:spPr>
      </p:sp>
      <p:sp>
        <p:nvSpPr>
          <p:cNvPr id="16" name="Text 14"/>
          <p:cNvSpPr/>
          <p:nvPr/>
        </p:nvSpPr>
        <p:spPr>
          <a:xfrm>
            <a:off x="685800" y="2980944"/>
            <a:ext cx="3108960" cy="256032"/>
          </a:xfrm>
          <a:prstGeom prst="rect">
            <a:avLst/>
          </a:prstGeom>
          <a:noFill/>
          <a:ln/>
        </p:spPr>
        <p:txBody>
          <a:bodyPr wrap="square" rtlCol="0" anchor="ctr"/>
          <a:lstStyle/>
          <a:p>
            <a:pPr marL="0" indent="0">
              <a:buNone/>
            </a:pPr>
            <a:r>
              <a:rPr lang="en-US" sz="1400" dirty="0">
                <a:solidFill>
                  <a:srgbClr val="1A1A1A"/>
                </a:solidFill>
                <a:latin typeface="Calibri" pitchFamily="34" charset="0"/>
                <a:ea typeface="Calibri" pitchFamily="34" charset="-122"/>
                <a:cs typeface="Calibri" pitchFamily="34" charset="-120"/>
              </a:rPr>
              <a:t>••••••••••</a:t>
            </a:r>
            <a:endParaRPr lang="en-US" sz="1400" dirty="0"/>
          </a:p>
        </p:txBody>
      </p:sp>
      <p:sp>
        <p:nvSpPr>
          <p:cNvPr id="17" name="Shape 15"/>
          <p:cNvSpPr/>
          <p:nvPr/>
        </p:nvSpPr>
        <p:spPr>
          <a:xfrm>
            <a:off x="548640" y="3456432"/>
            <a:ext cx="3383280" cy="384048"/>
          </a:xfrm>
          <a:prstGeom prst="rect">
            <a:avLst/>
          </a:prstGeom>
          <a:solidFill>
            <a:srgbClr val="6B1A1A"/>
          </a:solidFill>
          <a:ln w="12700">
            <a:solidFill>
              <a:srgbClr val="6B1A1A"/>
            </a:solidFill>
            <a:prstDash val="solid"/>
          </a:ln>
        </p:spPr>
      </p:sp>
      <p:sp>
        <p:nvSpPr>
          <p:cNvPr id="18" name="Text 16"/>
          <p:cNvSpPr/>
          <p:nvPr/>
        </p:nvSpPr>
        <p:spPr>
          <a:xfrm>
            <a:off x="548640" y="3456432"/>
            <a:ext cx="3383280" cy="384048"/>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Log In</a:t>
            </a:r>
            <a:endParaRPr lang="en-US" sz="1300" dirty="0"/>
          </a:p>
        </p:txBody>
      </p:sp>
      <p:sp>
        <p:nvSpPr>
          <p:cNvPr id="19" name="Text 17"/>
          <p:cNvSpPr/>
          <p:nvPr/>
        </p:nvSpPr>
        <p:spPr>
          <a:xfrm>
            <a:off x="320040" y="4846320"/>
            <a:ext cx="3840480" cy="256032"/>
          </a:xfrm>
          <a:prstGeom prst="rect">
            <a:avLst/>
          </a:prstGeom>
          <a:noFill/>
          <a:ln/>
        </p:spPr>
        <p:txBody>
          <a:bodyPr wrap="square" rtlCol="0" anchor="ctr"/>
          <a:lstStyle/>
          <a:p>
            <a:pPr marL="0" indent="0" algn="ctr">
              <a:buNone/>
            </a:pPr>
            <a:r>
              <a:rPr lang="en-US" sz="1000" i="1" dirty="0">
                <a:solidFill>
                  <a:srgbClr val="555555"/>
                </a:solidFill>
                <a:latin typeface="Calibri" pitchFamily="34" charset="0"/>
                <a:ea typeface="Calibri" pitchFamily="34" charset="-122"/>
                <a:cs typeface="Calibri" pitchFamily="34" charset="-120"/>
              </a:rPr>
              <a:t>Fig 1: Student Login</a:t>
            </a:r>
            <a:endParaRPr lang="en-US" sz="1000" dirty="0"/>
          </a:p>
        </p:txBody>
      </p:sp>
      <p:sp>
        <p:nvSpPr>
          <p:cNvPr id="20" name="Shape 18"/>
          <p:cNvSpPr/>
          <p:nvPr/>
        </p:nvSpPr>
        <p:spPr>
          <a:xfrm>
            <a:off x="4983480" y="914400"/>
            <a:ext cx="3840480" cy="3931920"/>
          </a:xfrm>
          <a:prstGeom prst="rect">
            <a:avLst/>
          </a:prstGeom>
          <a:solidFill>
            <a:srgbClr val="F5EFE6"/>
          </a:solidFill>
          <a:ln w="12700">
            <a:solidFill>
              <a:srgbClr val="CCCCCC"/>
            </a:solidFill>
            <a:prstDash val="solid"/>
          </a:ln>
        </p:spPr>
      </p:sp>
      <p:sp>
        <p:nvSpPr>
          <p:cNvPr id="21" name="Shape 19"/>
          <p:cNvSpPr/>
          <p:nvPr/>
        </p:nvSpPr>
        <p:spPr>
          <a:xfrm>
            <a:off x="4983480" y="914400"/>
            <a:ext cx="3840480" cy="402336"/>
          </a:xfrm>
          <a:prstGeom prst="rect">
            <a:avLst/>
          </a:prstGeom>
          <a:solidFill>
            <a:srgbClr val="EDEBE6"/>
          </a:solidFill>
          <a:ln w="12700">
            <a:solidFill>
              <a:srgbClr val="CCCCCC"/>
            </a:solidFill>
            <a:prstDash val="solid"/>
          </a:ln>
        </p:spPr>
      </p:sp>
      <p:sp>
        <p:nvSpPr>
          <p:cNvPr id="22" name="Shape 20"/>
          <p:cNvSpPr/>
          <p:nvPr/>
        </p:nvSpPr>
        <p:spPr>
          <a:xfrm>
            <a:off x="6903720" y="1289304"/>
            <a:ext cx="1920240" cy="36576"/>
          </a:xfrm>
          <a:prstGeom prst="rect">
            <a:avLst/>
          </a:prstGeom>
          <a:solidFill>
            <a:srgbClr val="6B1A1A"/>
          </a:solidFill>
          <a:ln w="12700">
            <a:solidFill>
              <a:srgbClr val="6B1A1A"/>
            </a:solidFill>
            <a:prstDash val="solid"/>
          </a:ln>
        </p:spPr>
      </p:sp>
      <p:sp>
        <p:nvSpPr>
          <p:cNvPr id="23" name="Text 21"/>
          <p:cNvSpPr/>
          <p:nvPr/>
        </p:nvSpPr>
        <p:spPr>
          <a:xfrm>
            <a:off x="4983480" y="914400"/>
            <a:ext cx="1920240" cy="402336"/>
          </a:xfrm>
          <a:prstGeom prst="rect">
            <a:avLst/>
          </a:prstGeom>
          <a:noFill/>
          <a:ln/>
        </p:spPr>
        <p:txBody>
          <a:bodyPr wrap="square" rtlCol="0" anchor="ctr"/>
          <a:lstStyle/>
          <a:p>
            <a:pPr marL="0" indent="0" algn="ctr">
              <a:buNone/>
            </a:pPr>
            <a:r>
              <a:rPr lang="en-US" sz="1100" dirty="0">
                <a:solidFill>
                  <a:srgbClr val="555555"/>
                </a:solidFill>
                <a:latin typeface="Calibri" pitchFamily="34" charset="0"/>
                <a:ea typeface="Calibri" pitchFamily="34" charset="-122"/>
                <a:cs typeface="Calibri" pitchFamily="34" charset="-120"/>
              </a:rPr>
              <a:t>🎓 Student</a:t>
            </a:r>
            <a:endParaRPr lang="en-US" sz="1100" dirty="0"/>
          </a:p>
        </p:txBody>
      </p:sp>
      <p:sp>
        <p:nvSpPr>
          <p:cNvPr id="24" name="Text 22"/>
          <p:cNvSpPr/>
          <p:nvPr/>
        </p:nvSpPr>
        <p:spPr>
          <a:xfrm>
            <a:off x="6903720" y="914400"/>
            <a:ext cx="1920240" cy="402336"/>
          </a:xfrm>
          <a:prstGeom prst="rect">
            <a:avLst/>
          </a:prstGeom>
          <a:noFill/>
          <a:ln/>
        </p:spPr>
        <p:txBody>
          <a:bodyPr wrap="square" rtlCol="0" anchor="ctr"/>
          <a:lstStyle/>
          <a:p>
            <a:pPr marL="0" indent="0" algn="ctr">
              <a:buNone/>
            </a:pPr>
            <a:r>
              <a:rPr lang="en-US" sz="1100" b="1" dirty="0">
                <a:solidFill>
                  <a:srgbClr val="6B1A1A"/>
                </a:solidFill>
                <a:latin typeface="Calibri" pitchFamily="34" charset="0"/>
                <a:ea typeface="Calibri" pitchFamily="34" charset="-122"/>
                <a:cs typeface="Calibri" pitchFamily="34" charset="-120"/>
              </a:rPr>
              <a:t>📚 Teacher</a:t>
            </a:r>
            <a:endParaRPr lang="en-US" sz="1100" dirty="0"/>
          </a:p>
        </p:txBody>
      </p:sp>
      <p:sp>
        <p:nvSpPr>
          <p:cNvPr id="25" name="Text 23"/>
          <p:cNvSpPr/>
          <p:nvPr/>
        </p:nvSpPr>
        <p:spPr>
          <a:xfrm>
            <a:off x="5166360" y="1417320"/>
            <a:ext cx="3474720" cy="384048"/>
          </a:xfrm>
          <a:prstGeom prst="rect">
            <a:avLst/>
          </a:prstGeom>
          <a:noFill/>
          <a:ln/>
        </p:spPr>
        <p:txBody>
          <a:bodyPr wrap="square" rtlCol="0" anchor="ctr"/>
          <a:lstStyle/>
          <a:p>
            <a:pPr marL="0" indent="0" algn="ctr">
              <a:buNone/>
            </a:pPr>
            <a:r>
              <a:rPr lang="en-US" sz="1800" b="1" dirty="0">
                <a:solidFill>
                  <a:srgbClr val="6B1A1A"/>
                </a:solidFill>
                <a:latin typeface="Cambria" pitchFamily="34" charset="0"/>
                <a:ea typeface="Cambria" pitchFamily="34" charset="-122"/>
                <a:cs typeface="Cambria" pitchFamily="34" charset="-120"/>
              </a:rPr>
              <a:t>Teacher Login</a:t>
            </a:r>
            <a:endParaRPr lang="en-US" sz="1800" dirty="0"/>
          </a:p>
        </p:txBody>
      </p:sp>
      <p:sp>
        <p:nvSpPr>
          <p:cNvPr id="26" name="Text 24"/>
          <p:cNvSpPr/>
          <p:nvPr/>
        </p:nvSpPr>
        <p:spPr>
          <a:xfrm>
            <a:off x="5166360" y="1773936"/>
            <a:ext cx="3474720" cy="256032"/>
          </a:xfrm>
          <a:prstGeom prst="rect">
            <a:avLst/>
          </a:prstGeom>
          <a:noFill/>
          <a:ln/>
        </p:spPr>
        <p:txBody>
          <a:bodyPr wrap="square" rtlCol="0" anchor="ctr"/>
          <a:lstStyle/>
          <a:p>
            <a:pPr marL="0" indent="0" algn="ctr">
              <a:buNone/>
            </a:pPr>
            <a:r>
              <a:rPr lang="en-US" sz="1000" dirty="0">
                <a:solidFill>
                  <a:srgbClr val="555555"/>
                </a:solidFill>
                <a:latin typeface="Calibri" pitchFamily="34" charset="0"/>
                <a:ea typeface="Calibri" pitchFamily="34" charset="-122"/>
                <a:cs typeface="Calibri" pitchFamily="34" charset="-120"/>
              </a:rPr>
              <a:t>Welcome back! Please enter your details.</a:t>
            </a:r>
            <a:endParaRPr lang="en-US" sz="1000" dirty="0"/>
          </a:p>
        </p:txBody>
      </p:sp>
      <p:sp>
        <p:nvSpPr>
          <p:cNvPr id="27" name="Text 25"/>
          <p:cNvSpPr/>
          <p:nvPr/>
        </p:nvSpPr>
        <p:spPr>
          <a:xfrm>
            <a:off x="5212080" y="2103120"/>
            <a:ext cx="3383280" cy="228600"/>
          </a:xfrm>
          <a:prstGeom prst="rect">
            <a:avLst/>
          </a:prstGeom>
          <a:noFill/>
          <a:ln/>
        </p:spPr>
        <p:txBody>
          <a:bodyPr wrap="square" rtlCol="0" anchor="ctr"/>
          <a:lstStyle/>
          <a:p>
            <a:pPr marL="0" indent="0">
              <a:buNone/>
            </a:pPr>
            <a:r>
              <a:rPr lang="en-US" sz="1000" dirty="0">
                <a:solidFill>
                  <a:srgbClr val="1A1A1A"/>
                </a:solidFill>
                <a:latin typeface="Calibri" pitchFamily="34" charset="0"/>
                <a:ea typeface="Calibri" pitchFamily="34" charset="-122"/>
                <a:cs typeface="Calibri" pitchFamily="34" charset="-120"/>
              </a:rPr>
              <a:t>Teacher ID</a:t>
            </a:r>
            <a:endParaRPr lang="en-US" sz="1000" dirty="0"/>
          </a:p>
        </p:txBody>
      </p:sp>
      <p:sp>
        <p:nvSpPr>
          <p:cNvPr id="28" name="Shape 26"/>
          <p:cNvSpPr/>
          <p:nvPr/>
        </p:nvSpPr>
        <p:spPr>
          <a:xfrm>
            <a:off x="5212080" y="2304288"/>
            <a:ext cx="3383280" cy="347472"/>
          </a:xfrm>
          <a:prstGeom prst="rect">
            <a:avLst/>
          </a:prstGeom>
          <a:solidFill>
            <a:srgbClr val="FFFFFF"/>
          </a:solidFill>
          <a:ln w="12700">
            <a:solidFill>
              <a:srgbClr val="CCCCCC"/>
            </a:solidFill>
            <a:prstDash val="solid"/>
          </a:ln>
        </p:spPr>
      </p:sp>
      <p:sp>
        <p:nvSpPr>
          <p:cNvPr id="29" name="Text 27"/>
          <p:cNvSpPr/>
          <p:nvPr/>
        </p:nvSpPr>
        <p:spPr>
          <a:xfrm>
            <a:off x="5349240" y="2350008"/>
            <a:ext cx="3108960" cy="256032"/>
          </a:xfrm>
          <a:prstGeom prst="rect">
            <a:avLst/>
          </a:prstGeom>
          <a:noFill/>
          <a:ln/>
        </p:spPr>
        <p:txBody>
          <a:bodyPr wrap="square" rtlCol="0" anchor="ctr"/>
          <a:lstStyle/>
          <a:p>
            <a:pPr marL="0" indent="0">
              <a:buNone/>
            </a:pPr>
            <a:r>
              <a:rPr lang="en-US" sz="1100" dirty="0">
                <a:solidFill>
                  <a:srgbClr val="1A1A1A"/>
                </a:solidFill>
                <a:latin typeface="Calibri" pitchFamily="34" charset="0"/>
                <a:ea typeface="Calibri" pitchFamily="34" charset="-122"/>
                <a:cs typeface="Calibri" pitchFamily="34" charset="-120"/>
              </a:rPr>
              <a:t>admin</a:t>
            </a:r>
            <a:endParaRPr lang="en-US" sz="1100" dirty="0"/>
          </a:p>
        </p:txBody>
      </p:sp>
      <p:sp>
        <p:nvSpPr>
          <p:cNvPr id="30" name="Text 28"/>
          <p:cNvSpPr/>
          <p:nvPr/>
        </p:nvSpPr>
        <p:spPr>
          <a:xfrm>
            <a:off x="5212080" y="2743200"/>
            <a:ext cx="3383280" cy="228600"/>
          </a:xfrm>
          <a:prstGeom prst="rect">
            <a:avLst/>
          </a:prstGeom>
          <a:noFill/>
          <a:ln/>
        </p:spPr>
        <p:txBody>
          <a:bodyPr wrap="square" rtlCol="0" anchor="ctr"/>
          <a:lstStyle/>
          <a:p>
            <a:pPr marL="0" indent="0">
              <a:buNone/>
            </a:pPr>
            <a:r>
              <a:rPr lang="en-US" sz="1000" dirty="0">
                <a:solidFill>
                  <a:srgbClr val="1A1A1A"/>
                </a:solidFill>
                <a:latin typeface="Calibri" pitchFamily="34" charset="0"/>
                <a:ea typeface="Calibri" pitchFamily="34" charset="-122"/>
                <a:cs typeface="Calibri" pitchFamily="34" charset="-120"/>
              </a:rPr>
              <a:t>Password</a:t>
            </a:r>
            <a:endParaRPr lang="en-US" sz="1000" dirty="0"/>
          </a:p>
        </p:txBody>
      </p:sp>
      <p:sp>
        <p:nvSpPr>
          <p:cNvPr id="31" name="Shape 29"/>
          <p:cNvSpPr/>
          <p:nvPr/>
        </p:nvSpPr>
        <p:spPr>
          <a:xfrm>
            <a:off x="5212080" y="2944368"/>
            <a:ext cx="3383280" cy="347472"/>
          </a:xfrm>
          <a:prstGeom prst="rect">
            <a:avLst/>
          </a:prstGeom>
          <a:solidFill>
            <a:srgbClr val="FFFFFF"/>
          </a:solidFill>
          <a:ln w="12700">
            <a:solidFill>
              <a:srgbClr val="CCCCCC"/>
            </a:solidFill>
            <a:prstDash val="solid"/>
          </a:ln>
        </p:spPr>
      </p:sp>
      <p:sp>
        <p:nvSpPr>
          <p:cNvPr id="32" name="Text 30"/>
          <p:cNvSpPr/>
          <p:nvPr/>
        </p:nvSpPr>
        <p:spPr>
          <a:xfrm>
            <a:off x="5349240" y="2980944"/>
            <a:ext cx="3108960" cy="256032"/>
          </a:xfrm>
          <a:prstGeom prst="rect">
            <a:avLst/>
          </a:prstGeom>
          <a:noFill/>
          <a:ln/>
        </p:spPr>
        <p:txBody>
          <a:bodyPr wrap="square" rtlCol="0" anchor="ctr"/>
          <a:lstStyle/>
          <a:p>
            <a:pPr marL="0" indent="0">
              <a:buNone/>
            </a:pPr>
            <a:r>
              <a:rPr lang="en-US" sz="1400" dirty="0">
                <a:solidFill>
                  <a:srgbClr val="1A1A1A"/>
                </a:solidFill>
                <a:latin typeface="Calibri" pitchFamily="34" charset="0"/>
                <a:ea typeface="Calibri" pitchFamily="34" charset="-122"/>
                <a:cs typeface="Calibri" pitchFamily="34" charset="-120"/>
              </a:rPr>
              <a:t>••••••••••</a:t>
            </a:r>
            <a:endParaRPr lang="en-US" sz="1400" dirty="0"/>
          </a:p>
        </p:txBody>
      </p:sp>
      <p:sp>
        <p:nvSpPr>
          <p:cNvPr id="33" name="Shape 31"/>
          <p:cNvSpPr/>
          <p:nvPr/>
        </p:nvSpPr>
        <p:spPr>
          <a:xfrm>
            <a:off x="5212080" y="3456432"/>
            <a:ext cx="3383280" cy="384048"/>
          </a:xfrm>
          <a:prstGeom prst="rect">
            <a:avLst/>
          </a:prstGeom>
          <a:solidFill>
            <a:srgbClr val="6B1A1A"/>
          </a:solidFill>
          <a:ln w="12700">
            <a:solidFill>
              <a:srgbClr val="6B1A1A"/>
            </a:solidFill>
            <a:prstDash val="solid"/>
          </a:ln>
        </p:spPr>
      </p:sp>
      <p:sp>
        <p:nvSpPr>
          <p:cNvPr id="34" name="Text 32"/>
          <p:cNvSpPr/>
          <p:nvPr/>
        </p:nvSpPr>
        <p:spPr>
          <a:xfrm>
            <a:off x="5212080" y="3456432"/>
            <a:ext cx="3383280" cy="384048"/>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Log In</a:t>
            </a:r>
            <a:endParaRPr lang="en-US" sz="1300" dirty="0"/>
          </a:p>
        </p:txBody>
      </p:sp>
      <p:sp>
        <p:nvSpPr>
          <p:cNvPr id="35" name="Text 33"/>
          <p:cNvSpPr/>
          <p:nvPr/>
        </p:nvSpPr>
        <p:spPr>
          <a:xfrm>
            <a:off x="5166360" y="3931920"/>
            <a:ext cx="3474720" cy="274320"/>
          </a:xfrm>
          <a:prstGeom prst="rect">
            <a:avLst/>
          </a:prstGeom>
          <a:noFill/>
          <a:ln/>
        </p:spPr>
        <p:txBody>
          <a:bodyPr wrap="square" rtlCol="0" anchor="ctr"/>
          <a:lstStyle/>
          <a:p>
            <a:pPr marL="0" indent="0" algn="ctr">
              <a:buNone/>
            </a:pPr>
            <a:r>
              <a:rPr lang="en-US" sz="1000" dirty="0">
                <a:solidFill>
                  <a:srgbClr val="555555"/>
                </a:solidFill>
                <a:latin typeface="Calibri" pitchFamily="34" charset="0"/>
                <a:ea typeface="Calibri" pitchFamily="34" charset="-122"/>
                <a:cs typeface="Calibri" pitchFamily="34" charset="-120"/>
              </a:rPr>
              <a:t>Don't have an account?  Register Now</a:t>
            </a:r>
            <a:endParaRPr lang="en-US" sz="1000" dirty="0"/>
          </a:p>
        </p:txBody>
      </p:sp>
      <p:sp>
        <p:nvSpPr>
          <p:cNvPr id="36" name="Text 34"/>
          <p:cNvSpPr/>
          <p:nvPr/>
        </p:nvSpPr>
        <p:spPr>
          <a:xfrm>
            <a:off x="4983480" y="4846320"/>
            <a:ext cx="3840480" cy="256032"/>
          </a:xfrm>
          <a:prstGeom prst="rect">
            <a:avLst/>
          </a:prstGeom>
          <a:noFill/>
          <a:ln/>
        </p:spPr>
        <p:txBody>
          <a:bodyPr wrap="square" rtlCol="0" anchor="ctr"/>
          <a:lstStyle/>
          <a:p>
            <a:pPr marL="0" indent="0" algn="ctr">
              <a:buNone/>
            </a:pPr>
            <a:r>
              <a:rPr lang="en-US" sz="1000" i="1" dirty="0">
                <a:solidFill>
                  <a:srgbClr val="555555"/>
                </a:solidFill>
                <a:latin typeface="Calibri" pitchFamily="34" charset="0"/>
                <a:ea typeface="Calibri" pitchFamily="34" charset="-122"/>
                <a:cs typeface="Calibri" pitchFamily="34" charset="-120"/>
              </a:rPr>
              <a:t>Fig 2: Teacher Login</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6B1A1A"/>
          </a:solidFill>
          <a:ln w="12700">
            <a:solidFill>
              <a:srgbClr val="6B1A1A"/>
            </a:solidFill>
            <a:prstDash val="solid"/>
          </a:ln>
        </p:spPr>
      </p:sp>
      <p:sp>
        <p:nvSpPr>
          <p:cNvPr id="3" name="Text 1"/>
          <p:cNvSpPr/>
          <p:nvPr/>
        </p:nvSpPr>
        <p:spPr>
          <a:xfrm>
            <a:off x="365760" y="0"/>
            <a:ext cx="8412480" cy="777240"/>
          </a:xfrm>
          <a:prstGeom prst="rect">
            <a:avLst/>
          </a:prstGeom>
          <a:noFill/>
          <a:ln/>
        </p:spPr>
        <p:txBody>
          <a:bodyPr wrap="square" lIns="0" tIns="0" rIns="0" bIns="0" rtlCol="0" anchor="ctr"/>
          <a:lstStyle/>
          <a:p>
            <a:pPr marL="0" indent="0">
              <a:buNone/>
            </a:pPr>
            <a:r>
              <a:rPr lang="en-US" sz="2200" b="1" dirty="0">
                <a:solidFill>
                  <a:srgbClr val="FFFFFF"/>
                </a:solidFill>
                <a:latin typeface="Cambria" pitchFamily="34" charset="0"/>
                <a:ea typeface="Cambria" pitchFamily="34" charset="-122"/>
                <a:cs typeface="Cambria" pitchFamily="34" charset="-120"/>
              </a:rPr>
              <a:t>Output Screenshots  —  Teacher Dashboard</a:t>
            </a:r>
            <a:endParaRPr lang="en-US" sz="2200" dirty="0"/>
          </a:p>
        </p:txBody>
      </p:sp>
      <p:sp>
        <p:nvSpPr>
          <p:cNvPr id="4" name="Shape 2"/>
          <p:cNvSpPr/>
          <p:nvPr/>
        </p:nvSpPr>
        <p:spPr>
          <a:xfrm>
            <a:off x="274320" y="896112"/>
            <a:ext cx="8595360" cy="3977640"/>
          </a:xfrm>
          <a:prstGeom prst="rect">
            <a:avLst/>
          </a:prstGeom>
          <a:solidFill>
            <a:srgbClr val="F5EFE6"/>
          </a:solidFill>
          <a:ln w="12700">
            <a:solidFill>
              <a:srgbClr val="CCCCCC"/>
            </a:solidFill>
            <a:prstDash val="solid"/>
          </a:ln>
        </p:spPr>
      </p:sp>
      <p:sp>
        <p:nvSpPr>
          <p:cNvPr id="5" name="Shape 3"/>
          <p:cNvSpPr/>
          <p:nvPr/>
        </p:nvSpPr>
        <p:spPr>
          <a:xfrm>
            <a:off x="274320" y="896112"/>
            <a:ext cx="1554480" cy="3977640"/>
          </a:xfrm>
          <a:prstGeom prst="rect">
            <a:avLst/>
          </a:prstGeom>
          <a:solidFill>
            <a:srgbClr val="4A0F0F"/>
          </a:solidFill>
          <a:ln w="12700">
            <a:solidFill>
              <a:srgbClr val="4A0F0F"/>
            </a:solidFill>
            <a:prstDash val="solid"/>
          </a:ln>
        </p:spPr>
      </p:sp>
      <p:sp>
        <p:nvSpPr>
          <p:cNvPr id="6" name="Text 4"/>
          <p:cNvSpPr/>
          <p:nvPr/>
        </p:nvSpPr>
        <p:spPr>
          <a:xfrm>
            <a:off x="320040" y="969264"/>
            <a:ext cx="1463040" cy="502920"/>
          </a:xfrm>
          <a:prstGeom prst="rect">
            <a:avLst/>
          </a:prstGeom>
          <a:noFill/>
          <a:ln/>
        </p:spPr>
        <p:txBody>
          <a:bodyPr wrap="square" rtlCol="0" anchor="ctr"/>
          <a:lstStyle/>
          <a:p>
            <a:pPr marL="0" indent="0" algn="ctr">
              <a:buNone/>
            </a:pPr>
            <a:r>
              <a:rPr lang="en-US" sz="1000" b="1" dirty="0">
                <a:solidFill>
                  <a:srgbClr val="F5EFE6"/>
                </a:solidFill>
                <a:latin typeface="Cambria" pitchFamily="34" charset="0"/>
                <a:ea typeface="Cambria" pitchFamily="34" charset="-122"/>
                <a:cs typeface="Cambria" pitchFamily="34" charset="-120"/>
              </a:rPr>
              <a:t>EduEval</a:t>
            </a:r>
            <a:endParaRPr lang="en-US" sz="1000" dirty="0"/>
          </a:p>
          <a:p>
            <a:pPr marL="0" indent="0" algn="ctr">
              <a:buNone/>
            </a:pPr>
            <a:r>
              <a:rPr lang="en-US" sz="1000" b="1" dirty="0">
                <a:solidFill>
                  <a:srgbClr val="F5EFE6"/>
                </a:solidFill>
                <a:latin typeface="Cambria" pitchFamily="34" charset="0"/>
                <a:ea typeface="Cambria" pitchFamily="34" charset="-122"/>
                <a:cs typeface="Cambria" pitchFamily="34" charset="-120"/>
              </a:rPr>
              <a:t>Portal</a:t>
            </a:r>
            <a:endParaRPr lang="en-US" sz="1000" dirty="0"/>
          </a:p>
        </p:txBody>
      </p:sp>
      <p:sp>
        <p:nvSpPr>
          <p:cNvPr id="7" name="Shape 5"/>
          <p:cNvSpPr/>
          <p:nvPr/>
        </p:nvSpPr>
        <p:spPr>
          <a:xfrm>
            <a:off x="347472" y="1600200"/>
            <a:ext cx="1408176" cy="292608"/>
          </a:xfrm>
          <a:prstGeom prst="rect">
            <a:avLst/>
          </a:prstGeom>
          <a:solidFill>
            <a:srgbClr val="6B1A1A"/>
          </a:solidFill>
          <a:ln w="12700">
            <a:solidFill>
              <a:srgbClr val="6B1A1A"/>
            </a:solidFill>
            <a:prstDash val="solid"/>
          </a:ln>
        </p:spPr>
      </p:sp>
      <p:sp>
        <p:nvSpPr>
          <p:cNvPr id="8" name="Text 6"/>
          <p:cNvSpPr/>
          <p:nvPr/>
        </p:nvSpPr>
        <p:spPr>
          <a:xfrm>
            <a:off x="347472" y="1600200"/>
            <a:ext cx="1408176" cy="292608"/>
          </a:xfrm>
          <a:prstGeom prst="rect">
            <a:avLst/>
          </a:prstGeom>
          <a:noFill/>
          <a:ln/>
        </p:spPr>
        <p:txBody>
          <a:bodyPr wrap="square" rtlCol="0" anchor="ctr"/>
          <a:lstStyle/>
          <a:p>
            <a:pPr marL="0" indent="0" algn="ctr">
              <a:buNone/>
            </a:pPr>
            <a:r>
              <a:rPr lang="en-US" sz="900" dirty="0">
                <a:solidFill>
                  <a:srgbClr val="FFFFFF"/>
                </a:solidFill>
                <a:latin typeface="Calibri" pitchFamily="34" charset="0"/>
                <a:ea typeface="Calibri" pitchFamily="34" charset="-122"/>
                <a:cs typeface="Calibri" pitchFamily="34" charset="-120"/>
              </a:rPr>
              <a:t>Manage Results</a:t>
            </a:r>
            <a:endParaRPr lang="en-US" sz="900" dirty="0"/>
          </a:p>
        </p:txBody>
      </p:sp>
      <p:sp>
        <p:nvSpPr>
          <p:cNvPr id="9" name="Text 7"/>
          <p:cNvSpPr/>
          <p:nvPr/>
        </p:nvSpPr>
        <p:spPr>
          <a:xfrm>
            <a:off x="347472" y="1956816"/>
            <a:ext cx="1408176" cy="256032"/>
          </a:xfrm>
          <a:prstGeom prst="rect">
            <a:avLst/>
          </a:prstGeom>
          <a:noFill/>
          <a:ln/>
        </p:spPr>
        <p:txBody>
          <a:bodyPr wrap="square" rtlCol="0" anchor="ctr"/>
          <a:lstStyle/>
          <a:p>
            <a:pPr marL="0" indent="0" algn="ctr">
              <a:buNone/>
            </a:pPr>
            <a:r>
              <a:rPr lang="en-US" sz="900" dirty="0">
                <a:solidFill>
                  <a:srgbClr val="CCBBBB"/>
                </a:solidFill>
                <a:latin typeface="Calibri" pitchFamily="34" charset="0"/>
                <a:ea typeface="Calibri" pitchFamily="34" charset="-122"/>
                <a:cs typeface="Calibri" pitchFamily="34" charset="-120"/>
              </a:rPr>
              <a:t>Student Details</a:t>
            </a:r>
            <a:endParaRPr lang="en-US" sz="900" dirty="0"/>
          </a:p>
        </p:txBody>
      </p:sp>
      <p:sp>
        <p:nvSpPr>
          <p:cNvPr id="10" name="Text 8"/>
          <p:cNvSpPr/>
          <p:nvPr/>
        </p:nvSpPr>
        <p:spPr>
          <a:xfrm>
            <a:off x="347472" y="2267712"/>
            <a:ext cx="1408176" cy="256032"/>
          </a:xfrm>
          <a:prstGeom prst="rect">
            <a:avLst/>
          </a:prstGeom>
          <a:noFill/>
          <a:ln/>
        </p:spPr>
        <p:txBody>
          <a:bodyPr wrap="square" rtlCol="0" anchor="ctr"/>
          <a:lstStyle/>
          <a:p>
            <a:pPr marL="0" indent="0" algn="ctr">
              <a:buNone/>
            </a:pPr>
            <a:r>
              <a:rPr lang="en-US" sz="900" dirty="0">
                <a:solidFill>
                  <a:srgbClr val="CCBBBB"/>
                </a:solidFill>
                <a:latin typeface="Calibri" pitchFamily="34" charset="0"/>
                <a:ea typeface="Calibri" pitchFamily="34" charset="-122"/>
                <a:cs typeface="Calibri" pitchFamily="34" charset="-120"/>
              </a:rPr>
              <a:t>Log Out</a:t>
            </a:r>
            <a:endParaRPr lang="en-US" sz="900" dirty="0"/>
          </a:p>
        </p:txBody>
      </p:sp>
      <p:sp>
        <p:nvSpPr>
          <p:cNvPr id="11" name="Text 9"/>
          <p:cNvSpPr/>
          <p:nvPr/>
        </p:nvSpPr>
        <p:spPr>
          <a:xfrm>
            <a:off x="1965960" y="969264"/>
            <a:ext cx="6675120" cy="347472"/>
          </a:xfrm>
          <a:prstGeom prst="rect">
            <a:avLst/>
          </a:prstGeom>
          <a:noFill/>
          <a:ln/>
        </p:spPr>
        <p:txBody>
          <a:bodyPr wrap="square" rtlCol="0" anchor="ctr"/>
          <a:lstStyle/>
          <a:p>
            <a:pPr marL="0" indent="0">
              <a:buNone/>
            </a:pPr>
            <a:r>
              <a:rPr lang="en-US" sz="1300" b="1" dirty="0">
                <a:solidFill>
                  <a:srgbClr val="6B1A1A"/>
                </a:solidFill>
                <a:latin typeface="Cambria" pitchFamily="34" charset="0"/>
                <a:ea typeface="Cambria" pitchFamily="34" charset="-122"/>
                <a:cs typeface="Cambria" pitchFamily="34" charset="-120"/>
              </a:rPr>
              <a:t>Welcome, Main Admin    TEACHER</a:t>
            </a:r>
            <a:endParaRPr lang="en-US" sz="1300" dirty="0"/>
          </a:p>
        </p:txBody>
      </p:sp>
      <p:sp>
        <p:nvSpPr>
          <p:cNvPr id="12" name="Shape 10"/>
          <p:cNvSpPr/>
          <p:nvPr/>
        </p:nvSpPr>
        <p:spPr>
          <a:xfrm>
            <a:off x="2011680" y="1371600"/>
            <a:ext cx="2560320" cy="2468880"/>
          </a:xfrm>
          <a:prstGeom prst="rect">
            <a:avLst/>
          </a:prstGeom>
          <a:solidFill>
            <a:srgbClr val="FFFFFF"/>
          </a:solidFill>
          <a:ln w="12700">
            <a:solidFill>
              <a:srgbClr val="CCCCCC"/>
            </a:solidFill>
            <a:prstDash val="solid"/>
          </a:ln>
        </p:spPr>
      </p:sp>
      <p:sp>
        <p:nvSpPr>
          <p:cNvPr id="13" name="Text 11"/>
          <p:cNvSpPr/>
          <p:nvPr/>
        </p:nvSpPr>
        <p:spPr>
          <a:xfrm>
            <a:off x="2148840" y="1463040"/>
            <a:ext cx="2286000" cy="274320"/>
          </a:xfrm>
          <a:prstGeom prst="rect">
            <a:avLst/>
          </a:prstGeom>
          <a:noFill/>
          <a:ln/>
        </p:spPr>
        <p:txBody>
          <a:bodyPr wrap="square" rtlCol="0" anchor="ctr"/>
          <a:lstStyle/>
          <a:p>
            <a:pPr marL="0" indent="0">
              <a:buNone/>
            </a:pPr>
            <a:r>
              <a:rPr lang="en-US" sz="1200" b="1" dirty="0">
                <a:solidFill>
                  <a:srgbClr val="6B1A1A"/>
                </a:solidFill>
                <a:latin typeface="Cambria" pitchFamily="34" charset="0"/>
                <a:ea typeface="Cambria" pitchFamily="34" charset="-122"/>
                <a:cs typeface="Cambria" pitchFamily="34" charset="-120"/>
              </a:rPr>
              <a:t>Add New Result</a:t>
            </a:r>
            <a:endParaRPr lang="en-US" sz="1200" dirty="0"/>
          </a:p>
        </p:txBody>
      </p:sp>
      <p:sp>
        <p:nvSpPr>
          <p:cNvPr id="14" name="Text 12"/>
          <p:cNvSpPr/>
          <p:nvPr/>
        </p:nvSpPr>
        <p:spPr>
          <a:xfrm>
            <a:off x="2148840" y="1810512"/>
            <a:ext cx="2286000" cy="237744"/>
          </a:xfrm>
          <a:prstGeom prst="rect">
            <a:avLst/>
          </a:prstGeom>
          <a:noFill/>
          <a:ln/>
        </p:spPr>
        <p:txBody>
          <a:bodyPr wrap="square" rtlCol="0" anchor="ctr"/>
          <a:lstStyle/>
          <a:p>
            <a:pPr marL="0" indent="0">
              <a:buNone/>
            </a:pPr>
            <a:r>
              <a:rPr lang="en-US" sz="1000" dirty="0">
                <a:solidFill>
                  <a:srgbClr val="555555"/>
                </a:solidFill>
                <a:latin typeface="Calibri" pitchFamily="34" charset="0"/>
                <a:ea typeface="Calibri" pitchFamily="34" charset="-122"/>
                <a:cs typeface="Calibri" pitchFamily="34" charset="-120"/>
              </a:rPr>
              <a:t>Search Registration ID</a:t>
            </a:r>
            <a:endParaRPr lang="en-US" sz="1000" dirty="0"/>
          </a:p>
        </p:txBody>
      </p:sp>
      <p:sp>
        <p:nvSpPr>
          <p:cNvPr id="15" name="Shape 13"/>
          <p:cNvSpPr/>
          <p:nvPr/>
        </p:nvSpPr>
        <p:spPr>
          <a:xfrm>
            <a:off x="2148840" y="2029968"/>
            <a:ext cx="1508760" cy="320040"/>
          </a:xfrm>
          <a:prstGeom prst="rect">
            <a:avLst/>
          </a:prstGeom>
          <a:solidFill>
            <a:srgbClr val="F5EFE6"/>
          </a:solidFill>
          <a:ln w="12700">
            <a:solidFill>
              <a:srgbClr val="CCCCCC"/>
            </a:solidFill>
            <a:prstDash val="solid"/>
          </a:ln>
        </p:spPr>
      </p:sp>
      <p:sp>
        <p:nvSpPr>
          <p:cNvPr id="16" name="Text 14"/>
          <p:cNvSpPr/>
          <p:nvPr/>
        </p:nvSpPr>
        <p:spPr>
          <a:xfrm>
            <a:off x="2212848" y="2075688"/>
            <a:ext cx="1371600" cy="228600"/>
          </a:xfrm>
          <a:prstGeom prst="rect">
            <a:avLst/>
          </a:prstGeom>
          <a:noFill/>
          <a:ln/>
        </p:spPr>
        <p:txBody>
          <a:bodyPr wrap="square" rtlCol="0" anchor="ctr"/>
          <a:lstStyle/>
          <a:p>
            <a:pPr marL="0" indent="0">
              <a:buNone/>
            </a:pPr>
            <a:r>
              <a:rPr lang="en-US" sz="900" dirty="0">
                <a:solidFill>
                  <a:srgbClr val="555555"/>
                </a:solidFill>
                <a:latin typeface="Calibri" pitchFamily="34" charset="0"/>
                <a:ea typeface="Calibri" pitchFamily="34" charset="-122"/>
                <a:cs typeface="Calibri" pitchFamily="34" charset="-120"/>
              </a:rPr>
              <a:t>E.G. REG101</a:t>
            </a:r>
            <a:endParaRPr lang="en-US" sz="900" dirty="0"/>
          </a:p>
        </p:txBody>
      </p:sp>
      <p:sp>
        <p:nvSpPr>
          <p:cNvPr id="17" name="Shape 15"/>
          <p:cNvSpPr/>
          <p:nvPr/>
        </p:nvSpPr>
        <p:spPr>
          <a:xfrm>
            <a:off x="3730752" y="2029968"/>
            <a:ext cx="685800" cy="320040"/>
          </a:xfrm>
          <a:prstGeom prst="rect">
            <a:avLst/>
          </a:prstGeom>
          <a:solidFill>
            <a:srgbClr val="6B1A1A"/>
          </a:solidFill>
          <a:ln w="12700">
            <a:solidFill>
              <a:srgbClr val="6B1A1A"/>
            </a:solidFill>
            <a:prstDash val="solid"/>
          </a:ln>
        </p:spPr>
      </p:sp>
      <p:sp>
        <p:nvSpPr>
          <p:cNvPr id="18" name="Text 16"/>
          <p:cNvSpPr/>
          <p:nvPr/>
        </p:nvSpPr>
        <p:spPr>
          <a:xfrm>
            <a:off x="3730752" y="2029968"/>
            <a:ext cx="685800" cy="320040"/>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Search</a:t>
            </a:r>
            <a:endParaRPr lang="en-US" sz="900" dirty="0"/>
          </a:p>
        </p:txBody>
      </p:sp>
      <p:sp>
        <p:nvSpPr>
          <p:cNvPr id="19" name="Shape 17"/>
          <p:cNvSpPr/>
          <p:nvPr/>
        </p:nvSpPr>
        <p:spPr>
          <a:xfrm>
            <a:off x="4754880" y="1371600"/>
            <a:ext cx="3931920" cy="2468880"/>
          </a:xfrm>
          <a:prstGeom prst="rect">
            <a:avLst/>
          </a:prstGeom>
          <a:solidFill>
            <a:srgbClr val="FFFFFF"/>
          </a:solidFill>
          <a:ln w="12700">
            <a:solidFill>
              <a:srgbClr val="CCCCCC"/>
            </a:solidFill>
            <a:prstDash val="solid"/>
          </a:ln>
        </p:spPr>
      </p:sp>
      <p:sp>
        <p:nvSpPr>
          <p:cNvPr id="20" name="Text 18"/>
          <p:cNvSpPr/>
          <p:nvPr/>
        </p:nvSpPr>
        <p:spPr>
          <a:xfrm>
            <a:off x="4892040" y="1463040"/>
            <a:ext cx="3657600" cy="274320"/>
          </a:xfrm>
          <a:prstGeom prst="rect">
            <a:avLst/>
          </a:prstGeom>
          <a:noFill/>
          <a:ln/>
        </p:spPr>
        <p:txBody>
          <a:bodyPr wrap="square" rtlCol="0" anchor="ctr"/>
          <a:lstStyle/>
          <a:p>
            <a:pPr marL="0" indent="0">
              <a:buNone/>
            </a:pPr>
            <a:r>
              <a:rPr lang="en-US" sz="1200" b="1" dirty="0">
                <a:solidFill>
                  <a:srgbClr val="6B1A1A"/>
                </a:solidFill>
                <a:latin typeface="Cambria" pitchFamily="34" charset="0"/>
                <a:ea typeface="Cambria" pitchFamily="34" charset="-122"/>
                <a:cs typeface="Cambria" pitchFamily="34" charset="-120"/>
              </a:rPr>
              <a:t>Class Records</a:t>
            </a:r>
            <a:endParaRPr lang="en-US" sz="1200" dirty="0"/>
          </a:p>
        </p:txBody>
      </p:sp>
      <p:sp>
        <p:nvSpPr>
          <p:cNvPr id="21" name="Shape 19"/>
          <p:cNvSpPr/>
          <p:nvPr/>
        </p:nvSpPr>
        <p:spPr>
          <a:xfrm>
            <a:off x="4800600" y="1783080"/>
            <a:ext cx="3794760" cy="256032"/>
          </a:xfrm>
          <a:prstGeom prst="rect">
            <a:avLst/>
          </a:prstGeom>
          <a:solidFill>
            <a:srgbClr val="F2F2F2"/>
          </a:solidFill>
          <a:ln w="12700">
            <a:solidFill>
              <a:srgbClr val="F2F2F2"/>
            </a:solidFill>
            <a:prstDash val="solid"/>
          </a:ln>
        </p:spPr>
      </p:sp>
      <p:sp>
        <p:nvSpPr>
          <p:cNvPr id="22" name="Text 20"/>
          <p:cNvSpPr/>
          <p:nvPr/>
        </p:nvSpPr>
        <p:spPr>
          <a:xfrm>
            <a:off x="4864608" y="1810512"/>
            <a:ext cx="914400" cy="201168"/>
          </a:xfrm>
          <a:prstGeom prst="rect">
            <a:avLst/>
          </a:prstGeom>
          <a:noFill/>
          <a:ln/>
        </p:spPr>
        <p:txBody>
          <a:bodyPr wrap="square" lIns="0" tIns="0" rIns="0" bIns="0" rtlCol="0" anchor="ctr"/>
          <a:lstStyle/>
          <a:p>
            <a:pPr marL="0" indent="0">
              <a:buNone/>
            </a:pPr>
            <a:r>
              <a:rPr lang="en-US" sz="900" b="1" dirty="0">
                <a:solidFill>
                  <a:srgbClr val="1A1A1A"/>
                </a:solidFill>
                <a:latin typeface="Calibri" pitchFamily="34" charset="0"/>
                <a:ea typeface="Calibri" pitchFamily="34" charset="-122"/>
                <a:cs typeface="Calibri" pitchFamily="34" charset="-120"/>
              </a:rPr>
              <a:t>Reg ID</a:t>
            </a:r>
            <a:endParaRPr lang="en-US" sz="900" dirty="0"/>
          </a:p>
        </p:txBody>
      </p:sp>
      <p:sp>
        <p:nvSpPr>
          <p:cNvPr id="23" name="Text 21"/>
          <p:cNvSpPr/>
          <p:nvPr/>
        </p:nvSpPr>
        <p:spPr>
          <a:xfrm>
            <a:off x="5779008" y="1810512"/>
            <a:ext cx="1188720" cy="201168"/>
          </a:xfrm>
          <a:prstGeom prst="rect">
            <a:avLst/>
          </a:prstGeom>
          <a:noFill/>
          <a:ln/>
        </p:spPr>
        <p:txBody>
          <a:bodyPr wrap="square" lIns="0" tIns="0" rIns="0" bIns="0" rtlCol="0" anchor="ctr"/>
          <a:lstStyle/>
          <a:p>
            <a:pPr marL="0" indent="0">
              <a:buNone/>
            </a:pPr>
            <a:r>
              <a:rPr lang="en-US" sz="900" b="1" dirty="0">
                <a:solidFill>
                  <a:srgbClr val="1A1A1A"/>
                </a:solidFill>
                <a:latin typeface="Calibri" pitchFamily="34" charset="0"/>
                <a:ea typeface="Calibri" pitchFamily="34" charset="-122"/>
                <a:cs typeface="Calibri" pitchFamily="34" charset="-120"/>
              </a:rPr>
              <a:t>Student</a:t>
            </a:r>
            <a:endParaRPr lang="en-US" sz="900" dirty="0"/>
          </a:p>
        </p:txBody>
      </p:sp>
      <p:sp>
        <p:nvSpPr>
          <p:cNvPr id="24" name="Text 22"/>
          <p:cNvSpPr/>
          <p:nvPr/>
        </p:nvSpPr>
        <p:spPr>
          <a:xfrm>
            <a:off x="6967728" y="1810512"/>
            <a:ext cx="502920" cy="201168"/>
          </a:xfrm>
          <a:prstGeom prst="rect">
            <a:avLst/>
          </a:prstGeom>
          <a:noFill/>
          <a:ln/>
        </p:spPr>
        <p:txBody>
          <a:bodyPr wrap="square" lIns="0" tIns="0" rIns="0" bIns="0" rtlCol="0" anchor="ctr"/>
          <a:lstStyle/>
          <a:p>
            <a:pPr marL="0" indent="0">
              <a:buNone/>
            </a:pPr>
            <a:r>
              <a:rPr lang="en-US" sz="900" b="1" dirty="0">
                <a:solidFill>
                  <a:srgbClr val="1A1A1A"/>
                </a:solidFill>
                <a:latin typeface="Calibri" pitchFamily="34" charset="0"/>
                <a:ea typeface="Calibri" pitchFamily="34" charset="-122"/>
                <a:cs typeface="Calibri" pitchFamily="34" charset="-120"/>
              </a:rPr>
              <a:t>Dept</a:t>
            </a:r>
            <a:endParaRPr lang="en-US" sz="900" dirty="0"/>
          </a:p>
        </p:txBody>
      </p:sp>
      <p:sp>
        <p:nvSpPr>
          <p:cNvPr id="25" name="Text 23"/>
          <p:cNvSpPr/>
          <p:nvPr/>
        </p:nvSpPr>
        <p:spPr>
          <a:xfrm>
            <a:off x="7470648" y="1810512"/>
            <a:ext cx="502920" cy="201168"/>
          </a:xfrm>
          <a:prstGeom prst="rect">
            <a:avLst/>
          </a:prstGeom>
          <a:noFill/>
          <a:ln/>
        </p:spPr>
        <p:txBody>
          <a:bodyPr wrap="square" lIns="0" tIns="0" rIns="0" bIns="0" rtlCol="0" anchor="ctr"/>
          <a:lstStyle/>
          <a:p>
            <a:pPr marL="0" indent="0">
              <a:buNone/>
            </a:pPr>
            <a:r>
              <a:rPr lang="en-US" sz="900" b="1" dirty="0">
                <a:solidFill>
                  <a:srgbClr val="1A1A1A"/>
                </a:solidFill>
                <a:latin typeface="Calibri" pitchFamily="34" charset="0"/>
                <a:ea typeface="Calibri" pitchFamily="34" charset="-122"/>
                <a:cs typeface="Calibri" pitchFamily="34" charset="-120"/>
              </a:rPr>
              <a:t>CGPA</a:t>
            </a:r>
            <a:endParaRPr lang="en-US" sz="900" dirty="0"/>
          </a:p>
        </p:txBody>
      </p:sp>
      <p:sp>
        <p:nvSpPr>
          <p:cNvPr id="26" name="Text 24"/>
          <p:cNvSpPr/>
          <p:nvPr/>
        </p:nvSpPr>
        <p:spPr>
          <a:xfrm>
            <a:off x="7973568" y="1810512"/>
            <a:ext cx="502920" cy="201168"/>
          </a:xfrm>
          <a:prstGeom prst="rect">
            <a:avLst/>
          </a:prstGeom>
          <a:noFill/>
          <a:ln/>
        </p:spPr>
        <p:txBody>
          <a:bodyPr wrap="square" lIns="0" tIns="0" rIns="0" bIns="0" rtlCol="0" anchor="ctr"/>
          <a:lstStyle/>
          <a:p>
            <a:pPr marL="0" indent="0">
              <a:buNone/>
            </a:pPr>
            <a:r>
              <a:rPr lang="en-US" sz="900" b="1" dirty="0">
                <a:solidFill>
                  <a:srgbClr val="1A1A1A"/>
                </a:solidFill>
                <a:latin typeface="Calibri" pitchFamily="34" charset="0"/>
                <a:ea typeface="Calibri" pitchFamily="34" charset="-122"/>
                <a:cs typeface="Calibri" pitchFamily="34" charset="-120"/>
              </a:rPr>
              <a:t>Status</a:t>
            </a:r>
            <a:endParaRPr lang="en-US" sz="900" dirty="0"/>
          </a:p>
        </p:txBody>
      </p:sp>
      <p:sp>
        <p:nvSpPr>
          <p:cNvPr id="27" name="Text 25"/>
          <p:cNvSpPr/>
          <p:nvPr/>
        </p:nvSpPr>
        <p:spPr>
          <a:xfrm>
            <a:off x="8476488" y="1810512"/>
            <a:ext cx="640080" cy="201168"/>
          </a:xfrm>
          <a:prstGeom prst="rect">
            <a:avLst/>
          </a:prstGeom>
          <a:noFill/>
          <a:ln/>
        </p:spPr>
        <p:txBody>
          <a:bodyPr wrap="square" lIns="0" tIns="0" rIns="0" bIns="0" rtlCol="0" anchor="ctr"/>
          <a:lstStyle/>
          <a:p>
            <a:pPr marL="0" indent="0">
              <a:buNone/>
            </a:pPr>
            <a:r>
              <a:rPr lang="en-US" sz="900" b="1" dirty="0">
                <a:solidFill>
                  <a:srgbClr val="1A1A1A"/>
                </a:solidFill>
                <a:latin typeface="Calibri" pitchFamily="34" charset="0"/>
                <a:ea typeface="Calibri" pitchFamily="34" charset="-122"/>
                <a:cs typeface="Calibri" pitchFamily="34" charset="-120"/>
              </a:rPr>
              <a:t>Action</a:t>
            </a:r>
            <a:endParaRPr lang="en-US" sz="900" dirty="0"/>
          </a:p>
        </p:txBody>
      </p:sp>
      <p:sp>
        <p:nvSpPr>
          <p:cNvPr id="28" name="Text 26"/>
          <p:cNvSpPr/>
          <p:nvPr/>
        </p:nvSpPr>
        <p:spPr>
          <a:xfrm>
            <a:off x="4864608" y="2103120"/>
            <a:ext cx="914400" cy="365760"/>
          </a:xfrm>
          <a:prstGeom prst="rect">
            <a:avLst/>
          </a:prstGeom>
          <a:noFill/>
          <a:ln/>
        </p:spPr>
        <p:txBody>
          <a:bodyPr wrap="square" lIns="0" tIns="0" rIns="0" bIns="0" rtlCol="0" anchor="ctr"/>
          <a:lstStyle/>
          <a:p>
            <a:pPr marL="0" indent="0">
              <a:buNone/>
            </a:pPr>
            <a:r>
              <a:rPr lang="en-US" sz="800" dirty="0">
                <a:solidFill>
                  <a:srgbClr val="6B1A1A"/>
                </a:solidFill>
                <a:latin typeface="Calibri" pitchFamily="34" charset="0"/>
                <a:ea typeface="Calibri" pitchFamily="34" charset="-122"/>
                <a:cs typeface="Calibri" pitchFamily="34" charset="-120"/>
              </a:rPr>
              <a:t>D232410696</a:t>
            </a:r>
            <a:endParaRPr lang="en-US" sz="800" dirty="0"/>
          </a:p>
        </p:txBody>
      </p:sp>
      <p:sp>
        <p:nvSpPr>
          <p:cNvPr id="29" name="Text 27"/>
          <p:cNvSpPr/>
          <p:nvPr/>
        </p:nvSpPr>
        <p:spPr>
          <a:xfrm>
            <a:off x="5779008" y="2103120"/>
            <a:ext cx="1188720" cy="365760"/>
          </a:xfrm>
          <a:prstGeom prst="rect">
            <a:avLst/>
          </a:prstGeom>
          <a:noFill/>
          <a:ln/>
        </p:spPr>
        <p:txBody>
          <a:bodyPr wrap="square" lIns="0" tIns="0" rIns="0" bIns="0" rtlCol="0" anchor="ctr"/>
          <a:lstStyle/>
          <a:p>
            <a:pPr marL="0" indent="0">
              <a:buNone/>
            </a:pPr>
            <a:r>
              <a:rPr lang="en-US" sz="900" dirty="0">
                <a:solidFill>
                  <a:srgbClr val="1A1A1A"/>
                </a:solidFill>
                <a:latin typeface="Calibri" pitchFamily="34" charset="0"/>
                <a:ea typeface="Calibri" pitchFamily="34" charset="-122"/>
                <a:cs typeface="Calibri" pitchFamily="34" charset="-120"/>
              </a:rPr>
              <a:t>Soumacharyya P.</a:t>
            </a:r>
            <a:endParaRPr lang="en-US" sz="900" dirty="0"/>
          </a:p>
        </p:txBody>
      </p:sp>
      <p:sp>
        <p:nvSpPr>
          <p:cNvPr id="30" name="Text 28"/>
          <p:cNvSpPr/>
          <p:nvPr/>
        </p:nvSpPr>
        <p:spPr>
          <a:xfrm>
            <a:off x="6967728" y="2103120"/>
            <a:ext cx="502920" cy="365760"/>
          </a:xfrm>
          <a:prstGeom prst="rect">
            <a:avLst/>
          </a:prstGeom>
          <a:noFill/>
          <a:ln/>
        </p:spPr>
        <p:txBody>
          <a:bodyPr wrap="square" lIns="0" tIns="0" rIns="0" bIns="0" rtlCol="0" anchor="ctr"/>
          <a:lstStyle/>
          <a:p>
            <a:pPr marL="0" indent="0">
              <a:buNone/>
            </a:pPr>
            <a:r>
              <a:rPr lang="en-US" sz="900" dirty="0">
                <a:solidFill>
                  <a:srgbClr val="1A1A1A"/>
                </a:solidFill>
                <a:latin typeface="Calibri" pitchFamily="34" charset="0"/>
                <a:ea typeface="Calibri" pitchFamily="34" charset="-122"/>
                <a:cs typeface="Calibri" pitchFamily="34" charset="-120"/>
              </a:rPr>
              <a:t>ITE</a:t>
            </a:r>
            <a:endParaRPr lang="en-US" sz="900" dirty="0"/>
          </a:p>
        </p:txBody>
      </p:sp>
      <p:sp>
        <p:nvSpPr>
          <p:cNvPr id="31" name="Text 29"/>
          <p:cNvSpPr/>
          <p:nvPr/>
        </p:nvSpPr>
        <p:spPr>
          <a:xfrm>
            <a:off x="7470648" y="2103120"/>
            <a:ext cx="502920" cy="365760"/>
          </a:xfrm>
          <a:prstGeom prst="rect">
            <a:avLst/>
          </a:prstGeom>
          <a:noFill/>
          <a:ln/>
        </p:spPr>
        <p:txBody>
          <a:bodyPr wrap="square" lIns="0" tIns="0" rIns="0" bIns="0" rtlCol="0" anchor="ctr"/>
          <a:lstStyle/>
          <a:p>
            <a:pPr marL="0" indent="0">
              <a:buNone/>
            </a:pPr>
            <a:r>
              <a:rPr lang="en-US" sz="900" dirty="0">
                <a:solidFill>
                  <a:srgbClr val="1A1A1A"/>
                </a:solidFill>
                <a:latin typeface="Calibri" pitchFamily="34" charset="0"/>
                <a:ea typeface="Calibri" pitchFamily="34" charset="-122"/>
                <a:cs typeface="Calibri" pitchFamily="34" charset="-120"/>
              </a:rPr>
              <a:t>7.26</a:t>
            </a:r>
            <a:endParaRPr lang="en-US" sz="900" dirty="0"/>
          </a:p>
        </p:txBody>
      </p:sp>
      <p:sp>
        <p:nvSpPr>
          <p:cNvPr id="32" name="Text 30"/>
          <p:cNvSpPr/>
          <p:nvPr/>
        </p:nvSpPr>
        <p:spPr>
          <a:xfrm>
            <a:off x="7973568" y="2103120"/>
            <a:ext cx="502920" cy="365760"/>
          </a:xfrm>
          <a:prstGeom prst="rect">
            <a:avLst/>
          </a:prstGeom>
          <a:noFill/>
          <a:ln/>
        </p:spPr>
        <p:txBody>
          <a:bodyPr wrap="square" lIns="0" tIns="0" rIns="0" bIns="0" rtlCol="0" anchor="ctr"/>
          <a:lstStyle/>
          <a:p>
            <a:pPr marL="0" indent="0">
              <a:buNone/>
            </a:pPr>
            <a:r>
              <a:rPr lang="en-US" sz="900" dirty="0">
                <a:solidFill>
                  <a:srgbClr val="2E7D32"/>
                </a:solidFill>
                <a:latin typeface="Calibri" pitchFamily="34" charset="0"/>
                <a:ea typeface="Calibri" pitchFamily="34" charset="-122"/>
                <a:cs typeface="Calibri" pitchFamily="34" charset="-120"/>
              </a:rPr>
              <a:t>PASS</a:t>
            </a:r>
            <a:endParaRPr lang="en-US" sz="900" dirty="0"/>
          </a:p>
        </p:txBody>
      </p:sp>
      <p:sp>
        <p:nvSpPr>
          <p:cNvPr id="33" name="Text 31"/>
          <p:cNvSpPr/>
          <p:nvPr/>
        </p:nvSpPr>
        <p:spPr>
          <a:xfrm>
            <a:off x="8476488" y="2103120"/>
            <a:ext cx="640080" cy="365760"/>
          </a:xfrm>
          <a:prstGeom prst="rect">
            <a:avLst/>
          </a:prstGeom>
          <a:noFill/>
          <a:ln/>
        </p:spPr>
        <p:txBody>
          <a:bodyPr wrap="square" rtlCol="0" anchor="ctr"/>
          <a:lstStyle/>
          <a:p>
            <a:pPr marL="0" indent="0">
              <a:buNone/>
            </a:pPr>
            <a:r>
              <a:rPr lang="en-US" sz="900" dirty="0">
                <a:solidFill>
                  <a:srgbClr val="6B1A1A"/>
                </a:solidFill>
                <a:latin typeface="Calibri" pitchFamily="34" charset="0"/>
                <a:ea typeface="Calibri" pitchFamily="34" charset="-122"/>
                <a:cs typeface="Calibri" pitchFamily="34" charset="-120"/>
              </a:rPr>
              <a:t>Edit  Del</a:t>
            </a:r>
            <a:endParaRPr lang="en-US" sz="900" dirty="0"/>
          </a:p>
        </p:txBody>
      </p:sp>
      <p:sp>
        <p:nvSpPr>
          <p:cNvPr id="34" name="Text 32"/>
          <p:cNvSpPr/>
          <p:nvPr/>
        </p:nvSpPr>
        <p:spPr>
          <a:xfrm>
            <a:off x="4864608" y="2578608"/>
            <a:ext cx="914400" cy="365760"/>
          </a:xfrm>
          <a:prstGeom prst="rect">
            <a:avLst/>
          </a:prstGeom>
          <a:noFill/>
          <a:ln/>
        </p:spPr>
        <p:txBody>
          <a:bodyPr wrap="square" lIns="0" tIns="0" rIns="0" bIns="0" rtlCol="0" anchor="ctr"/>
          <a:lstStyle/>
          <a:p>
            <a:pPr marL="0" indent="0">
              <a:buNone/>
            </a:pPr>
            <a:r>
              <a:rPr lang="en-US" sz="800" dirty="0">
                <a:solidFill>
                  <a:srgbClr val="6B1A1A"/>
                </a:solidFill>
                <a:latin typeface="Calibri" pitchFamily="34" charset="0"/>
                <a:ea typeface="Calibri" pitchFamily="34" charset="-122"/>
                <a:cs typeface="Calibri" pitchFamily="34" charset="-120"/>
              </a:rPr>
              <a:t>D232410955</a:t>
            </a:r>
            <a:endParaRPr lang="en-US" sz="800" dirty="0"/>
          </a:p>
        </p:txBody>
      </p:sp>
      <p:sp>
        <p:nvSpPr>
          <p:cNvPr id="35" name="Text 33"/>
          <p:cNvSpPr/>
          <p:nvPr/>
        </p:nvSpPr>
        <p:spPr>
          <a:xfrm>
            <a:off x="5779008" y="2578608"/>
            <a:ext cx="1188720" cy="365760"/>
          </a:xfrm>
          <a:prstGeom prst="rect">
            <a:avLst/>
          </a:prstGeom>
          <a:noFill/>
          <a:ln/>
        </p:spPr>
        <p:txBody>
          <a:bodyPr wrap="square" lIns="0" tIns="0" rIns="0" bIns="0" rtlCol="0" anchor="ctr"/>
          <a:lstStyle/>
          <a:p>
            <a:pPr marL="0" indent="0">
              <a:buNone/>
            </a:pPr>
            <a:r>
              <a:rPr lang="en-US" sz="900" dirty="0">
                <a:solidFill>
                  <a:srgbClr val="1A1A1A"/>
                </a:solidFill>
                <a:latin typeface="Calibri" pitchFamily="34" charset="0"/>
                <a:ea typeface="Calibri" pitchFamily="34" charset="-122"/>
                <a:cs typeface="Calibri" pitchFamily="34" charset="-120"/>
              </a:rPr>
              <a:t>Mahi Gupta</a:t>
            </a:r>
            <a:endParaRPr lang="en-US" sz="900" dirty="0"/>
          </a:p>
        </p:txBody>
      </p:sp>
      <p:sp>
        <p:nvSpPr>
          <p:cNvPr id="36" name="Text 34"/>
          <p:cNvSpPr/>
          <p:nvPr/>
        </p:nvSpPr>
        <p:spPr>
          <a:xfrm>
            <a:off x="6967728" y="2578608"/>
            <a:ext cx="502920" cy="365760"/>
          </a:xfrm>
          <a:prstGeom prst="rect">
            <a:avLst/>
          </a:prstGeom>
          <a:noFill/>
          <a:ln/>
        </p:spPr>
        <p:txBody>
          <a:bodyPr wrap="square" lIns="0" tIns="0" rIns="0" bIns="0" rtlCol="0" anchor="ctr"/>
          <a:lstStyle/>
          <a:p>
            <a:pPr marL="0" indent="0">
              <a:buNone/>
            </a:pPr>
            <a:r>
              <a:rPr lang="en-US" sz="900" dirty="0">
                <a:solidFill>
                  <a:srgbClr val="1A1A1A"/>
                </a:solidFill>
                <a:latin typeface="Calibri" pitchFamily="34" charset="0"/>
                <a:ea typeface="Calibri" pitchFamily="34" charset="-122"/>
                <a:cs typeface="Calibri" pitchFamily="34" charset="-120"/>
              </a:rPr>
              <a:t>ITE</a:t>
            </a:r>
            <a:endParaRPr lang="en-US" sz="900" dirty="0"/>
          </a:p>
        </p:txBody>
      </p:sp>
      <p:sp>
        <p:nvSpPr>
          <p:cNvPr id="37" name="Text 35"/>
          <p:cNvSpPr/>
          <p:nvPr/>
        </p:nvSpPr>
        <p:spPr>
          <a:xfrm>
            <a:off x="7470648" y="2578608"/>
            <a:ext cx="502920" cy="365760"/>
          </a:xfrm>
          <a:prstGeom prst="rect">
            <a:avLst/>
          </a:prstGeom>
          <a:noFill/>
          <a:ln/>
        </p:spPr>
        <p:txBody>
          <a:bodyPr wrap="square" lIns="0" tIns="0" rIns="0" bIns="0" rtlCol="0" anchor="ctr"/>
          <a:lstStyle/>
          <a:p>
            <a:pPr marL="0" indent="0">
              <a:buNone/>
            </a:pPr>
            <a:r>
              <a:rPr lang="en-US" sz="900" dirty="0">
                <a:solidFill>
                  <a:srgbClr val="1A1A1A"/>
                </a:solidFill>
                <a:latin typeface="Calibri" pitchFamily="34" charset="0"/>
                <a:ea typeface="Calibri" pitchFamily="34" charset="-122"/>
                <a:cs typeface="Calibri" pitchFamily="34" charset="-120"/>
              </a:rPr>
              <a:t>5.96</a:t>
            </a:r>
            <a:endParaRPr lang="en-US" sz="900" dirty="0"/>
          </a:p>
        </p:txBody>
      </p:sp>
      <p:sp>
        <p:nvSpPr>
          <p:cNvPr id="38" name="Text 36"/>
          <p:cNvSpPr/>
          <p:nvPr/>
        </p:nvSpPr>
        <p:spPr>
          <a:xfrm>
            <a:off x="7973568" y="2578608"/>
            <a:ext cx="502920" cy="365760"/>
          </a:xfrm>
          <a:prstGeom prst="rect">
            <a:avLst/>
          </a:prstGeom>
          <a:noFill/>
          <a:ln/>
        </p:spPr>
        <p:txBody>
          <a:bodyPr wrap="square" lIns="0" tIns="0" rIns="0" bIns="0" rtlCol="0" anchor="ctr"/>
          <a:lstStyle/>
          <a:p>
            <a:pPr marL="0" indent="0">
              <a:buNone/>
            </a:pPr>
            <a:r>
              <a:rPr lang="en-US" sz="900" dirty="0">
                <a:solidFill>
                  <a:srgbClr val="2E7D32"/>
                </a:solidFill>
                <a:latin typeface="Calibri" pitchFamily="34" charset="0"/>
                <a:ea typeface="Calibri" pitchFamily="34" charset="-122"/>
                <a:cs typeface="Calibri" pitchFamily="34" charset="-120"/>
              </a:rPr>
              <a:t>PASS</a:t>
            </a:r>
            <a:endParaRPr lang="en-US" sz="900" dirty="0"/>
          </a:p>
        </p:txBody>
      </p:sp>
      <p:sp>
        <p:nvSpPr>
          <p:cNvPr id="39" name="Text 37"/>
          <p:cNvSpPr/>
          <p:nvPr/>
        </p:nvSpPr>
        <p:spPr>
          <a:xfrm>
            <a:off x="8476488" y="2578608"/>
            <a:ext cx="640080" cy="365760"/>
          </a:xfrm>
          <a:prstGeom prst="rect">
            <a:avLst/>
          </a:prstGeom>
          <a:noFill/>
          <a:ln/>
        </p:spPr>
        <p:txBody>
          <a:bodyPr wrap="square" rtlCol="0" anchor="ctr"/>
          <a:lstStyle/>
          <a:p>
            <a:pPr marL="0" indent="0">
              <a:buNone/>
            </a:pPr>
            <a:r>
              <a:rPr lang="en-US" sz="900" dirty="0">
                <a:solidFill>
                  <a:srgbClr val="6B1A1A"/>
                </a:solidFill>
                <a:latin typeface="Calibri" pitchFamily="34" charset="0"/>
                <a:ea typeface="Calibri" pitchFamily="34" charset="-122"/>
                <a:cs typeface="Calibri" pitchFamily="34" charset="-120"/>
              </a:rPr>
              <a:t>Edit  Del</a:t>
            </a:r>
            <a:endParaRPr lang="en-US" sz="900" dirty="0"/>
          </a:p>
        </p:txBody>
      </p:sp>
      <p:sp>
        <p:nvSpPr>
          <p:cNvPr id="40" name="Text 38"/>
          <p:cNvSpPr/>
          <p:nvPr/>
        </p:nvSpPr>
        <p:spPr>
          <a:xfrm>
            <a:off x="4864608" y="3054096"/>
            <a:ext cx="914400" cy="365760"/>
          </a:xfrm>
          <a:prstGeom prst="rect">
            <a:avLst/>
          </a:prstGeom>
          <a:noFill/>
          <a:ln/>
        </p:spPr>
        <p:txBody>
          <a:bodyPr wrap="square" lIns="0" tIns="0" rIns="0" bIns="0" rtlCol="0" anchor="ctr"/>
          <a:lstStyle/>
          <a:p>
            <a:pPr marL="0" indent="0">
              <a:buNone/>
            </a:pPr>
            <a:r>
              <a:rPr lang="en-US" sz="800" dirty="0">
                <a:solidFill>
                  <a:srgbClr val="6B1A1A"/>
                </a:solidFill>
                <a:latin typeface="Calibri" pitchFamily="34" charset="0"/>
                <a:ea typeface="Calibri" pitchFamily="34" charset="-122"/>
                <a:cs typeface="Calibri" pitchFamily="34" charset="-120"/>
              </a:rPr>
              <a:t>D232410652</a:t>
            </a:r>
            <a:endParaRPr lang="en-US" sz="800" dirty="0"/>
          </a:p>
        </p:txBody>
      </p:sp>
      <p:sp>
        <p:nvSpPr>
          <p:cNvPr id="41" name="Text 39"/>
          <p:cNvSpPr/>
          <p:nvPr/>
        </p:nvSpPr>
        <p:spPr>
          <a:xfrm>
            <a:off x="5779008" y="3054096"/>
            <a:ext cx="1188720" cy="365760"/>
          </a:xfrm>
          <a:prstGeom prst="rect">
            <a:avLst/>
          </a:prstGeom>
          <a:noFill/>
          <a:ln/>
        </p:spPr>
        <p:txBody>
          <a:bodyPr wrap="square" lIns="0" tIns="0" rIns="0" bIns="0" rtlCol="0" anchor="ctr"/>
          <a:lstStyle/>
          <a:p>
            <a:pPr marL="0" indent="0">
              <a:buNone/>
            </a:pPr>
            <a:r>
              <a:rPr lang="en-US" sz="900" dirty="0">
                <a:solidFill>
                  <a:srgbClr val="1A1A1A"/>
                </a:solidFill>
                <a:latin typeface="Calibri" pitchFamily="34" charset="0"/>
                <a:ea typeface="Calibri" pitchFamily="34" charset="-122"/>
                <a:cs typeface="Calibri" pitchFamily="34" charset="-120"/>
              </a:rPr>
              <a:t>Debargha P.</a:t>
            </a:r>
            <a:endParaRPr lang="en-US" sz="900" dirty="0"/>
          </a:p>
        </p:txBody>
      </p:sp>
      <p:sp>
        <p:nvSpPr>
          <p:cNvPr id="42" name="Text 40"/>
          <p:cNvSpPr/>
          <p:nvPr/>
        </p:nvSpPr>
        <p:spPr>
          <a:xfrm>
            <a:off x="6967728" y="3054096"/>
            <a:ext cx="502920" cy="365760"/>
          </a:xfrm>
          <a:prstGeom prst="rect">
            <a:avLst/>
          </a:prstGeom>
          <a:noFill/>
          <a:ln/>
        </p:spPr>
        <p:txBody>
          <a:bodyPr wrap="square" lIns="0" tIns="0" rIns="0" bIns="0" rtlCol="0" anchor="ctr"/>
          <a:lstStyle/>
          <a:p>
            <a:pPr marL="0" indent="0">
              <a:buNone/>
            </a:pPr>
            <a:r>
              <a:rPr lang="en-US" sz="900" dirty="0">
                <a:solidFill>
                  <a:srgbClr val="1A1A1A"/>
                </a:solidFill>
                <a:latin typeface="Calibri" pitchFamily="34" charset="0"/>
                <a:ea typeface="Calibri" pitchFamily="34" charset="-122"/>
                <a:cs typeface="Calibri" pitchFamily="34" charset="-120"/>
              </a:rPr>
              <a:t>ITE</a:t>
            </a:r>
            <a:endParaRPr lang="en-US" sz="900" dirty="0"/>
          </a:p>
        </p:txBody>
      </p:sp>
      <p:sp>
        <p:nvSpPr>
          <p:cNvPr id="43" name="Text 41"/>
          <p:cNvSpPr/>
          <p:nvPr/>
        </p:nvSpPr>
        <p:spPr>
          <a:xfrm>
            <a:off x="7470648" y="3054096"/>
            <a:ext cx="502920" cy="365760"/>
          </a:xfrm>
          <a:prstGeom prst="rect">
            <a:avLst/>
          </a:prstGeom>
          <a:noFill/>
          <a:ln/>
        </p:spPr>
        <p:txBody>
          <a:bodyPr wrap="square" lIns="0" tIns="0" rIns="0" bIns="0" rtlCol="0" anchor="ctr"/>
          <a:lstStyle/>
          <a:p>
            <a:pPr marL="0" indent="0">
              <a:buNone/>
            </a:pPr>
            <a:r>
              <a:rPr lang="en-US" sz="900" dirty="0">
                <a:solidFill>
                  <a:srgbClr val="1A1A1A"/>
                </a:solidFill>
                <a:latin typeface="Calibri" pitchFamily="34" charset="0"/>
                <a:ea typeface="Calibri" pitchFamily="34" charset="-122"/>
                <a:cs typeface="Calibri" pitchFamily="34" charset="-120"/>
              </a:rPr>
              <a:t>6.22</a:t>
            </a:r>
            <a:endParaRPr lang="en-US" sz="900" dirty="0"/>
          </a:p>
        </p:txBody>
      </p:sp>
      <p:sp>
        <p:nvSpPr>
          <p:cNvPr id="44" name="Text 42"/>
          <p:cNvSpPr/>
          <p:nvPr/>
        </p:nvSpPr>
        <p:spPr>
          <a:xfrm>
            <a:off x="7973568" y="3054096"/>
            <a:ext cx="502920" cy="365760"/>
          </a:xfrm>
          <a:prstGeom prst="rect">
            <a:avLst/>
          </a:prstGeom>
          <a:noFill/>
          <a:ln/>
        </p:spPr>
        <p:txBody>
          <a:bodyPr wrap="square" lIns="0" tIns="0" rIns="0" bIns="0" rtlCol="0" anchor="ctr"/>
          <a:lstStyle/>
          <a:p>
            <a:pPr marL="0" indent="0">
              <a:buNone/>
            </a:pPr>
            <a:r>
              <a:rPr lang="en-US" sz="900" dirty="0">
                <a:solidFill>
                  <a:srgbClr val="2E7D32"/>
                </a:solidFill>
                <a:latin typeface="Calibri" pitchFamily="34" charset="0"/>
                <a:ea typeface="Calibri" pitchFamily="34" charset="-122"/>
                <a:cs typeface="Calibri" pitchFamily="34" charset="-120"/>
              </a:rPr>
              <a:t>PASS</a:t>
            </a:r>
            <a:endParaRPr lang="en-US" sz="900" dirty="0"/>
          </a:p>
        </p:txBody>
      </p:sp>
      <p:sp>
        <p:nvSpPr>
          <p:cNvPr id="45" name="Text 43"/>
          <p:cNvSpPr/>
          <p:nvPr/>
        </p:nvSpPr>
        <p:spPr>
          <a:xfrm>
            <a:off x="8476488" y="3054096"/>
            <a:ext cx="640080" cy="365760"/>
          </a:xfrm>
          <a:prstGeom prst="rect">
            <a:avLst/>
          </a:prstGeom>
          <a:noFill/>
          <a:ln/>
        </p:spPr>
        <p:txBody>
          <a:bodyPr wrap="square" rtlCol="0" anchor="ctr"/>
          <a:lstStyle/>
          <a:p>
            <a:pPr marL="0" indent="0">
              <a:buNone/>
            </a:pPr>
            <a:r>
              <a:rPr lang="en-US" sz="900" dirty="0">
                <a:solidFill>
                  <a:srgbClr val="6B1A1A"/>
                </a:solidFill>
                <a:latin typeface="Calibri" pitchFamily="34" charset="0"/>
                <a:ea typeface="Calibri" pitchFamily="34" charset="-122"/>
                <a:cs typeface="Calibri" pitchFamily="34" charset="-120"/>
              </a:rPr>
              <a:t>Edit  Del</a:t>
            </a:r>
            <a:endParaRPr lang="en-US" sz="900" dirty="0"/>
          </a:p>
        </p:txBody>
      </p:sp>
      <p:sp>
        <p:nvSpPr>
          <p:cNvPr id="46" name="Shape 44"/>
          <p:cNvSpPr/>
          <p:nvPr/>
        </p:nvSpPr>
        <p:spPr>
          <a:xfrm>
            <a:off x="7223760" y="4434840"/>
            <a:ext cx="1508760" cy="347472"/>
          </a:xfrm>
          <a:prstGeom prst="rect">
            <a:avLst/>
          </a:prstGeom>
          <a:solidFill>
            <a:srgbClr val="6B1A1A"/>
          </a:solidFill>
          <a:ln w="12700">
            <a:solidFill>
              <a:srgbClr val="6B1A1A"/>
            </a:solidFill>
            <a:prstDash val="solid"/>
          </a:ln>
        </p:spPr>
      </p:sp>
      <p:sp>
        <p:nvSpPr>
          <p:cNvPr id="47" name="Text 45"/>
          <p:cNvSpPr/>
          <p:nvPr/>
        </p:nvSpPr>
        <p:spPr>
          <a:xfrm>
            <a:off x="7223760" y="4434840"/>
            <a:ext cx="1508760" cy="347472"/>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 Live Support</a:t>
            </a:r>
            <a:endParaRPr lang="en-US" sz="1000" dirty="0"/>
          </a:p>
        </p:txBody>
      </p:sp>
      <p:sp>
        <p:nvSpPr>
          <p:cNvPr id="48" name="Text 46"/>
          <p:cNvSpPr/>
          <p:nvPr/>
        </p:nvSpPr>
        <p:spPr>
          <a:xfrm>
            <a:off x="274320" y="4846320"/>
            <a:ext cx="8595360" cy="256032"/>
          </a:xfrm>
          <a:prstGeom prst="rect">
            <a:avLst/>
          </a:prstGeom>
          <a:noFill/>
          <a:ln/>
        </p:spPr>
        <p:txBody>
          <a:bodyPr wrap="square" rtlCol="0" anchor="ctr"/>
          <a:lstStyle/>
          <a:p>
            <a:pPr marL="0" indent="0" algn="ctr">
              <a:buNone/>
            </a:pPr>
            <a:r>
              <a:rPr lang="en-US" sz="1000" i="1" dirty="0">
                <a:solidFill>
                  <a:srgbClr val="555555"/>
                </a:solidFill>
                <a:latin typeface="Calibri" pitchFamily="34" charset="0"/>
                <a:ea typeface="Calibri" pitchFamily="34" charset="-122"/>
                <a:cs typeface="Calibri" pitchFamily="34" charset="-120"/>
              </a:rPr>
              <a:t>Fig 3: Teacher Dashboard — Manage Results</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6B1A1A"/>
          </a:solidFill>
          <a:ln w="12700">
            <a:solidFill>
              <a:srgbClr val="6B1A1A"/>
            </a:solidFill>
            <a:prstDash val="solid"/>
          </a:ln>
        </p:spPr>
      </p:sp>
      <p:sp>
        <p:nvSpPr>
          <p:cNvPr id="3" name="Text 1"/>
          <p:cNvSpPr/>
          <p:nvPr/>
        </p:nvSpPr>
        <p:spPr>
          <a:xfrm>
            <a:off x="365760" y="0"/>
            <a:ext cx="8412480" cy="777240"/>
          </a:xfrm>
          <a:prstGeom prst="rect">
            <a:avLst/>
          </a:prstGeom>
          <a:noFill/>
          <a:ln/>
        </p:spPr>
        <p:txBody>
          <a:bodyPr wrap="square" lIns="0" tIns="0" rIns="0" bIns="0" rtlCol="0" anchor="ctr"/>
          <a:lstStyle/>
          <a:p>
            <a:pPr marL="0" indent="0">
              <a:buNone/>
            </a:pPr>
            <a:r>
              <a:rPr lang="en-US" sz="2200" b="1" dirty="0">
                <a:solidFill>
                  <a:srgbClr val="FFFFFF"/>
                </a:solidFill>
                <a:latin typeface="Cambria" pitchFamily="34" charset="0"/>
                <a:ea typeface="Cambria" pitchFamily="34" charset="-122"/>
                <a:cs typeface="Cambria" pitchFamily="34" charset="-120"/>
              </a:rPr>
              <a:t>Output Screenshots  —  Student Result Card</a:t>
            </a:r>
            <a:endParaRPr lang="en-US" sz="2200" dirty="0"/>
          </a:p>
        </p:txBody>
      </p:sp>
      <p:sp>
        <p:nvSpPr>
          <p:cNvPr id="4" name="Shape 2"/>
          <p:cNvSpPr/>
          <p:nvPr/>
        </p:nvSpPr>
        <p:spPr>
          <a:xfrm>
            <a:off x="274320" y="896112"/>
            <a:ext cx="8595360" cy="3977640"/>
          </a:xfrm>
          <a:prstGeom prst="rect">
            <a:avLst/>
          </a:prstGeom>
          <a:solidFill>
            <a:srgbClr val="F5EFE6"/>
          </a:solidFill>
          <a:ln w="12700">
            <a:solidFill>
              <a:srgbClr val="CCCCCC"/>
            </a:solidFill>
            <a:prstDash val="solid"/>
          </a:ln>
        </p:spPr>
      </p:sp>
      <p:sp>
        <p:nvSpPr>
          <p:cNvPr id="5" name="Shape 3"/>
          <p:cNvSpPr/>
          <p:nvPr/>
        </p:nvSpPr>
        <p:spPr>
          <a:xfrm>
            <a:off x="274320" y="896112"/>
            <a:ext cx="1554480" cy="3977640"/>
          </a:xfrm>
          <a:prstGeom prst="rect">
            <a:avLst/>
          </a:prstGeom>
          <a:solidFill>
            <a:srgbClr val="4A0F0F"/>
          </a:solidFill>
          <a:ln w="12700">
            <a:solidFill>
              <a:srgbClr val="4A0F0F"/>
            </a:solidFill>
            <a:prstDash val="solid"/>
          </a:ln>
        </p:spPr>
      </p:sp>
      <p:sp>
        <p:nvSpPr>
          <p:cNvPr id="6" name="Text 4"/>
          <p:cNvSpPr/>
          <p:nvPr/>
        </p:nvSpPr>
        <p:spPr>
          <a:xfrm>
            <a:off x="320040" y="969264"/>
            <a:ext cx="1463040" cy="502920"/>
          </a:xfrm>
          <a:prstGeom prst="rect">
            <a:avLst/>
          </a:prstGeom>
          <a:noFill/>
          <a:ln/>
        </p:spPr>
        <p:txBody>
          <a:bodyPr wrap="square" rtlCol="0" anchor="ctr"/>
          <a:lstStyle/>
          <a:p>
            <a:pPr marL="0" indent="0" algn="ctr">
              <a:buNone/>
            </a:pPr>
            <a:r>
              <a:rPr lang="en-US" sz="1000" b="1" dirty="0">
                <a:solidFill>
                  <a:srgbClr val="F5EFE6"/>
                </a:solidFill>
                <a:latin typeface="Cambria" pitchFamily="34" charset="0"/>
                <a:ea typeface="Cambria" pitchFamily="34" charset="-122"/>
                <a:cs typeface="Cambria" pitchFamily="34" charset="-120"/>
              </a:rPr>
              <a:t>EduEval</a:t>
            </a:r>
            <a:endParaRPr lang="en-US" sz="1000" dirty="0"/>
          </a:p>
          <a:p>
            <a:pPr marL="0" indent="0" algn="ctr">
              <a:buNone/>
            </a:pPr>
            <a:r>
              <a:rPr lang="en-US" sz="1000" b="1" dirty="0">
                <a:solidFill>
                  <a:srgbClr val="F5EFE6"/>
                </a:solidFill>
                <a:latin typeface="Cambria" pitchFamily="34" charset="0"/>
                <a:ea typeface="Cambria" pitchFamily="34" charset="-122"/>
                <a:cs typeface="Cambria" pitchFamily="34" charset="-120"/>
              </a:rPr>
              <a:t>Portal</a:t>
            </a:r>
            <a:endParaRPr lang="en-US" sz="1000" dirty="0"/>
          </a:p>
        </p:txBody>
      </p:sp>
      <p:sp>
        <p:nvSpPr>
          <p:cNvPr id="7" name="Shape 5"/>
          <p:cNvSpPr/>
          <p:nvPr/>
        </p:nvSpPr>
        <p:spPr>
          <a:xfrm>
            <a:off x="347472" y="1600200"/>
            <a:ext cx="1408176" cy="292608"/>
          </a:xfrm>
          <a:prstGeom prst="rect">
            <a:avLst/>
          </a:prstGeom>
          <a:solidFill>
            <a:srgbClr val="6B1A1A"/>
          </a:solidFill>
          <a:ln w="12700">
            <a:solidFill>
              <a:srgbClr val="6B1A1A"/>
            </a:solidFill>
            <a:prstDash val="solid"/>
          </a:ln>
        </p:spPr>
      </p:sp>
      <p:sp>
        <p:nvSpPr>
          <p:cNvPr id="8" name="Text 6"/>
          <p:cNvSpPr/>
          <p:nvPr/>
        </p:nvSpPr>
        <p:spPr>
          <a:xfrm>
            <a:off x="347472" y="1600200"/>
            <a:ext cx="1408176" cy="292608"/>
          </a:xfrm>
          <a:prstGeom prst="rect">
            <a:avLst/>
          </a:prstGeom>
          <a:noFill/>
          <a:ln/>
        </p:spPr>
        <p:txBody>
          <a:bodyPr wrap="square" rtlCol="0" anchor="ctr"/>
          <a:lstStyle/>
          <a:p>
            <a:pPr marL="0" indent="0" algn="ctr">
              <a:buNone/>
            </a:pPr>
            <a:r>
              <a:rPr lang="en-US" sz="900" dirty="0">
                <a:solidFill>
                  <a:srgbClr val="FFFFFF"/>
                </a:solidFill>
                <a:latin typeface="Calibri" pitchFamily="34" charset="0"/>
                <a:ea typeface="Calibri" pitchFamily="34" charset="-122"/>
                <a:cs typeface="Calibri" pitchFamily="34" charset="-120"/>
              </a:rPr>
              <a:t>My Result</a:t>
            </a:r>
            <a:endParaRPr lang="en-US" sz="900" dirty="0"/>
          </a:p>
        </p:txBody>
      </p:sp>
      <p:sp>
        <p:nvSpPr>
          <p:cNvPr id="9" name="Text 7"/>
          <p:cNvSpPr/>
          <p:nvPr/>
        </p:nvSpPr>
        <p:spPr>
          <a:xfrm>
            <a:off x="347472" y="1956816"/>
            <a:ext cx="1408176" cy="256032"/>
          </a:xfrm>
          <a:prstGeom prst="rect">
            <a:avLst/>
          </a:prstGeom>
          <a:noFill/>
          <a:ln/>
        </p:spPr>
        <p:txBody>
          <a:bodyPr wrap="square" rtlCol="0" anchor="ctr"/>
          <a:lstStyle/>
          <a:p>
            <a:pPr marL="0" indent="0" algn="ctr">
              <a:buNone/>
            </a:pPr>
            <a:r>
              <a:rPr lang="en-US" sz="900" dirty="0">
                <a:solidFill>
                  <a:srgbClr val="CCBBBB"/>
                </a:solidFill>
                <a:latin typeface="Calibri" pitchFamily="34" charset="0"/>
                <a:ea typeface="Calibri" pitchFamily="34" charset="-122"/>
                <a:cs typeface="Calibri" pitchFamily="34" charset="-120"/>
              </a:rPr>
              <a:t>Log Out</a:t>
            </a:r>
            <a:endParaRPr lang="en-US" sz="900" dirty="0"/>
          </a:p>
        </p:txBody>
      </p:sp>
      <p:sp>
        <p:nvSpPr>
          <p:cNvPr id="10" name="Text 8"/>
          <p:cNvSpPr/>
          <p:nvPr/>
        </p:nvSpPr>
        <p:spPr>
          <a:xfrm>
            <a:off x="1965960" y="969264"/>
            <a:ext cx="6675120" cy="347472"/>
          </a:xfrm>
          <a:prstGeom prst="rect">
            <a:avLst/>
          </a:prstGeom>
          <a:noFill/>
          <a:ln/>
        </p:spPr>
        <p:txBody>
          <a:bodyPr wrap="square" rtlCol="0" anchor="ctr"/>
          <a:lstStyle/>
          <a:p>
            <a:pPr marL="0" indent="0">
              <a:buNone/>
            </a:pPr>
            <a:r>
              <a:rPr lang="en-US" sz="1200" b="1" dirty="0">
                <a:solidFill>
                  <a:srgbClr val="6B1A1A"/>
                </a:solidFill>
                <a:latin typeface="Cambria" pitchFamily="34" charset="0"/>
                <a:ea typeface="Cambria" pitchFamily="34" charset="-122"/>
                <a:cs typeface="Cambria" pitchFamily="34" charset="-120"/>
              </a:rPr>
              <a:t>Welcome, Soumacharyya Paul    STUDENT</a:t>
            </a:r>
            <a:endParaRPr lang="en-US" sz="1200" dirty="0"/>
          </a:p>
        </p:txBody>
      </p:sp>
      <p:sp>
        <p:nvSpPr>
          <p:cNvPr id="11" name="Shape 9"/>
          <p:cNvSpPr/>
          <p:nvPr/>
        </p:nvSpPr>
        <p:spPr>
          <a:xfrm>
            <a:off x="1920240" y="1371600"/>
            <a:ext cx="6858000" cy="3383280"/>
          </a:xfrm>
          <a:prstGeom prst="rect">
            <a:avLst/>
          </a:prstGeom>
          <a:solidFill>
            <a:srgbClr val="FFFFFF"/>
          </a:solidFill>
          <a:ln w="12700">
            <a:solidFill>
              <a:srgbClr val="CCCCCC"/>
            </a:solidFill>
            <a:prstDash val="solid"/>
          </a:ln>
        </p:spPr>
      </p:sp>
      <p:sp>
        <p:nvSpPr>
          <p:cNvPr id="12" name="Text 10"/>
          <p:cNvSpPr/>
          <p:nvPr/>
        </p:nvSpPr>
        <p:spPr>
          <a:xfrm>
            <a:off x="2011680" y="1417320"/>
            <a:ext cx="6675120" cy="320040"/>
          </a:xfrm>
          <a:prstGeom prst="rect">
            <a:avLst/>
          </a:prstGeom>
          <a:noFill/>
          <a:ln/>
        </p:spPr>
        <p:txBody>
          <a:bodyPr wrap="square" rtlCol="0" anchor="ctr"/>
          <a:lstStyle/>
          <a:p>
            <a:pPr marL="0" indent="0" algn="ctr">
              <a:buNone/>
            </a:pPr>
            <a:r>
              <a:rPr lang="en-US" sz="1400" b="1" dirty="0">
                <a:solidFill>
                  <a:srgbClr val="6B1A1A"/>
                </a:solidFill>
                <a:latin typeface="Cambria" pitchFamily="34" charset="0"/>
                <a:ea typeface="Cambria" pitchFamily="34" charset="-122"/>
                <a:cs typeface="Cambria" pitchFamily="34" charset="-120"/>
              </a:rPr>
              <a:t>Your Academic Result</a:t>
            </a:r>
            <a:endParaRPr lang="en-US" sz="1400" dirty="0"/>
          </a:p>
        </p:txBody>
      </p:sp>
      <p:sp>
        <p:nvSpPr>
          <p:cNvPr id="13" name="Shape 11"/>
          <p:cNvSpPr/>
          <p:nvPr/>
        </p:nvSpPr>
        <p:spPr>
          <a:xfrm>
            <a:off x="2057400" y="1783080"/>
            <a:ext cx="6583680" cy="347472"/>
          </a:xfrm>
          <a:prstGeom prst="rect">
            <a:avLst/>
          </a:prstGeom>
          <a:solidFill>
            <a:srgbClr val="6B1A1A"/>
          </a:solidFill>
          <a:ln w="12700">
            <a:solidFill>
              <a:srgbClr val="6B1A1A"/>
            </a:solidFill>
            <a:prstDash val="solid"/>
          </a:ln>
        </p:spPr>
      </p:sp>
      <p:sp>
        <p:nvSpPr>
          <p:cNvPr id="14" name="Text 12"/>
          <p:cNvSpPr/>
          <p:nvPr/>
        </p:nvSpPr>
        <p:spPr>
          <a:xfrm>
            <a:off x="2057400" y="1783080"/>
            <a:ext cx="6583680" cy="347472"/>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OFFICIAL ACADEMIC REPORT</a:t>
            </a:r>
            <a:endParaRPr lang="en-US" sz="1100" dirty="0"/>
          </a:p>
        </p:txBody>
      </p:sp>
      <p:sp>
        <p:nvSpPr>
          <p:cNvPr id="15" name="Text 13"/>
          <p:cNvSpPr/>
          <p:nvPr/>
        </p:nvSpPr>
        <p:spPr>
          <a:xfrm>
            <a:off x="2148840" y="2212848"/>
            <a:ext cx="3657600" cy="292608"/>
          </a:xfrm>
          <a:prstGeom prst="rect">
            <a:avLst/>
          </a:prstGeom>
          <a:noFill/>
          <a:ln/>
        </p:spPr>
        <p:txBody>
          <a:bodyPr wrap="square" rtlCol="0" anchor="ctr"/>
          <a:lstStyle/>
          <a:p>
            <a:pPr marL="0" indent="0">
              <a:buNone/>
            </a:pPr>
            <a:r>
              <a:rPr lang="en-US" sz="1200" b="1" dirty="0">
                <a:solidFill>
                  <a:srgbClr val="6B1A1A"/>
                </a:solidFill>
                <a:latin typeface="Cambria" pitchFamily="34" charset="0"/>
                <a:ea typeface="Cambria" pitchFamily="34" charset="-122"/>
                <a:cs typeface="Cambria" pitchFamily="34" charset="-120"/>
              </a:rPr>
              <a:t>Soumacharyya Paul</a:t>
            </a:r>
            <a:endParaRPr lang="en-US" sz="1200" dirty="0"/>
          </a:p>
        </p:txBody>
      </p:sp>
      <p:sp>
        <p:nvSpPr>
          <p:cNvPr id="16" name="Text 14"/>
          <p:cNvSpPr/>
          <p:nvPr/>
        </p:nvSpPr>
        <p:spPr>
          <a:xfrm>
            <a:off x="2148840" y="2487168"/>
            <a:ext cx="3657600" cy="219456"/>
          </a:xfrm>
          <a:prstGeom prst="rect">
            <a:avLst/>
          </a:prstGeom>
          <a:noFill/>
          <a:ln/>
        </p:spPr>
        <p:txBody>
          <a:bodyPr wrap="square" rtlCol="0" anchor="ctr"/>
          <a:lstStyle/>
          <a:p>
            <a:pPr marL="0" indent="0">
              <a:buNone/>
            </a:pPr>
            <a:r>
              <a:rPr lang="en-US" sz="1000" dirty="0">
                <a:solidFill>
                  <a:srgbClr val="555555"/>
                </a:solidFill>
                <a:latin typeface="Calibri" pitchFamily="34" charset="0"/>
                <a:ea typeface="Calibri" pitchFamily="34" charset="-122"/>
                <a:cs typeface="Calibri" pitchFamily="34" charset="-120"/>
              </a:rPr>
              <a:t>Registration ID: D232410696</a:t>
            </a:r>
            <a:endParaRPr lang="en-US" sz="1000" dirty="0"/>
          </a:p>
        </p:txBody>
      </p:sp>
      <p:sp>
        <p:nvSpPr>
          <p:cNvPr id="17" name="Shape 15"/>
          <p:cNvSpPr/>
          <p:nvPr/>
        </p:nvSpPr>
        <p:spPr>
          <a:xfrm>
            <a:off x="7132320" y="2212848"/>
            <a:ext cx="1261872" cy="566928"/>
          </a:xfrm>
          <a:prstGeom prst="rect">
            <a:avLst/>
          </a:prstGeom>
          <a:solidFill>
            <a:srgbClr val="F2F2F2"/>
          </a:solidFill>
          <a:ln w="12700">
            <a:solidFill>
              <a:srgbClr val="CCCCCC"/>
            </a:solidFill>
            <a:prstDash val="solid"/>
          </a:ln>
        </p:spPr>
      </p:sp>
      <p:sp>
        <p:nvSpPr>
          <p:cNvPr id="18" name="Text 16"/>
          <p:cNvSpPr/>
          <p:nvPr/>
        </p:nvSpPr>
        <p:spPr>
          <a:xfrm>
            <a:off x="7150608" y="2231136"/>
            <a:ext cx="1225296" cy="530352"/>
          </a:xfrm>
          <a:prstGeom prst="rect">
            <a:avLst/>
          </a:prstGeom>
          <a:noFill/>
          <a:ln/>
        </p:spPr>
        <p:txBody>
          <a:bodyPr wrap="square" rtlCol="0" anchor="ctr"/>
          <a:lstStyle/>
          <a:p>
            <a:pPr marL="0" indent="0" algn="ctr">
              <a:buNone/>
            </a:pPr>
            <a:r>
              <a:rPr lang="en-US" sz="900" dirty="0">
                <a:solidFill>
                  <a:srgbClr val="1A1A1A"/>
                </a:solidFill>
                <a:latin typeface="Calibri" pitchFamily="34" charset="0"/>
                <a:ea typeface="Calibri" pitchFamily="34" charset="-122"/>
                <a:cs typeface="Calibri" pitchFamily="34" charset="-120"/>
              </a:rPr>
              <a:t>Dept: ITE</a:t>
            </a:r>
            <a:endParaRPr lang="en-US" sz="900" dirty="0"/>
          </a:p>
          <a:p>
            <a:pPr marL="0" indent="0" algn="ctr">
              <a:buNone/>
            </a:pPr>
            <a:r>
              <a:rPr lang="en-US" sz="900" dirty="0">
                <a:solidFill>
                  <a:srgbClr val="1A1A1A"/>
                </a:solidFill>
                <a:latin typeface="Calibri" pitchFamily="34" charset="0"/>
                <a:ea typeface="Calibri" pitchFamily="34" charset="-122"/>
                <a:cs typeface="Calibri" pitchFamily="34" charset="-120"/>
              </a:rPr>
              <a:t>Year: 2  |  Sem: 4</a:t>
            </a:r>
            <a:endParaRPr lang="en-US" sz="900" dirty="0"/>
          </a:p>
        </p:txBody>
      </p:sp>
      <p:sp>
        <p:nvSpPr>
          <p:cNvPr id="19" name="Shape 17"/>
          <p:cNvSpPr/>
          <p:nvPr/>
        </p:nvSpPr>
        <p:spPr>
          <a:xfrm>
            <a:off x="2148840" y="2788920"/>
            <a:ext cx="2359152" cy="219456"/>
          </a:xfrm>
          <a:prstGeom prst="rect">
            <a:avLst/>
          </a:prstGeom>
          <a:solidFill>
            <a:srgbClr val="F2F2F2"/>
          </a:solidFill>
          <a:ln w="12700">
            <a:solidFill>
              <a:srgbClr val="F2F2F2"/>
            </a:solidFill>
            <a:prstDash val="solid"/>
          </a:ln>
        </p:spPr>
      </p:sp>
      <p:sp>
        <p:nvSpPr>
          <p:cNvPr id="20" name="Text 18"/>
          <p:cNvSpPr/>
          <p:nvPr/>
        </p:nvSpPr>
        <p:spPr>
          <a:xfrm>
            <a:off x="2212848" y="2807208"/>
            <a:ext cx="1783080" cy="182880"/>
          </a:xfrm>
          <a:prstGeom prst="rect">
            <a:avLst/>
          </a:prstGeom>
          <a:noFill/>
          <a:ln/>
        </p:spPr>
        <p:txBody>
          <a:bodyPr wrap="square" rtlCol="0" anchor="ctr"/>
          <a:lstStyle/>
          <a:p>
            <a:pPr marL="0" indent="0">
              <a:buNone/>
            </a:pPr>
            <a:r>
              <a:rPr lang="en-US" sz="900" b="1" dirty="0">
                <a:solidFill>
                  <a:srgbClr val="1A1A1A"/>
                </a:solidFill>
                <a:latin typeface="Calibri" pitchFamily="34" charset="0"/>
                <a:ea typeface="Calibri" pitchFamily="34" charset="-122"/>
                <a:cs typeface="Calibri" pitchFamily="34" charset="-120"/>
              </a:rPr>
              <a:t>Subject</a:t>
            </a:r>
            <a:endParaRPr lang="en-US" sz="900" dirty="0"/>
          </a:p>
        </p:txBody>
      </p:sp>
      <p:sp>
        <p:nvSpPr>
          <p:cNvPr id="21" name="Text 19"/>
          <p:cNvSpPr/>
          <p:nvPr/>
        </p:nvSpPr>
        <p:spPr>
          <a:xfrm>
            <a:off x="4005072" y="2807208"/>
            <a:ext cx="475488" cy="182880"/>
          </a:xfrm>
          <a:prstGeom prst="rect">
            <a:avLst/>
          </a:prstGeom>
          <a:noFill/>
          <a:ln/>
        </p:spPr>
        <p:txBody>
          <a:bodyPr wrap="square" rtlCol="0" anchor="ctr"/>
          <a:lstStyle/>
          <a:p>
            <a:pPr marL="0" indent="0">
              <a:buNone/>
            </a:pPr>
            <a:r>
              <a:rPr lang="en-US" sz="900" b="1" dirty="0">
                <a:solidFill>
                  <a:srgbClr val="1A1A1A"/>
                </a:solidFill>
                <a:latin typeface="Calibri" pitchFamily="34" charset="0"/>
                <a:ea typeface="Calibri" pitchFamily="34" charset="-122"/>
                <a:cs typeface="Calibri" pitchFamily="34" charset="-120"/>
              </a:rPr>
              <a:t>Marks</a:t>
            </a:r>
            <a:endParaRPr lang="en-US" sz="900" dirty="0"/>
          </a:p>
        </p:txBody>
      </p:sp>
      <p:sp>
        <p:nvSpPr>
          <p:cNvPr id="22" name="Shape 20"/>
          <p:cNvSpPr/>
          <p:nvPr/>
        </p:nvSpPr>
        <p:spPr>
          <a:xfrm>
            <a:off x="4590288" y="2788920"/>
            <a:ext cx="2359152" cy="219456"/>
          </a:xfrm>
          <a:prstGeom prst="rect">
            <a:avLst/>
          </a:prstGeom>
          <a:solidFill>
            <a:srgbClr val="F2F2F2"/>
          </a:solidFill>
          <a:ln w="12700">
            <a:solidFill>
              <a:srgbClr val="F2F2F2"/>
            </a:solidFill>
            <a:prstDash val="solid"/>
          </a:ln>
        </p:spPr>
      </p:sp>
      <p:sp>
        <p:nvSpPr>
          <p:cNvPr id="23" name="Text 21"/>
          <p:cNvSpPr/>
          <p:nvPr/>
        </p:nvSpPr>
        <p:spPr>
          <a:xfrm>
            <a:off x="4645152" y="2807208"/>
            <a:ext cx="1783080" cy="182880"/>
          </a:xfrm>
          <a:prstGeom prst="rect">
            <a:avLst/>
          </a:prstGeom>
          <a:noFill/>
          <a:ln/>
        </p:spPr>
        <p:txBody>
          <a:bodyPr wrap="square" rtlCol="0" anchor="ctr"/>
          <a:lstStyle/>
          <a:p>
            <a:pPr marL="0" indent="0">
              <a:buNone/>
            </a:pPr>
            <a:r>
              <a:rPr lang="en-US" sz="900" b="1" dirty="0">
                <a:solidFill>
                  <a:srgbClr val="1A1A1A"/>
                </a:solidFill>
                <a:latin typeface="Calibri" pitchFamily="34" charset="0"/>
                <a:ea typeface="Calibri" pitchFamily="34" charset="-122"/>
                <a:cs typeface="Calibri" pitchFamily="34" charset="-120"/>
              </a:rPr>
              <a:t>Subject</a:t>
            </a:r>
            <a:endParaRPr lang="en-US" sz="900" dirty="0"/>
          </a:p>
        </p:txBody>
      </p:sp>
      <p:sp>
        <p:nvSpPr>
          <p:cNvPr id="24" name="Text 22"/>
          <p:cNvSpPr/>
          <p:nvPr/>
        </p:nvSpPr>
        <p:spPr>
          <a:xfrm>
            <a:off x="6446520" y="2807208"/>
            <a:ext cx="475488" cy="182880"/>
          </a:xfrm>
          <a:prstGeom prst="rect">
            <a:avLst/>
          </a:prstGeom>
          <a:noFill/>
          <a:ln/>
        </p:spPr>
        <p:txBody>
          <a:bodyPr wrap="square" rtlCol="0" anchor="ctr"/>
          <a:lstStyle/>
          <a:p>
            <a:pPr marL="0" indent="0">
              <a:buNone/>
            </a:pPr>
            <a:r>
              <a:rPr lang="en-US" sz="900" b="1" dirty="0">
                <a:solidFill>
                  <a:srgbClr val="1A1A1A"/>
                </a:solidFill>
                <a:latin typeface="Calibri" pitchFamily="34" charset="0"/>
                <a:ea typeface="Calibri" pitchFamily="34" charset="-122"/>
                <a:cs typeface="Calibri" pitchFamily="34" charset="-120"/>
              </a:rPr>
              <a:t>Marks</a:t>
            </a:r>
            <a:endParaRPr lang="en-US" sz="900" dirty="0"/>
          </a:p>
        </p:txBody>
      </p:sp>
      <p:sp>
        <p:nvSpPr>
          <p:cNvPr id="25" name="Text 23"/>
          <p:cNvSpPr/>
          <p:nvPr/>
        </p:nvSpPr>
        <p:spPr>
          <a:xfrm>
            <a:off x="2212848" y="3035808"/>
            <a:ext cx="1783080" cy="237744"/>
          </a:xfrm>
          <a:prstGeom prst="rect">
            <a:avLst/>
          </a:prstGeom>
          <a:noFill/>
          <a:ln/>
        </p:spPr>
        <p:txBody>
          <a:bodyPr wrap="square" rtlCol="0" anchor="ctr"/>
          <a:lstStyle/>
          <a:p>
            <a:pPr marL="0" indent="0">
              <a:buNone/>
            </a:pPr>
            <a:r>
              <a:rPr lang="en-US" sz="1000" dirty="0">
                <a:solidFill>
                  <a:srgbClr val="1A1A1A"/>
                </a:solidFill>
                <a:latin typeface="Calibri" pitchFamily="34" charset="0"/>
                <a:ea typeface="Calibri" pitchFamily="34" charset="-122"/>
                <a:cs typeface="Calibri" pitchFamily="34" charset="-120"/>
              </a:rPr>
              <a:t>Operating Systems</a:t>
            </a:r>
            <a:endParaRPr lang="en-US" sz="1000" dirty="0"/>
          </a:p>
        </p:txBody>
      </p:sp>
      <p:sp>
        <p:nvSpPr>
          <p:cNvPr id="26" name="Text 24"/>
          <p:cNvSpPr/>
          <p:nvPr/>
        </p:nvSpPr>
        <p:spPr>
          <a:xfrm>
            <a:off x="4005072" y="3035808"/>
            <a:ext cx="475488" cy="237744"/>
          </a:xfrm>
          <a:prstGeom prst="rect">
            <a:avLst/>
          </a:prstGeom>
          <a:noFill/>
          <a:ln/>
        </p:spPr>
        <p:txBody>
          <a:bodyPr wrap="square" rtlCol="0" anchor="ctr"/>
          <a:lstStyle/>
          <a:p>
            <a:pPr marL="0" indent="0">
              <a:buNone/>
            </a:pPr>
            <a:r>
              <a:rPr lang="en-US" sz="1000" b="1" dirty="0">
                <a:solidFill>
                  <a:srgbClr val="6B1A1A"/>
                </a:solidFill>
                <a:latin typeface="Calibri" pitchFamily="34" charset="0"/>
                <a:ea typeface="Calibri" pitchFamily="34" charset="-122"/>
                <a:cs typeface="Calibri" pitchFamily="34" charset="-120"/>
              </a:rPr>
              <a:t>99</a:t>
            </a:r>
            <a:endParaRPr lang="en-US" sz="1000" dirty="0"/>
          </a:p>
        </p:txBody>
      </p:sp>
      <p:sp>
        <p:nvSpPr>
          <p:cNvPr id="27" name="Shape 25"/>
          <p:cNvSpPr/>
          <p:nvPr/>
        </p:nvSpPr>
        <p:spPr>
          <a:xfrm>
            <a:off x="2148840" y="3291840"/>
            <a:ext cx="2359152" cy="274320"/>
          </a:xfrm>
          <a:prstGeom prst="rect">
            <a:avLst/>
          </a:prstGeom>
          <a:solidFill>
            <a:srgbClr val="FAFAFA"/>
          </a:solidFill>
          <a:ln w="12700">
            <a:solidFill>
              <a:srgbClr val="FAFAFA"/>
            </a:solidFill>
            <a:prstDash val="solid"/>
          </a:ln>
        </p:spPr>
      </p:sp>
      <p:sp>
        <p:nvSpPr>
          <p:cNvPr id="28" name="Text 26"/>
          <p:cNvSpPr/>
          <p:nvPr/>
        </p:nvSpPr>
        <p:spPr>
          <a:xfrm>
            <a:off x="2212848" y="3310128"/>
            <a:ext cx="1783080" cy="237744"/>
          </a:xfrm>
          <a:prstGeom prst="rect">
            <a:avLst/>
          </a:prstGeom>
          <a:noFill/>
          <a:ln/>
        </p:spPr>
        <p:txBody>
          <a:bodyPr wrap="square" rtlCol="0" anchor="ctr"/>
          <a:lstStyle/>
          <a:p>
            <a:pPr marL="0" indent="0">
              <a:buNone/>
            </a:pPr>
            <a:r>
              <a:rPr lang="en-US" sz="1000" dirty="0">
                <a:solidFill>
                  <a:srgbClr val="1A1A1A"/>
                </a:solidFill>
                <a:latin typeface="Calibri" pitchFamily="34" charset="0"/>
                <a:ea typeface="Calibri" pitchFamily="34" charset="-122"/>
                <a:cs typeface="Calibri" pitchFamily="34" charset="-120"/>
              </a:rPr>
              <a:t>DBMS</a:t>
            </a:r>
            <a:endParaRPr lang="en-US" sz="1000" dirty="0"/>
          </a:p>
        </p:txBody>
      </p:sp>
      <p:sp>
        <p:nvSpPr>
          <p:cNvPr id="29" name="Text 27"/>
          <p:cNvSpPr/>
          <p:nvPr/>
        </p:nvSpPr>
        <p:spPr>
          <a:xfrm>
            <a:off x="4005072" y="3310128"/>
            <a:ext cx="475488" cy="237744"/>
          </a:xfrm>
          <a:prstGeom prst="rect">
            <a:avLst/>
          </a:prstGeom>
          <a:noFill/>
          <a:ln/>
        </p:spPr>
        <p:txBody>
          <a:bodyPr wrap="square" rtlCol="0" anchor="ctr"/>
          <a:lstStyle/>
          <a:p>
            <a:pPr marL="0" indent="0">
              <a:buNone/>
            </a:pPr>
            <a:r>
              <a:rPr lang="en-US" sz="1000" b="1" dirty="0">
                <a:solidFill>
                  <a:srgbClr val="6B1A1A"/>
                </a:solidFill>
                <a:latin typeface="Calibri" pitchFamily="34" charset="0"/>
                <a:ea typeface="Calibri" pitchFamily="34" charset="-122"/>
                <a:cs typeface="Calibri" pitchFamily="34" charset="-120"/>
              </a:rPr>
              <a:t>76</a:t>
            </a:r>
            <a:endParaRPr lang="en-US" sz="1000" dirty="0"/>
          </a:p>
        </p:txBody>
      </p:sp>
      <p:sp>
        <p:nvSpPr>
          <p:cNvPr id="30" name="Text 28"/>
          <p:cNvSpPr/>
          <p:nvPr/>
        </p:nvSpPr>
        <p:spPr>
          <a:xfrm>
            <a:off x="2212848" y="3584448"/>
            <a:ext cx="1783080" cy="237744"/>
          </a:xfrm>
          <a:prstGeom prst="rect">
            <a:avLst/>
          </a:prstGeom>
          <a:noFill/>
          <a:ln/>
        </p:spPr>
        <p:txBody>
          <a:bodyPr wrap="square" rtlCol="0" anchor="ctr"/>
          <a:lstStyle/>
          <a:p>
            <a:pPr marL="0" indent="0">
              <a:buNone/>
            </a:pPr>
            <a:r>
              <a:rPr lang="en-US" sz="1000" dirty="0">
                <a:solidFill>
                  <a:srgbClr val="1A1A1A"/>
                </a:solidFill>
                <a:latin typeface="Calibri" pitchFamily="34" charset="0"/>
                <a:ea typeface="Calibri" pitchFamily="34" charset="-122"/>
                <a:cs typeface="Calibri" pitchFamily="34" charset="-120"/>
              </a:rPr>
              <a:t>Comp. Networks</a:t>
            </a:r>
            <a:endParaRPr lang="en-US" sz="1000" dirty="0"/>
          </a:p>
        </p:txBody>
      </p:sp>
      <p:sp>
        <p:nvSpPr>
          <p:cNvPr id="31" name="Text 29"/>
          <p:cNvSpPr/>
          <p:nvPr/>
        </p:nvSpPr>
        <p:spPr>
          <a:xfrm>
            <a:off x="4005072" y="3584448"/>
            <a:ext cx="475488" cy="237744"/>
          </a:xfrm>
          <a:prstGeom prst="rect">
            <a:avLst/>
          </a:prstGeom>
          <a:noFill/>
          <a:ln/>
        </p:spPr>
        <p:txBody>
          <a:bodyPr wrap="square" rtlCol="0" anchor="ctr"/>
          <a:lstStyle/>
          <a:p>
            <a:pPr marL="0" indent="0">
              <a:buNone/>
            </a:pPr>
            <a:r>
              <a:rPr lang="en-US" sz="1000" b="1" dirty="0">
                <a:solidFill>
                  <a:srgbClr val="6B1A1A"/>
                </a:solidFill>
                <a:latin typeface="Calibri" pitchFamily="34" charset="0"/>
                <a:ea typeface="Calibri" pitchFamily="34" charset="-122"/>
                <a:cs typeface="Calibri" pitchFamily="34" charset="-120"/>
              </a:rPr>
              <a:t>59</a:t>
            </a:r>
            <a:endParaRPr lang="en-US" sz="1000" dirty="0"/>
          </a:p>
        </p:txBody>
      </p:sp>
      <p:sp>
        <p:nvSpPr>
          <p:cNvPr id="32" name="Shape 30"/>
          <p:cNvSpPr/>
          <p:nvPr/>
        </p:nvSpPr>
        <p:spPr>
          <a:xfrm>
            <a:off x="2148840" y="3840480"/>
            <a:ext cx="2359152" cy="274320"/>
          </a:xfrm>
          <a:prstGeom prst="rect">
            <a:avLst/>
          </a:prstGeom>
          <a:solidFill>
            <a:srgbClr val="FAFAFA"/>
          </a:solidFill>
          <a:ln w="12700">
            <a:solidFill>
              <a:srgbClr val="FAFAFA"/>
            </a:solidFill>
            <a:prstDash val="solid"/>
          </a:ln>
        </p:spPr>
      </p:sp>
      <p:sp>
        <p:nvSpPr>
          <p:cNvPr id="33" name="Text 31"/>
          <p:cNvSpPr/>
          <p:nvPr/>
        </p:nvSpPr>
        <p:spPr>
          <a:xfrm>
            <a:off x="2212848" y="3858768"/>
            <a:ext cx="1783080" cy="237744"/>
          </a:xfrm>
          <a:prstGeom prst="rect">
            <a:avLst/>
          </a:prstGeom>
          <a:noFill/>
          <a:ln/>
        </p:spPr>
        <p:txBody>
          <a:bodyPr wrap="square" rtlCol="0" anchor="ctr"/>
          <a:lstStyle/>
          <a:p>
            <a:pPr marL="0" indent="0">
              <a:buNone/>
            </a:pPr>
            <a:r>
              <a:rPr lang="en-US" sz="1000" dirty="0">
                <a:solidFill>
                  <a:srgbClr val="1A1A1A"/>
                </a:solidFill>
                <a:latin typeface="Calibri" pitchFamily="34" charset="0"/>
                <a:ea typeface="Calibri" pitchFamily="34" charset="-122"/>
                <a:cs typeface="Calibri" pitchFamily="34" charset="-120"/>
              </a:rPr>
              <a:t>Java</a:t>
            </a:r>
            <a:endParaRPr lang="en-US" sz="1000" dirty="0"/>
          </a:p>
        </p:txBody>
      </p:sp>
      <p:sp>
        <p:nvSpPr>
          <p:cNvPr id="34" name="Text 32"/>
          <p:cNvSpPr/>
          <p:nvPr/>
        </p:nvSpPr>
        <p:spPr>
          <a:xfrm>
            <a:off x="4005072" y="3858768"/>
            <a:ext cx="475488" cy="237744"/>
          </a:xfrm>
          <a:prstGeom prst="rect">
            <a:avLst/>
          </a:prstGeom>
          <a:noFill/>
          <a:ln/>
        </p:spPr>
        <p:txBody>
          <a:bodyPr wrap="square" rtlCol="0" anchor="ctr"/>
          <a:lstStyle/>
          <a:p>
            <a:pPr marL="0" indent="0">
              <a:buNone/>
            </a:pPr>
            <a:r>
              <a:rPr lang="en-US" sz="1000" b="1" dirty="0">
                <a:solidFill>
                  <a:srgbClr val="6B1A1A"/>
                </a:solidFill>
                <a:latin typeface="Calibri" pitchFamily="34" charset="0"/>
                <a:ea typeface="Calibri" pitchFamily="34" charset="-122"/>
                <a:cs typeface="Calibri" pitchFamily="34" charset="-120"/>
              </a:rPr>
              <a:t>69</a:t>
            </a:r>
            <a:endParaRPr lang="en-US" sz="1000" dirty="0"/>
          </a:p>
        </p:txBody>
      </p:sp>
      <p:sp>
        <p:nvSpPr>
          <p:cNvPr id="35" name="Text 33"/>
          <p:cNvSpPr/>
          <p:nvPr/>
        </p:nvSpPr>
        <p:spPr>
          <a:xfrm>
            <a:off x="2212848" y="4133088"/>
            <a:ext cx="1783080" cy="237744"/>
          </a:xfrm>
          <a:prstGeom prst="rect">
            <a:avLst/>
          </a:prstGeom>
          <a:noFill/>
          <a:ln/>
        </p:spPr>
        <p:txBody>
          <a:bodyPr wrap="square" rtlCol="0" anchor="ctr"/>
          <a:lstStyle/>
          <a:p>
            <a:pPr marL="0" indent="0">
              <a:buNone/>
            </a:pPr>
            <a:r>
              <a:rPr lang="en-US" sz="1000" dirty="0">
                <a:solidFill>
                  <a:srgbClr val="1A1A1A"/>
                </a:solidFill>
                <a:latin typeface="Calibri" pitchFamily="34" charset="0"/>
                <a:ea typeface="Calibri" pitchFamily="34" charset="-122"/>
                <a:cs typeface="Calibri" pitchFamily="34" charset="-120"/>
              </a:rPr>
              <a:t>Soft. Engineering</a:t>
            </a:r>
            <a:endParaRPr lang="en-US" sz="1000" dirty="0"/>
          </a:p>
        </p:txBody>
      </p:sp>
      <p:sp>
        <p:nvSpPr>
          <p:cNvPr id="36" name="Text 34"/>
          <p:cNvSpPr/>
          <p:nvPr/>
        </p:nvSpPr>
        <p:spPr>
          <a:xfrm>
            <a:off x="4005072" y="4133088"/>
            <a:ext cx="475488" cy="237744"/>
          </a:xfrm>
          <a:prstGeom prst="rect">
            <a:avLst/>
          </a:prstGeom>
          <a:noFill/>
          <a:ln/>
        </p:spPr>
        <p:txBody>
          <a:bodyPr wrap="square" rtlCol="0" anchor="ctr"/>
          <a:lstStyle/>
          <a:p>
            <a:pPr marL="0" indent="0">
              <a:buNone/>
            </a:pPr>
            <a:r>
              <a:rPr lang="en-US" sz="1000" b="1" dirty="0">
                <a:solidFill>
                  <a:srgbClr val="6B1A1A"/>
                </a:solidFill>
                <a:latin typeface="Calibri" pitchFamily="34" charset="0"/>
                <a:ea typeface="Calibri" pitchFamily="34" charset="-122"/>
                <a:cs typeface="Calibri" pitchFamily="34" charset="-120"/>
              </a:rPr>
              <a:t>78</a:t>
            </a:r>
            <a:endParaRPr lang="en-US" sz="1000" dirty="0"/>
          </a:p>
        </p:txBody>
      </p:sp>
      <p:sp>
        <p:nvSpPr>
          <p:cNvPr id="37" name="Text 35"/>
          <p:cNvSpPr/>
          <p:nvPr/>
        </p:nvSpPr>
        <p:spPr>
          <a:xfrm>
            <a:off x="4645152" y="3035808"/>
            <a:ext cx="1783080" cy="237744"/>
          </a:xfrm>
          <a:prstGeom prst="rect">
            <a:avLst/>
          </a:prstGeom>
          <a:noFill/>
          <a:ln/>
        </p:spPr>
        <p:txBody>
          <a:bodyPr wrap="square" rtlCol="0" anchor="ctr"/>
          <a:lstStyle/>
          <a:p>
            <a:pPr marL="0" indent="0">
              <a:buNone/>
            </a:pPr>
            <a:r>
              <a:rPr lang="en-US" sz="1000" dirty="0">
                <a:solidFill>
                  <a:srgbClr val="1A1A1A"/>
                </a:solidFill>
                <a:latin typeface="Calibri" pitchFamily="34" charset="0"/>
                <a:ea typeface="Calibri" pitchFamily="34" charset="-122"/>
                <a:cs typeface="Calibri" pitchFamily="34" charset="-120"/>
              </a:rPr>
              <a:t>Minor Project</a:t>
            </a:r>
            <a:endParaRPr lang="en-US" sz="1000" dirty="0"/>
          </a:p>
        </p:txBody>
      </p:sp>
      <p:sp>
        <p:nvSpPr>
          <p:cNvPr id="38" name="Text 36"/>
          <p:cNvSpPr/>
          <p:nvPr/>
        </p:nvSpPr>
        <p:spPr>
          <a:xfrm>
            <a:off x="6446520" y="3035808"/>
            <a:ext cx="475488" cy="237744"/>
          </a:xfrm>
          <a:prstGeom prst="rect">
            <a:avLst/>
          </a:prstGeom>
          <a:noFill/>
          <a:ln/>
        </p:spPr>
        <p:txBody>
          <a:bodyPr wrap="square" rtlCol="0" anchor="ctr"/>
          <a:lstStyle/>
          <a:p>
            <a:pPr marL="0" indent="0">
              <a:buNone/>
            </a:pPr>
            <a:r>
              <a:rPr lang="en-US" sz="1000" b="1" dirty="0">
                <a:solidFill>
                  <a:srgbClr val="6B1A1A"/>
                </a:solidFill>
                <a:latin typeface="Calibri" pitchFamily="34" charset="0"/>
                <a:ea typeface="Calibri" pitchFamily="34" charset="-122"/>
                <a:cs typeface="Calibri" pitchFamily="34" charset="-120"/>
              </a:rPr>
              <a:t>70</a:t>
            </a:r>
            <a:endParaRPr lang="en-US" sz="1000" dirty="0"/>
          </a:p>
        </p:txBody>
      </p:sp>
      <p:sp>
        <p:nvSpPr>
          <p:cNvPr id="39" name="Shape 37"/>
          <p:cNvSpPr/>
          <p:nvPr/>
        </p:nvSpPr>
        <p:spPr>
          <a:xfrm>
            <a:off x="4590288" y="3291840"/>
            <a:ext cx="2359152" cy="274320"/>
          </a:xfrm>
          <a:prstGeom prst="rect">
            <a:avLst/>
          </a:prstGeom>
          <a:solidFill>
            <a:srgbClr val="FAFAFA"/>
          </a:solidFill>
          <a:ln w="12700">
            <a:solidFill>
              <a:srgbClr val="FAFAFA"/>
            </a:solidFill>
            <a:prstDash val="solid"/>
          </a:ln>
        </p:spPr>
      </p:sp>
      <p:sp>
        <p:nvSpPr>
          <p:cNvPr id="40" name="Text 38"/>
          <p:cNvSpPr/>
          <p:nvPr/>
        </p:nvSpPr>
        <p:spPr>
          <a:xfrm>
            <a:off x="4645152" y="3310128"/>
            <a:ext cx="1783080" cy="237744"/>
          </a:xfrm>
          <a:prstGeom prst="rect">
            <a:avLst/>
          </a:prstGeom>
          <a:noFill/>
          <a:ln/>
        </p:spPr>
        <p:txBody>
          <a:bodyPr wrap="square" rtlCol="0" anchor="ctr"/>
          <a:lstStyle/>
          <a:p>
            <a:pPr marL="0" indent="0">
              <a:buNone/>
            </a:pPr>
            <a:r>
              <a:rPr lang="en-US" sz="1000" dirty="0">
                <a:solidFill>
                  <a:srgbClr val="1A1A1A"/>
                </a:solidFill>
                <a:latin typeface="Calibri" pitchFamily="34" charset="0"/>
                <a:ea typeface="Calibri" pitchFamily="34" charset="-122"/>
                <a:cs typeface="Calibri" pitchFamily="34" charset="-120"/>
              </a:rPr>
              <a:t>OS Lab</a:t>
            </a:r>
            <a:endParaRPr lang="en-US" sz="1000" dirty="0"/>
          </a:p>
        </p:txBody>
      </p:sp>
      <p:sp>
        <p:nvSpPr>
          <p:cNvPr id="41" name="Text 39"/>
          <p:cNvSpPr/>
          <p:nvPr/>
        </p:nvSpPr>
        <p:spPr>
          <a:xfrm>
            <a:off x="6446520" y="3310128"/>
            <a:ext cx="475488" cy="237744"/>
          </a:xfrm>
          <a:prstGeom prst="rect">
            <a:avLst/>
          </a:prstGeom>
          <a:noFill/>
          <a:ln/>
        </p:spPr>
        <p:txBody>
          <a:bodyPr wrap="square" rtlCol="0" anchor="ctr"/>
          <a:lstStyle/>
          <a:p>
            <a:pPr marL="0" indent="0">
              <a:buNone/>
            </a:pPr>
            <a:r>
              <a:rPr lang="en-US" sz="1000" b="1" dirty="0">
                <a:solidFill>
                  <a:srgbClr val="6B1A1A"/>
                </a:solidFill>
                <a:latin typeface="Calibri" pitchFamily="34" charset="0"/>
                <a:ea typeface="Calibri" pitchFamily="34" charset="-122"/>
                <a:cs typeface="Calibri" pitchFamily="34" charset="-120"/>
              </a:rPr>
              <a:t>59</a:t>
            </a:r>
            <a:endParaRPr lang="en-US" sz="1000" dirty="0"/>
          </a:p>
        </p:txBody>
      </p:sp>
      <p:sp>
        <p:nvSpPr>
          <p:cNvPr id="42" name="Text 40"/>
          <p:cNvSpPr/>
          <p:nvPr/>
        </p:nvSpPr>
        <p:spPr>
          <a:xfrm>
            <a:off x="4645152" y="3584448"/>
            <a:ext cx="1783080" cy="237744"/>
          </a:xfrm>
          <a:prstGeom prst="rect">
            <a:avLst/>
          </a:prstGeom>
          <a:noFill/>
          <a:ln/>
        </p:spPr>
        <p:txBody>
          <a:bodyPr wrap="square" rtlCol="0" anchor="ctr"/>
          <a:lstStyle/>
          <a:p>
            <a:pPr marL="0" indent="0">
              <a:buNone/>
            </a:pPr>
            <a:r>
              <a:rPr lang="en-US" sz="1000" dirty="0">
                <a:solidFill>
                  <a:srgbClr val="1A1A1A"/>
                </a:solidFill>
                <a:latin typeface="Calibri" pitchFamily="34" charset="0"/>
                <a:ea typeface="Calibri" pitchFamily="34" charset="-122"/>
                <a:cs typeface="Calibri" pitchFamily="34" charset="-120"/>
              </a:rPr>
              <a:t>DBMS Lab</a:t>
            </a:r>
            <a:endParaRPr lang="en-US" sz="1000" dirty="0"/>
          </a:p>
        </p:txBody>
      </p:sp>
      <p:sp>
        <p:nvSpPr>
          <p:cNvPr id="43" name="Text 41"/>
          <p:cNvSpPr/>
          <p:nvPr/>
        </p:nvSpPr>
        <p:spPr>
          <a:xfrm>
            <a:off x="6446520" y="3584448"/>
            <a:ext cx="475488" cy="237744"/>
          </a:xfrm>
          <a:prstGeom prst="rect">
            <a:avLst/>
          </a:prstGeom>
          <a:noFill/>
          <a:ln/>
        </p:spPr>
        <p:txBody>
          <a:bodyPr wrap="square" rtlCol="0" anchor="ctr"/>
          <a:lstStyle/>
          <a:p>
            <a:pPr marL="0" indent="0">
              <a:buNone/>
            </a:pPr>
            <a:r>
              <a:rPr lang="en-US" sz="1000" b="1" dirty="0">
                <a:solidFill>
                  <a:srgbClr val="6B1A1A"/>
                </a:solidFill>
                <a:latin typeface="Calibri" pitchFamily="34" charset="0"/>
                <a:ea typeface="Calibri" pitchFamily="34" charset="-122"/>
                <a:cs typeface="Calibri" pitchFamily="34" charset="-120"/>
              </a:rPr>
              <a:t>50</a:t>
            </a:r>
            <a:endParaRPr lang="en-US" sz="1000" dirty="0"/>
          </a:p>
        </p:txBody>
      </p:sp>
      <p:sp>
        <p:nvSpPr>
          <p:cNvPr id="44" name="Shape 42"/>
          <p:cNvSpPr/>
          <p:nvPr/>
        </p:nvSpPr>
        <p:spPr>
          <a:xfrm>
            <a:off x="4590288" y="3840480"/>
            <a:ext cx="2359152" cy="274320"/>
          </a:xfrm>
          <a:prstGeom prst="rect">
            <a:avLst/>
          </a:prstGeom>
          <a:solidFill>
            <a:srgbClr val="FAFAFA"/>
          </a:solidFill>
          <a:ln w="12700">
            <a:solidFill>
              <a:srgbClr val="FAFAFA"/>
            </a:solidFill>
            <a:prstDash val="solid"/>
          </a:ln>
        </p:spPr>
      </p:sp>
      <p:sp>
        <p:nvSpPr>
          <p:cNvPr id="45" name="Text 43"/>
          <p:cNvSpPr/>
          <p:nvPr/>
        </p:nvSpPr>
        <p:spPr>
          <a:xfrm>
            <a:off x="4645152" y="3858768"/>
            <a:ext cx="1783080" cy="237744"/>
          </a:xfrm>
          <a:prstGeom prst="rect">
            <a:avLst/>
          </a:prstGeom>
          <a:noFill/>
          <a:ln/>
        </p:spPr>
        <p:txBody>
          <a:bodyPr wrap="square" rtlCol="0" anchor="ctr"/>
          <a:lstStyle/>
          <a:p>
            <a:pPr marL="0" indent="0">
              <a:buNone/>
            </a:pPr>
            <a:r>
              <a:rPr lang="en-US" sz="1000" dirty="0">
                <a:solidFill>
                  <a:srgbClr val="1A1A1A"/>
                </a:solidFill>
                <a:latin typeface="Calibri" pitchFamily="34" charset="0"/>
                <a:ea typeface="Calibri" pitchFamily="34" charset="-122"/>
                <a:cs typeface="Calibri" pitchFamily="34" charset="-120"/>
              </a:rPr>
              <a:t>CN Lab</a:t>
            </a:r>
            <a:endParaRPr lang="en-US" sz="1000" dirty="0"/>
          </a:p>
        </p:txBody>
      </p:sp>
      <p:sp>
        <p:nvSpPr>
          <p:cNvPr id="46" name="Text 44"/>
          <p:cNvSpPr/>
          <p:nvPr/>
        </p:nvSpPr>
        <p:spPr>
          <a:xfrm>
            <a:off x="6446520" y="3858768"/>
            <a:ext cx="475488" cy="237744"/>
          </a:xfrm>
          <a:prstGeom prst="rect">
            <a:avLst/>
          </a:prstGeom>
          <a:noFill/>
          <a:ln/>
        </p:spPr>
        <p:txBody>
          <a:bodyPr wrap="square" rtlCol="0" anchor="ctr"/>
          <a:lstStyle/>
          <a:p>
            <a:pPr marL="0" indent="0">
              <a:buNone/>
            </a:pPr>
            <a:r>
              <a:rPr lang="en-US" sz="1000" b="1" dirty="0">
                <a:solidFill>
                  <a:srgbClr val="6B1A1A"/>
                </a:solidFill>
                <a:latin typeface="Calibri" pitchFamily="34" charset="0"/>
                <a:ea typeface="Calibri" pitchFamily="34" charset="-122"/>
                <a:cs typeface="Calibri" pitchFamily="34" charset="-120"/>
              </a:rPr>
              <a:t>77</a:t>
            </a:r>
            <a:endParaRPr lang="en-US" sz="1000" dirty="0"/>
          </a:p>
        </p:txBody>
      </p:sp>
      <p:sp>
        <p:nvSpPr>
          <p:cNvPr id="47" name="Text 45"/>
          <p:cNvSpPr/>
          <p:nvPr/>
        </p:nvSpPr>
        <p:spPr>
          <a:xfrm>
            <a:off x="4645152" y="4133088"/>
            <a:ext cx="1783080" cy="237744"/>
          </a:xfrm>
          <a:prstGeom prst="rect">
            <a:avLst/>
          </a:prstGeom>
          <a:noFill/>
          <a:ln/>
        </p:spPr>
        <p:txBody>
          <a:bodyPr wrap="square" rtlCol="0" anchor="ctr"/>
          <a:lstStyle/>
          <a:p>
            <a:pPr marL="0" indent="0">
              <a:buNone/>
            </a:pPr>
            <a:r>
              <a:rPr lang="en-US" sz="1000" dirty="0">
                <a:solidFill>
                  <a:srgbClr val="1A1A1A"/>
                </a:solidFill>
                <a:latin typeface="Calibri" pitchFamily="34" charset="0"/>
                <a:ea typeface="Calibri" pitchFamily="34" charset="-122"/>
                <a:cs typeface="Calibri" pitchFamily="34" charset="-120"/>
              </a:rPr>
              <a:t>Java Lab</a:t>
            </a:r>
            <a:endParaRPr lang="en-US" sz="1000" dirty="0"/>
          </a:p>
        </p:txBody>
      </p:sp>
      <p:sp>
        <p:nvSpPr>
          <p:cNvPr id="48" name="Text 46"/>
          <p:cNvSpPr/>
          <p:nvPr/>
        </p:nvSpPr>
        <p:spPr>
          <a:xfrm>
            <a:off x="6446520" y="4133088"/>
            <a:ext cx="475488" cy="237744"/>
          </a:xfrm>
          <a:prstGeom prst="rect">
            <a:avLst/>
          </a:prstGeom>
          <a:noFill/>
          <a:ln/>
        </p:spPr>
        <p:txBody>
          <a:bodyPr wrap="square" rtlCol="0" anchor="ctr"/>
          <a:lstStyle/>
          <a:p>
            <a:pPr marL="0" indent="0">
              <a:buNone/>
            </a:pPr>
            <a:r>
              <a:rPr lang="en-US" sz="1000" b="1" dirty="0">
                <a:solidFill>
                  <a:srgbClr val="6B1A1A"/>
                </a:solidFill>
                <a:latin typeface="Calibri" pitchFamily="34" charset="0"/>
                <a:ea typeface="Calibri" pitchFamily="34" charset="-122"/>
                <a:cs typeface="Calibri" pitchFamily="34" charset="-120"/>
              </a:rPr>
              <a:t>89</a:t>
            </a:r>
            <a:endParaRPr lang="en-US" sz="1000" dirty="0"/>
          </a:p>
        </p:txBody>
      </p:sp>
      <p:sp>
        <p:nvSpPr>
          <p:cNvPr id="49" name="Shape 47"/>
          <p:cNvSpPr/>
          <p:nvPr/>
        </p:nvSpPr>
        <p:spPr>
          <a:xfrm>
            <a:off x="2148840" y="4416552"/>
            <a:ext cx="6583680" cy="27432"/>
          </a:xfrm>
          <a:prstGeom prst="rect">
            <a:avLst/>
          </a:prstGeom>
          <a:solidFill>
            <a:srgbClr val="CCCCCC"/>
          </a:solidFill>
          <a:ln w="12700">
            <a:solidFill>
              <a:srgbClr val="CCCCCC"/>
            </a:solidFill>
            <a:prstDash val="solid"/>
          </a:ln>
        </p:spPr>
      </p:sp>
      <p:sp>
        <p:nvSpPr>
          <p:cNvPr id="50" name="Text 48"/>
          <p:cNvSpPr/>
          <p:nvPr/>
        </p:nvSpPr>
        <p:spPr>
          <a:xfrm>
            <a:off x="2194560" y="4480560"/>
            <a:ext cx="1828800" cy="320040"/>
          </a:xfrm>
          <a:prstGeom prst="rect">
            <a:avLst/>
          </a:prstGeom>
          <a:noFill/>
          <a:ln/>
        </p:spPr>
        <p:txBody>
          <a:bodyPr wrap="square" rtlCol="0" anchor="ctr"/>
          <a:lstStyle/>
          <a:p>
            <a:pPr marL="0" indent="0">
              <a:buNone/>
            </a:pPr>
            <a:r>
              <a:rPr lang="en-US" sz="1500" b="1" dirty="0">
                <a:solidFill>
                  <a:srgbClr val="6B1A1A"/>
                </a:solidFill>
                <a:latin typeface="Cambria" pitchFamily="34" charset="0"/>
                <a:ea typeface="Cambria" pitchFamily="34" charset="-122"/>
                <a:cs typeface="Cambria" pitchFamily="34" charset="-120"/>
              </a:rPr>
              <a:t>CGPA:  7.26</a:t>
            </a:r>
            <a:endParaRPr lang="en-US" sz="1500" dirty="0"/>
          </a:p>
        </p:txBody>
      </p:sp>
      <p:sp>
        <p:nvSpPr>
          <p:cNvPr id="51" name="Shape 49"/>
          <p:cNvSpPr/>
          <p:nvPr/>
        </p:nvSpPr>
        <p:spPr>
          <a:xfrm>
            <a:off x="4937760" y="4498848"/>
            <a:ext cx="685800" cy="256032"/>
          </a:xfrm>
          <a:prstGeom prst="rect">
            <a:avLst/>
          </a:prstGeom>
          <a:solidFill>
            <a:srgbClr val="2E7D32"/>
          </a:solidFill>
          <a:ln w="12700">
            <a:solidFill>
              <a:srgbClr val="2E7D32"/>
            </a:solidFill>
            <a:prstDash val="solid"/>
          </a:ln>
        </p:spPr>
      </p:sp>
      <p:sp>
        <p:nvSpPr>
          <p:cNvPr id="52" name="Text 50"/>
          <p:cNvSpPr/>
          <p:nvPr/>
        </p:nvSpPr>
        <p:spPr>
          <a:xfrm>
            <a:off x="4937760" y="4498848"/>
            <a:ext cx="685800" cy="256032"/>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PASS</a:t>
            </a:r>
            <a:endParaRPr lang="en-US" sz="1000" dirty="0"/>
          </a:p>
        </p:txBody>
      </p:sp>
      <p:sp>
        <p:nvSpPr>
          <p:cNvPr id="53" name="Text 51"/>
          <p:cNvSpPr/>
          <p:nvPr/>
        </p:nvSpPr>
        <p:spPr>
          <a:xfrm>
            <a:off x="274320" y="4873752"/>
            <a:ext cx="8595360" cy="256032"/>
          </a:xfrm>
          <a:prstGeom prst="rect">
            <a:avLst/>
          </a:prstGeom>
          <a:noFill/>
          <a:ln/>
        </p:spPr>
        <p:txBody>
          <a:bodyPr wrap="square" rtlCol="0" anchor="ctr"/>
          <a:lstStyle/>
          <a:p>
            <a:pPr marL="0" indent="0" algn="ctr">
              <a:buNone/>
            </a:pPr>
            <a:r>
              <a:rPr lang="en-US" sz="1000" i="1" dirty="0">
                <a:solidFill>
                  <a:srgbClr val="555555"/>
                </a:solidFill>
                <a:latin typeface="Calibri" pitchFamily="34" charset="0"/>
                <a:ea typeface="Calibri" pitchFamily="34" charset="-122"/>
                <a:cs typeface="Calibri" pitchFamily="34" charset="-120"/>
              </a:rPr>
              <a:t>Fig 4: Student Result Card with Subject-wise Marks and CGPA</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20</TotalTime>
  <Words>882</Words>
  <Application>Microsoft Office PowerPoint</Application>
  <PresentationFormat>On-screen Show (16:9)</PresentationFormat>
  <Paragraphs>167</Paragraphs>
  <Slides>10</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10</vt:i4>
      </vt:variant>
    </vt:vector>
  </HeadingPairs>
  <TitlesOfParts>
    <vt:vector size="16" baseType="lpstr">
      <vt:lpstr>Arial</vt:lpstr>
      <vt:lpstr>Baskerville Old Face</vt:lpstr>
      <vt:lpstr>Calibri</vt:lpstr>
      <vt:lpstr>Cambria</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Sukanya Maji</dc:creator>
  <cp:keywords/>
  <dc:description>generated using python-pptx</dc:description>
  <cp:lastModifiedBy>Sukanya Maji</cp:lastModifiedBy>
  <cp:revision>3</cp:revision>
  <dcterms:created xsi:type="dcterms:W3CDTF">2013-01-27T09:14:16Z</dcterms:created>
  <dcterms:modified xsi:type="dcterms:W3CDTF">2026-06-23T05:30:12Z</dcterms:modified>
  <cp:category/>
</cp:coreProperties>
</file>